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370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96E44-14D1-4B8E-88EE-B96299C8AAA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464D5-0788-4E67-9286-9CA49F151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"/>
          <p:cNvSpPr/>
          <p:nvPr/>
        </p:nvSpPr>
        <p:spPr>
          <a:xfrm>
            <a:off x="2500298" y="160721"/>
            <a:ext cx="47923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Project Stage I Presentation on</a:t>
            </a:r>
            <a:endParaRPr sz="2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6" name="Google Shape;206;p1"/>
          <p:cNvSpPr/>
          <p:nvPr/>
        </p:nvSpPr>
        <p:spPr>
          <a:xfrm>
            <a:off x="1341775" y="535775"/>
            <a:ext cx="7081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lang="en" sz="3200" b="1" i="1" u="none" strike="noStrike" cap="non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lang="en" sz="2700" b="1" i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Multilingual Document Intelligence (RAG) </a:t>
            </a:r>
            <a:r>
              <a:rPr lang="en" sz="3200" b="1" i="1" u="none" strike="noStrike" cap="non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sz="3200" b="0" i="1" u="none" strike="noStrike" cap="non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1"/>
          <p:cNvSpPr/>
          <p:nvPr/>
        </p:nvSpPr>
        <p:spPr>
          <a:xfrm>
            <a:off x="2904388" y="1120550"/>
            <a:ext cx="38457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latin typeface="Cambria"/>
                <a:ea typeface="Cambria"/>
                <a:cs typeface="Cambria"/>
                <a:sym typeface="Cambria"/>
              </a:rPr>
              <a:t>        </a:t>
            </a:r>
            <a:r>
              <a:rPr lang="en" sz="18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 the Guidance of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2000"/>
              <a:buFont typeface="Arial"/>
              <a:buNone/>
            </a:pPr>
            <a:r>
              <a:rPr lang="en" sz="2000" b="1" i="1" u="none" strike="noStrike" cap="none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   </a:t>
            </a:r>
            <a:r>
              <a:rPr lang="en" sz="2000" b="1" i="1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Mr. Rishikesh C. Yeolekar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endParaRPr sz="2000" b="1" i="1" u="none" strike="noStrike" cap="none" dirty="0">
              <a:solidFill>
                <a:srgbClr val="E36C0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2000"/>
              <a:buFont typeface="Arial"/>
              <a:buNone/>
            </a:pPr>
            <a:endParaRPr sz="2000" b="1" i="1" dirty="0">
              <a:solidFill>
                <a:srgbClr val="E36C0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8" name="Google Shape;208;p1"/>
          <p:cNvSpPr/>
          <p:nvPr/>
        </p:nvSpPr>
        <p:spPr>
          <a:xfrm>
            <a:off x="2875950" y="1954150"/>
            <a:ext cx="33921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2000"/>
              <a:buFont typeface="Arial"/>
              <a:buNone/>
            </a:pPr>
            <a:r>
              <a:rPr lang="en" sz="2000" b="1" i="1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Tanmay Gosavi</a:t>
            </a:r>
            <a:r>
              <a:rPr lang="en" sz="2000" b="1" i="1" u="none" strike="noStrike" cap="none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n" sz="2000" b="1" i="1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BA18</a:t>
            </a:r>
            <a:r>
              <a:rPr lang="en" sz="2000" b="1" i="1" u="none" strike="noStrike" cap="none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2000"/>
              <a:buFont typeface="Arial"/>
              <a:buNone/>
            </a:pPr>
            <a:r>
              <a:rPr lang="en" sz="2000" b="1" i="1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Kush Honkalse</a:t>
            </a:r>
            <a:r>
              <a:rPr lang="en" sz="2000" b="1" i="1" u="none" strike="noStrike" cap="none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n" sz="2000" b="1" i="1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BA20</a:t>
            </a:r>
            <a:r>
              <a:rPr lang="en" sz="2000" b="1" i="1" u="none" strike="noStrike" cap="none" dirty="0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000" b="0" i="1" u="none" strike="noStrike" cap="none" dirty="0">
              <a:solidFill>
                <a:srgbClr val="E36C0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9" name="Google Shape;209;p1"/>
          <p:cNvSpPr/>
          <p:nvPr/>
        </p:nvSpPr>
        <p:spPr>
          <a:xfrm>
            <a:off x="1255271" y="4612073"/>
            <a:ext cx="687887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Mandal's College of Engineering, Pune</a:t>
            </a:r>
            <a:endParaRPr sz="20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1"/>
          <p:cNvSpPr/>
          <p:nvPr/>
        </p:nvSpPr>
        <p:spPr>
          <a:xfrm>
            <a:off x="1561110" y="3573436"/>
            <a:ext cx="63579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Artificial Intelligence &amp; Data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1" descr="MMCO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46350" y="3872575"/>
            <a:ext cx="719800" cy="7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Introduction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74320" y="621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Context &amp; Motivation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95097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 Organizations manage thousands of multilingual documents — legal contracts, research papers, policy docs, medical records — spread across PDFs, DOCX files, and scanned images.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75564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 Employees spend hours manually searching and cross-referencing documents to answer a single question, leading to poor decisions and compliance risks.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25603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 Existing keyword search tools fail on semantically similar queries, and general-purpose LLMs hallucinate answers without citing sources.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33649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•  There is no open, source-grounded QA system that works seamlessly across 100+ languages and private document libraries.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50992" y="621792"/>
            <a:ext cx="3218688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69494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2349"/>
                </a:solidFill>
              </a:rPr>
              <a:t>73%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760720" y="118872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of enterprise data 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unstructured documents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50992" y="1920240"/>
            <a:ext cx="3218688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199339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2349"/>
                </a:solidFill>
              </a:rPr>
              <a:t>3.5 hrs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5760720" y="248716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avg. daily time spent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searching documents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50992" y="3218688"/>
            <a:ext cx="3218688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29184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2349"/>
                </a:solidFill>
              </a:rPr>
              <a:t>100+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5760720" y="378561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languages supported by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multilingual-E5-large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Literature Survey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640080"/>
          <a:ext cx="8412477" cy="3999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2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2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2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07214"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Calibri"/>
                        </a:rPr>
                        <a:t>Sr No</a:t>
                      </a:r>
                    </a:p>
                  </a:txBody>
                  <a:tcPr marL="45720" marR="45720" marT="18000" marB="18000" anchor="ctr">
                    <a:solidFill>
                      <a:srgbClr val="F1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Calibri"/>
                        </a:rPr>
                        <a:t>Authors ,Years,</a:t>
                      </a:r>
                    </a:p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Calibri"/>
                        </a:rPr>
                        <a:t>Publication</a:t>
                      </a:r>
                    </a:p>
                  </a:txBody>
                  <a:tcPr marL="45720" marR="45720" marT="18000" marB="18000" anchor="ctr">
                    <a:solidFill>
                      <a:srgbClr val="F1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Paper Title</a:t>
                      </a:r>
                    </a:p>
                  </a:txBody>
                  <a:tcPr marL="45720" marR="45720" marT="18000" marB="18000" anchor="ctr">
                    <a:solidFill>
                      <a:srgbClr val="F1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Model and Methodology</a:t>
                      </a:r>
                    </a:p>
                  </a:txBody>
                  <a:tcPr marL="45720" marR="45720" marT="18000" marB="18000" anchor="ctr">
                    <a:solidFill>
                      <a:srgbClr val="F1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Future Scope</a:t>
                      </a:r>
                    </a:p>
                  </a:txBody>
                  <a:tcPr marL="45720" marR="45720" marT="18000" marB="18000" anchor="ctr">
                    <a:solidFill>
                      <a:srgbClr val="F1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Gaps Identified</a:t>
                      </a:r>
                    </a:p>
                  </a:txBody>
                  <a:tcPr marL="45720" marR="45720" marT="18000" marB="18000" anchor="ctr">
                    <a:solidFill>
                      <a:srgbClr val="F1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6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Lewis et al.,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2020 (NeurIPS)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RAG for Knowledge-Intensive NLP Tasks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Combines dense passage retrieval with a seq2seq generator (RAG framework)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Extend retrieval-augmented generation to multilingual settings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English only; no multilingual support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6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Karpukhin et al.,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2020 (EMNLP)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Dense Passage Retrieval (DPR) for Open-Domain QA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Bi-encoder architecture for efficient large-scale dense retrieval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Adapt DPR training to low-resource / multilingual QA pairs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Requires QA training pairs per domain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46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Wang et al.,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2022 (arXiv)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E5: Text Embeddings by Weakly-Supervised Contrastive Pre-training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Contrastive weakly-supervised pre-training for universal multilingual embeddings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Fine-tune embeddings for domain-specific multilingual documents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Not fine-tuned for domain-specific docs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46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Reimers &amp; Gurevych,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2020 (EMNLP)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Making Monolingual Encoders Multilingual via Knowledge Distillation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Teacher-student knowledge distillation for cross-lingual SBERT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Improve distillation coverage for low-resource languages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Performance drops for low-resource languages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46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Hu et al.,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2022 (ICLR)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LoRA: Low-Rank Adaptation of Large Language Models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Parameter-efficient fine-tuning via low-rank weight decomposition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Combine with quantization for larger models on limited GPUs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QLoRA extension needed for constrained GPU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46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Dettmers et al.,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2023 (NeurIPS)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QLoRA: Efficient Fine-Tuning of Quantized LLMs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4-bit NF4 quantization + LoRA, enabling fine-tuning on a single GPU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Narrow the accuracy gap versus full fine-tuning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000000"/>
                          </a:solidFill>
                          <a:latin typeface="Calibri"/>
                        </a:rPr>
                        <a:t>Slightly lower accuracy than full fine-tuning</a:t>
                      </a:r>
                    </a:p>
                  </a:txBody>
                  <a:tcPr marL="45720" marR="4572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Problem Statement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274320" y="640080"/>
            <a:ext cx="8595360" cy="8961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658368"/>
            <a:ext cx="8266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349"/>
                </a:solidFill>
              </a:rPr>
              <a:t>"Organizations cannot efficiently query their private multilingual document archives — forcing manual search, causing knowledge loss, compliance risk, and poor decisions. Existing tools either ignore non-English content or hallucinate answers without source citations."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1645920"/>
            <a:ext cx="274320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645920"/>
            <a:ext cx="2743200" cy="32918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645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029968"/>
            <a:ext cx="25237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Enterprises maintain millions of pages across PDFs, DOCX, and scanned archives. Keyword tools cannot locate semantically relevant passages — a user asking "maximum contract penalty" misses clauses phrased differently.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645920"/>
            <a:ext cx="274320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645920"/>
            <a:ext cx="2743200" cy="32918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1645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Multilingualism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10128" y="2029968"/>
            <a:ext cx="25237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Documents span 50+ languages. Existing QA tools require English input only, failing globally distributed teams who work in Hindi, French, German, Arabic, and more.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1645920"/>
            <a:ext cx="274320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1645920"/>
            <a:ext cx="2743200" cy="32918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1645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Trust &amp; Grounding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36208" y="2029968"/>
            <a:ext cx="25237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General-purpose LLMs generate fluent but hallucinated answers with no source citations — unacceptable in legal, medical, and compliance contexts where every claim must trace back to the document.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Objectives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274320" y="640080"/>
            <a:ext cx="4160520" cy="122529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6949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490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71323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349"/>
                </a:solidFill>
              </a:rPr>
              <a:t>Multilingual Ingestion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4048" y="1097280"/>
            <a:ext cx="3941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Async pipeline to ingest PDF, DOCX, and scanned images in 100+ languages using OCR (Tesseract) and format parsers.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640080"/>
            <a:ext cx="4160520" cy="122529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2312" y="6949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490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166360" y="71323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349"/>
                </a:solidFill>
              </a:rPr>
              <a:t>Semantic Vector Indexing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18888" y="1097280"/>
            <a:ext cx="3941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Chunk documents with overlapping windows, embed using fine-tuned multilingual-E5-large, and index via pgvector HNSW.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1975104"/>
            <a:ext cx="4160520" cy="122529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20299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490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31520" y="2048256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349"/>
                </a:solidFill>
              </a:rPr>
              <a:t>Fine-Tune Embedding Model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4048" y="2432304"/>
            <a:ext cx="3941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Train multilingual-E5-large on (query, positive_chunk, negative_chunk) triplets using InfoNCE contrastive loss for domain-specific retrieval.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09160" y="1975104"/>
            <a:ext cx="4160520" cy="122529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2312" y="20299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490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166360" y="2048256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349"/>
                </a:solidFill>
              </a:rPr>
              <a:t>Re-Ranking with Cross-Encoder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18888" y="2432304"/>
            <a:ext cx="3941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Retrieve top-20 chunks via HNSW cosine search, re-rank using a BERT cross-encoder trained on multilingual MS-MARCO.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310128"/>
            <a:ext cx="4160520" cy="122529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490"/>
                </a:solidFill>
              </a:rPr>
              <a:t>05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31520" y="338328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349"/>
                </a:solidFill>
              </a:rPr>
              <a:t>Grounded Answer Generation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84048" y="3767328"/>
            <a:ext cx="3941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Generate cited answers via QLoRA fine-tuned LLaMA-3.2-3B with context injection, streamed over SSE to prevent hallucination.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09160" y="3310128"/>
            <a:ext cx="4160520" cy="122529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82312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490"/>
                </a:solidFill>
              </a:rPr>
              <a:t>06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166360" y="338328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2349"/>
                </a:solidFill>
              </a:rPr>
              <a:t>Multi-Tenant SaaS Delivery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18888" y="3767328"/>
            <a:ext cx="3941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Deliver the system as a Next.js 14 SaaS platform with workspace isolation, usage analytics, and real-time streaming responses.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Proposed System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74320" y="64008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 cloud-based Retrieval-Augmented Generation platform that lets users query private multilingual document libraries in natural language and receive grounded, cited answers streamed in real time.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2743200" cy="321868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188720"/>
            <a:ext cx="2743200" cy="32918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188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Ingestion Layer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048" y="157276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Upload: PDF, DOCX, scanned images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4048" y="213055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OCR via Tesseract for scanned files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268833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Language detection (langdetect)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324612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Async Celery + Redis worker queue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380390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512-token overlapping chunk splitting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0" y="1188720"/>
            <a:ext cx="2743200" cy="321868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1188720"/>
            <a:ext cx="2743200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1188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Intelligence Layer (ML Core)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10128" y="157276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multilingual-E5-large (1024-dim vectors)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10128" y="213055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pgvector HNSW index — cosine search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310128" y="268833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BERT cross-encoder re-ranker (top-5)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10128" y="324612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QLoRA LLaMA-3.2-3B answer generator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310128" y="380390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Fine-tuning: InfoNCE contrastive loss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26480" y="1188720"/>
            <a:ext cx="2743200" cy="321868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26480" y="1188720"/>
            <a:ext cx="274320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1188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Serving Layer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36208" y="157276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FastAPI async REST + SSE endpoints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236208" y="213055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Next.js 14 App Router SaaS frontend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36208" y="268833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Multi-tenant workspace isolation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236208" y="324612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Real-time streaming token delivery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236208" y="380390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▸  Source citations with page references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System Architecture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7432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</a:rPr>
              <a:t>Query Pipeline (Runtime)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74320" y="969264"/>
            <a:ext cx="3840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" y="969264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02412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User submits natural-language query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28016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Next.js frontend → FastAPI endpoint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4320" y="1600200"/>
            <a:ext cx="384048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" y="160020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165506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Query embedded by E5 model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191109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1024-dim vector via multilingual-E5-large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2231136"/>
            <a:ext cx="3840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" y="2231136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" y="22860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pgvector HNSW retrieval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254203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Top-20 chunks by cosine similarity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2862072"/>
            <a:ext cx="384048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" y="2862072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0080" y="291693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BERT cross-encoder re-ranking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31729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Top-5 most relevant chunks selected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3493008"/>
            <a:ext cx="3840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" y="3493008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0080" y="354787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Prompt assembly with context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" y="380390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Chunks + language instruction injected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74320" y="4123944"/>
            <a:ext cx="384048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9184" y="4123944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40080" y="417880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LLaMA-3.2-3B generates answer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0080" y="44348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Streamed via SSE with source citations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389120" y="6400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349"/>
                </a:solidFill>
              </a:rPr>
              <a:t>Core Components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389120" y="969264"/>
            <a:ext cx="448056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98848" y="102412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multilingual-E5-large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98848" y="124358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</a:rPr>
              <a:t>Embedding Model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498848" y="142646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560M params, 1024-dim, 100+ langs. Fine-tuned on domain triplets with InfoNCE contrastive loss.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89120" y="1929384"/>
            <a:ext cx="448056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98848" y="198424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pgvector (PostgreSQL)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498848" y="220370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</a:rPr>
              <a:t>Vector Database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498848" y="238658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HNSW index for approximate nearest-neighbour search. Supports cosine, L2, and inner-product distance.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389120" y="2889504"/>
            <a:ext cx="448056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98848" y="294436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BERT Cross-Encoder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498848" y="316382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</a:rPr>
              <a:t>Re-Ranker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498848" y="334670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Scores (query, chunk) pairs jointly. Trained on multilingual MS-MARCO. Selects top-5 chunks.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89120" y="3849624"/>
            <a:ext cx="448056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98848" y="390448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349"/>
                </a:solidFill>
              </a:rPr>
              <a:t>LLaMA-3.2-3B + QLoRA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498848" y="412394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</a:rPr>
              <a:t>Generator LLM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498848" y="430682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4-bit NF4 quantized, instruction fine-tuned on Colab T4. Served locally via Ollama.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Methodology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74320" y="640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</a:rPr>
              <a:t>Document Ingestion Pipeline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74320" y="969264"/>
            <a:ext cx="393192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" y="969264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969264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User uploads file (PDF / DOCX / image)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1508760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" y="1508760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1508760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Format detection → appropriate parser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048256"/>
            <a:ext cx="393192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" y="2048256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" y="204825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Tesseract OCR for scanned/image files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2587752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" y="2587752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" y="2587752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Language detection via langdetect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127248"/>
            <a:ext cx="393192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" y="3127248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1792" y="3127248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512-token chunks with 50-token overlap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3666744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3666744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1792" y="3666744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multilingual-E5 embedding → 1024-dim vector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4206240"/>
            <a:ext cx="3931920" cy="4937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9184" y="4206240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1792" y="4206240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Stored in PostgreSQL + pgvector HNSW index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480560" y="640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349"/>
                </a:solidFill>
              </a:rPr>
              <a:t>Query &amp; Answer Pipeline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80560" y="969264"/>
            <a:ext cx="4389120" cy="4937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35424" y="969264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349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28032" y="969264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User types natural-language question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480560" y="1508760"/>
            <a:ext cx="4389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35424" y="1508760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349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28032" y="1508760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Query embedded via same fine-tuned E5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480560" y="2048256"/>
            <a:ext cx="4389120" cy="4937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35424" y="2048256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349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828032" y="2048256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pgvector HNSW: fetch top-20 chunks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480560" y="2587752"/>
            <a:ext cx="4389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35424" y="2587752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349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828032" y="2587752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Cross-encoder BERT: re-rank → top-5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480560" y="3127248"/>
            <a:ext cx="4389120" cy="4937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35424" y="3127248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349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828032" y="3127248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Prompt template: chunks + query assembled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480560" y="3666744"/>
            <a:ext cx="4389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35424" y="3666744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349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828032" y="3666744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LLaMA generates answer — streamed via SSE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480560" y="4206240"/>
            <a:ext cx="4389120" cy="4937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35424" y="4206240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349"/>
                </a:solidFill>
              </a:rPr>
              <a:t>7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828032" y="4206240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Citations: page, paragraph, document ref shown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Technology Stack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274320" y="640080"/>
            <a:ext cx="4160520" cy="202996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640080"/>
            <a:ext cx="416052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64008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2336" y="100584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Next.js 14 (App Router)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2336" y="11978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Multi-tenant SaaS UI with server-side rendering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2336" y="140817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TypeScript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02336" y="160020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Type-safe component and API development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02336" y="181051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Tailwind CSS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2336" y="200253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Responsive utility-first UI styling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02336" y="221284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Server-Sent Events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2336" y="240487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Real-time streaming answer delivery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9160" y="640080"/>
            <a:ext cx="4160520" cy="202996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640080"/>
            <a:ext cx="4160520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18888" y="64008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Backend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37176" y="100584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FastAPI (Python 3.11)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37176" y="11978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Async REST API with SSE streaming support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37176" y="140817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Celery + Redis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37176" y="160020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Async background worker queue for ingestion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37176" y="181051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PostgreSQL + pgvector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37176" y="200253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Document store and HNSW vector index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37176" y="221284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Docker Compose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37176" y="240487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Local service orchestration for all components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2743200"/>
            <a:ext cx="4160520" cy="202996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" y="2743200"/>
            <a:ext cx="4160520" cy="31089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" y="274320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Machine Learning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02336" y="310896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multilingual-E5-large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02336" y="330098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Embedding model — fine-tuned via InfoNCE loss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02336" y="35112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BERT Cross-Encoder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02336" y="370332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Re-ranking model trained on multilingual MS-MARCO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02336" y="391363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LLaMA-3.2-3B + QLoRA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02336" y="410565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Generator fine-tuned with 4-bit NF4 on Colab T4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02336" y="431596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PyTorch + PEFT + HuggingFace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02336" y="450799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Fine-tuning and model management framework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709160" y="2743200"/>
            <a:ext cx="4160520" cy="202996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2743200"/>
            <a:ext cx="416052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18888" y="274320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Infrastructure &amp; Tools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837176" y="310896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Tesseract OCR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837176" y="330098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Scanned document text extraction (100+ languages)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837176" y="35112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LangChain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837176" y="370332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Document splitting + retrieval chain utilities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837176" y="391363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AWS S3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37176" y="410565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Raw document blob storage for multi-tenant SaaS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837176" y="431596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349"/>
                </a:solidFill>
              </a:rPr>
              <a:t>Google Colab (T4 GPU)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837176" y="450799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Model fine-tuning and experimentation environment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Work Division &amp; Timeline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274320" y="640080"/>
            <a:ext cx="4137660" cy="41742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640080"/>
            <a:ext cx="4137660" cy="347472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84048" y="640080"/>
            <a:ext cx="3918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1 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078992"/>
            <a:ext cx="3954780" cy="21945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" y="1078992"/>
            <a:ext cx="38450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 Pipeline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02336" y="133502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Fine-tune multilingual-E5-large (InfoNCE loss)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02336" y="170078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Train BERT cross-encoder re-ranker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2336" y="206654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QLoRA fine-tune LLaMA-3.2-3B on Colab T4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2336" y="243230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Evaluation: MRR@10, NDCG, BLEU metrics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907792"/>
            <a:ext cx="3954780" cy="21945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" y="2907792"/>
            <a:ext cx="38450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 API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2336" y="316382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FastAPI endpoints (upload, query, stream)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02336" y="352958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Celery + Redis async ingestion workers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02336" y="389534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pgvector HNSW index setup and tuning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32020" y="640080"/>
            <a:ext cx="4137660" cy="41742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32020" y="640080"/>
            <a:ext cx="41376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1748" y="640080"/>
            <a:ext cx="3918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2 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23460" y="1078992"/>
            <a:ext cx="3954780" cy="21945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78324" y="1078992"/>
            <a:ext cx="38450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(SaaS UI)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60036" y="133502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Next.js 14 multi-tenant workspace UI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60036" y="170078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Real-time SSE streaming answer display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60036" y="206654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Document upload and management panel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60036" y="243230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Source citation viewer with page highlights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823460" y="2907792"/>
            <a:ext cx="3954780" cy="21945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78324" y="2907792"/>
            <a:ext cx="38450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DevOps &amp; Integration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60036" y="316382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Docker Compose service orchestration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60036" y="352958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AWS S3 document storage integration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60036" y="3895344"/>
            <a:ext cx="3881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End-to-end integration and performance testing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74320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Timeline: 6 months | Review 1: Ideation  Review 2: Implementation  Review 3: Testing &amp; Demo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Conclusion &amp; References</a:t>
            </a:r>
            <a:endParaRPr lang="en-US" sz="1900" dirty="0"/>
          </a:p>
        </p:txBody>
      </p:sp>
      <p:pic>
        <p:nvPicPr>
          <p:cNvPr id="4" name="Image 0" descr="C:\Users\kushh\AppData\Local\Temp\claude\C--Users-kushh-OneDrive-Desktop-meet\8a9c9edc-de63-4cea-acce-90618054f9b3\scratchpad\ppt_work\unpacked\ppt\media\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57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CA3AF"/>
                </a:solidFill>
              </a:rPr>
              <a:t>Multilingual Document Intelligence (RAG)  |  BE Project Review 1  |  MMCOE Pune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74320" y="640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</a:rPr>
              <a:t>Summary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74320" y="96926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We propose a multilingual RAG system combining fine-tuned multilingual-E5-large embeddings, pgvector retrieval, BERT cross-encoder re-ranking, and QLoRA-fine-tuned LLaMA-3.2-3B generation.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177393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The ML contribution is end-to-end model fine-tuning: embedding model via contrastive triplet training, re-ranker on MS-MARCO, and generator via QLoRA — all locally on a single GPU.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74320" y="257860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This directly solves the multilingual, grounded-QA gap in enterprise document management, making every document library queryable in any language with cited answers.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4320" y="338328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•  Future enhancements: vision-language models for tables/charts, federated deployment, agentic multi-document reasoning, and real-time document collaboration.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663440" y="640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349"/>
                </a:solidFill>
              </a:rPr>
              <a:t>Key References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969264"/>
            <a:ext cx="4206240" cy="51206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987552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[1] P. Lewis et al., "RAG for Knowledge-Intensive NLP Tasks," NeurIPS 2020.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536192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1554480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[2] V. Karpukhin et al., "Dense Passage Retrieval for Open-Domain QA," EMNLP 2020.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63440" y="2103120"/>
            <a:ext cx="4206240" cy="51206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2121408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[3] L. Wang et al., "Text Embeddings by Weakly-Supervised Contrastive Pre-training," arXiv 2022.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267004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2688336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[4] N. Reimers, I. Gurevych, "Making Monolingual Sentence Encoders Multilingual," EMNLP 2020.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3236976"/>
            <a:ext cx="4206240" cy="51206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592" y="3255264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[5] E. Hu et al., "LoRA: Low-Rank Adaptation of Large Language Models," ICLR 2022.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3803904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3822192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[6] T. Dettmers et al., "QLoRA: Efficient Finetuning of Quantized LLMs," NeurIPS 2023.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4448556"/>
            <a:ext cx="8595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0624" y="4448556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Project Status: Ideation Phase  |  Implementation: Not Started Yet  | 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1795</Words>
  <Application>Microsoft Office PowerPoint</Application>
  <PresentationFormat>On-screen Show (16:9)</PresentationFormat>
  <Paragraphs>280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KUSH .</cp:lastModifiedBy>
  <cp:revision>3</cp:revision>
  <dcterms:created xsi:type="dcterms:W3CDTF">2026-08-07T12:41:56Z</dcterms:created>
  <dcterms:modified xsi:type="dcterms:W3CDTF">2026-09-11T09:59:12Z</dcterms:modified>
</cp:coreProperties>
</file>