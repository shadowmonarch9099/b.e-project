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Same language as document</c:v>
                </c:pt>
              </c:strCache>
            </c:strRef>
          </c:tx>
          <c:spPr>
            <a:solidFill>
              <a:srgbClr val="0D2349"/>
            </a:solidFill>
            <a:effectLst/>
          </c:spPr>
          <c:invertIfNegative val="0"/>
          <c:dLbls>
            <c:numFmt formatCode="0&quot;%&quot;"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Questions</c:v>
                  </c:pt>
                </c:lvl>
              </c:multiLvlStrCache>
            </c:multiLvlStrRef>
          </c:cat>
          <c:val>
            <c:numRef>
              <c:f>Sheet1!$B$2:$B$2</c:f>
              <c:numCache>
                <c:formatCode>General</c:formatCode>
                <c:ptCount val="1"/>
                <c:pt idx="0">
                  <c:v>40</c:v>
                </c:pt>
              </c:numCache>
            </c:numRef>
          </c:val>
        </c:ser>
        <c:ser>
          <c:idx val="1"/>
          <c:order val="1"/>
          <c:tx>
            <c:strRef>
              <c:f>Sheet1!$C$1</c:f>
              <c:strCache>
                <c:ptCount val="1"/>
                <c:pt idx="0">
                  <c:v>Cross-language</c:v>
                </c:pt>
              </c:strCache>
            </c:strRef>
          </c:tx>
          <c:spPr>
            <a:solidFill>
              <a:srgbClr val="0E7490"/>
            </a:solidFill>
            <a:effectLst/>
          </c:spPr>
          <c:invertIfNegative val="0"/>
          <c:dLbls>
            <c:numFmt formatCode="0&quot;%&quot;"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Questions</c:v>
                  </c:pt>
                </c:lvl>
              </c:multiLvlStrCache>
            </c:multiLvlStrRef>
          </c:cat>
          <c:val>
            <c:numRef>
              <c:f>Sheet1!$C$2:$C$2</c:f>
              <c:numCache>
                <c:formatCode>General</c:formatCode>
                <c:ptCount val="1"/>
                <c:pt idx="0">
                  <c:v>30</c:v>
                </c:pt>
              </c:numCache>
            </c:numRef>
          </c:val>
        </c:ser>
        <c:ser>
          <c:idx val="2"/>
          <c:order val="2"/>
          <c:tx>
            <c:strRef>
              <c:f>Sheet1!$D$1</c:f>
              <c:strCache>
                <c:ptCount val="1"/>
                <c:pt idx="0">
                  <c:v>Romanized / code-mixed</c:v>
                </c:pt>
              </c:strCache>
            </c:strRef>
          </c:tx>
          <c:spPr>
            <a:solidFill>
              <a:srgbClr val="60A5FA"/>
            </a:solidFill>
            <a:effectLst/>
          </c:spPr>
          <c:invertIfNegative val="0"/>
          <c:dLbls>
            <c:numFmt formatCode="0&quot;%&quot;"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Questions</c:v>
                  </c:pt>
                </c:lvl>
              </c:multiLvlStrCache>
            </c:multiLvlStrRef>
          </c:cat>
          <c:val>
            <c:numRef>
              <c:f>Sheet1!$D$2:$D$2</c:f>
              <c:numCache>
                <c:formatCode>General</c:formatCode>
                <c:ptCount val="1"/>
                <c:pt idx="0">
                  <c:v>15</c:v>
                </c:pt>
              </c:numCache>
            </c:numRef>
          </c:val>
        </c:ser>
        <c:ser>
          <c:idx val="3"/>
          <c:order val="3"/>
          <c:tx>
            <c:strRef>
              <c:f>Sheet1!$E$1</c:f>
              <c:strCache>
                <c:ptCount val="1"/>
                <c:pt idx="0">
                  <c:v>Unanswerable</c:v>
                </c:pt>
              </c:strCache>
            </c:strRef>
          </c:tx>
          <c:spPr>
            <a:solidFill>
              <a:srgbClr val="F59E0B"/>
            </a:solidFill>
            <a:effectLst/>
          </c:spPr>
          <c:invertIfNegative val="0"/>
          <c:dLbls>
            <c:numFmt formatCode="0&quot;%&quot;"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Questions</c:v>
                  </c:pt>
                </c:lvl>
              </c:multiLvlStrCache>
            </c:multiLvlStrRef>
          </c:cat>
          <c:val>
            <c:numRef>
              <c:f>Sheet1!$E$2:$E$2</c:f>
              <c:numCache>
                <c:formatCode>General</c:formatCode>
                <c:ptCount val="1"/>
                <c:pt idx="0">
                  <c:v>15</c:v>
                </c:pt>
              </c:numCache>
            </c:numRef>
          </c:val>
        </c:ser>
        <c:dLbls>
          <c:numFmt formatCode="0&quot;%&quot;"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The project keeps its Review 1 title and adds the system name, Sakshya (Sanskrit/Marathi for "evidence"): every answer is backed by a cited page, or the system abstains.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in three concrete failures instead of the Review 1 statistics, which had no source. Scope is only the three languages we evaluate: English, Hindi and Marathi, in Devanagari and Roman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recent multilingual RAG papers, each mapped to the gap it leaves and the Sakshya mechanism that responds (N1-N5). Citation details come from our gaps review and are being verified against the full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and six Maharashtra settings where it bites. The N-tags show which Sakshya mechanism each setting exercises. The system supports search and reading; it gives no legal, medical or compliance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replace the Review 1 list (fine-tune E5, BERT reranker from scratch, QLoRA, multi-tenant SaaS). Each objective produces a measurable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RQ1-RQ4 come from the synopsis. Each now has testable hypotheses and a mechanism the system builds. No effect sizes are predicted in advance (the Review 1 plan predicted ~12% P@5; that claim is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 once into three indexes. Each question is understood, routed, retrieved and reranked; the evidence gate decides whether to call the LLM at all; the verifier checks each sentence against its cited page. Either the gate or the verifier can end in an abstention that shows the nearest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1 went dense top-20 → BERT → LLaMA with only a prompt as a safeguard. Sakshya adds three explicit mechanisms: a trained router, a calibrated evidence gate before generation, and a claim verifier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Ingestion now includes OCR with confidence and page-anchored chunks, replacing the 512-token splitter that could cross pages and langdetect, which fails on short, same-script or romanized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locally: private documents never leave the machine. The SaaS components from Review 1 are cut or deferred to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Replaces IndicCorp, Wikipedia and LLM-generated queries from the Review 1 plan: those have no QA labels, and using the same generated queries for training and testing leaks. Splits are by document so no test document is seen during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slots are empty on purpose: the RQ1 table is filled from the dev split in week 6 and the risk-coverage curve in week 8. No numbers are shown until they are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timeline: 12 weeks (Review 1 said 6 months in the deck and 12 weeks in the plan). The research core is done by week 8 for Review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Review 2 demonstrates, what remains for Review 3, and the references the survey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1-1.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4400" y="228600"/>
            <a:ext cx="7315200" cy="365760"/>
          </a:xfrm>
          <a:prstGeom prst="rect">
            <a:avLst/>
          </a:prstGeom>
          <a:noFill/>
          <a:ln/>
        </p:spPr>
        <p:txBody>
          <a:bodyPr wrap="square" lIns="0" tIns="0" rIns="0" bIns="0" rtlCol="0" anchor="ctr"/>
          <a:lstStyle/>
          <a:p>
            <a:pPr algn="ctr" indent="0" marL="0">
              <a:buNone/>
            </a:pPr>
            <a:r>
              <a:rPr lang="en-US" sz="1800" b="1" dirty="0">
                <a:solidFill>
                  <a:srgbClr val="000000"/>
                </a:solidFill>
                <a:latin typeface="Cambria" pitchFamily="34" charset="0"/>
                <a:ea typeface="Cambria" pitchFamily="34" charset="-122"/>
                <a:cs typeface="Cambria" pitchFamily="34" charset="-120"/>
              </a:rPr>
              <a:t>A Project Review 2 Presentation on</a:t>
            </a:r>
            <a:endParaRPr lang="en-US" sz="1800" dirty="0"/>
          </a:p>
        </p:txBody>
      </p:sp>
      <p:sp>
        <p:nvSpPr>
          <p:cNvPr id="3" name="Text 1"/>
          <p:cNvSpPr txBox="1"/>
          <p:nvPr/>
        </p:nvSpPr>
        <p:spPr>
          <a:xfrm>
            <a:off x="457200" y="658368"/>
            <a:ext cx="8229600" cy="566928"/>
          </a:xfrm>
          <a:prstGeom prst="rect">
            <a:avLst/>
          </a:prstGeom>
          <a:noFill/>
          <a:ln/>
        </p:spPr>
        <p:txBody>
          <a:bodyPr wrap="square" lIns="0" tIns="0" rIns="0" bIns="0" rtlCol="0" anchor="ctr"/>
          <a:lstStyle/>
          <a:p>
            <a:pPr algn="ctr" indent="0" marL="0">
              <a:buNone/>
            </a:pPr>
            <a:r>
              <a:rPr lang="en-US" sz="3400" b="1" dirty="0">
                <a:solidFill>
                  <a:srgbClr val="0070C0"/>
                </a:solidFill>
                <a:latin typeface="Cambria" pitchFamily="34" charset="0"/>
                <a:ea typeface="Cambria" pitchFamily="34" charset="-122"/>
                <a:cs typeface="Cambria" pitchFamily="34" charset="-120"/>
              </a:rPr>
              <a:t>Sakshya </a:t>
            </a:r>
            <a:pPr algn="ctr" indent="0" marL="0">
              <a:buNone/>
            </a:pPr>
            <a:r>
              <a:rPr lang="en-US" sz="1800" b="1" dirty="0">
                <a:solidFill>
                  <a:srgbClr val="4B5563"/>
                </a:solidFill>
                <a:latin typeface="Cambria" pitchFamily="34" charset="0"/>
                <a:ea typeface="Cambria" pitchFamily="34" charset="-122"/>
                <a:cs typeface="Cambria" pitchFamily="34" charset="-120"/>
              </a:rPr>
              <a:t>(</a:t>
            </a:r>
            <a:pPr algn="ctr" indent="0" marL="0">
              <a:buNone/>
            </a:pPr>
            <a:r>
              <a:rPr lang="en-US" sz="1800" b="1" dirty="0">
                <a:solidFill>
                  <a:srgbClr val="4B5563"/>
                </a:solidFill>
                <a:latin typeface="Nirmala UI" pitchFamily="34" charset="0"/>
                <a:ea typeface="Nirmala UI" pitchFamily="34" charset="-122"/>
                <a:cs typeface="Nirmala UI" pitchFamily="34" charset="-120"/>
              </a:rPr>
              <a:t>साक्ष्य</a:t>
            </a:r>
            <a:pPr algn="ctr" indent="0" marL="0">
              <a:buNone/>
            </a:pPr>
            <a:r>
              <a:rPr lang="en-US" sz="1800" b="1" dirty="0">
                <a:solidFill>
                  <a:srgbClr val="4B5563"/>
                </a:solidFill>
                <a:latin typeface="Cambria" pitchFamily="34" charset="0"/>
                <a:ea typeface="Cambria" pitchFamily="34" charset="-122"/>
                <a:cs typeface="Cambria" pitchFamily="34" charset="-120"/>
              </a:rPr>
              <a:t>, "evidence")</a:t>
            </a:r>
            <a:endParaRPr lang="en-US" sz="3400" dirty="0"/>
          </a:p>
        </p:txBody>
      </p:sp>
      <p:sp>
        <p:nvSpPr>
          <p:cNvPr id="4" name="Text 2"/>
          <p:cNvSpPr txBox="1"/>
          <p:nvPr/>
        </p:nvSpPr>
        <p:spPr>
          <a:xfrm>
            <a:off x="457200" y="1243584"/>
            <a:ext cx="8229600" cy="365760"/>
          </a:xfrm>
          <a:prstGeom prst="rect">
            <a:avLst/>
          </a:prstGeom>
          <a:noFill/>
          <a:ln/>
        </p:spPr>
        <p:txBody>
          <a:bodyPr wrap="square" lIns="0" tIns="0" rIns="0" bIns="0" rtlCol="0" anchor="ctr"/>
          <a:lstStyle/>
          <a:p>
            <a:pPr algn="ctr" indent="0" marL="0">
              <a:buNone/>
            </a:pPr>
            <a:r>
              <a:rPr lang="en-US" sz="2000" b="1" i="1" dirty="0">
                <a:solidFill>
                  <a:srgbClr val="0070C0"/>
                </a:solidFill>
                <a:latin typeface="Cambria" pitchFamily="34" charset="0"/>
                <a:ea typeface="Cambria" pitchFamily="34" charset="-122"/>
                <a:cs typeface="Cambria" pitchFamily="34" charset="-120"/>
              </a:rPr>
              <a:t>Citation-Grounded Multilingual Document Intelligence (RAG)</a:t>
            </a:r>
            <a:endParaRPr lang="en-US" sz="2000" dirty="0"/>
          </a:p>
        </p:txBody>
      </p:sp>
      <p:sp>
        <p:nvSpPr>
          <p:cNvPr id="5" name="Text 3"/>
          <p:cNvSpPr txBox="1"/>
          <p:nvPr/>
        </p:nvSpPr>
        <p:spPr>
          <a:xfrm>
            <a:off x="457200" y="1609344"/>
            <a:ext cx="8229600" cy="274320"/>
          </a:xfrm>
          <a:prstGeom prst="rect">
            <a:avLst/>
          </a:prstGeom>
          <a:noFill/>
          <a:ln/>
        </p:spPr>
        <p:txBody>
          <a:bodyPr wrap="square" lIns="0" tIns="0" rIns="0" bIns="0" rtlCol="0" anchor="ctr"/>
          <a:lstStyle/>
          <a:p>
            <a:pPr algn="ctr" indent="0" marL="0">
              <a:buNone/>
            </a:pPr>
            <a:r>
              <a:rPr lang="en-US" sz="1300" dirty="0">
                <a:solidFill>
                  <a:srgbClr val="4B5563"/>
                </a:solidFill>
                <a:latin typeface="Cambria" pitchFamily="34" charset="0"/>
                <a:ea typeface="Cambria" pitchFamily="34" charset="-122"/>
                <a:cs typeface="Cambria" pitchFamily="34" charset="-120"/>
              </a:rPr>
              <a:t>for private English, Hindi and Marathi document archives</a:t>
            </a:r>
            <a:endParaRPr lang="en-US" sz="1300" dirty="0"/>
          </a:p>
        </p:txBody>
      </p:sp>
      <p:sp>
        <p:nvSpPr>
          <p:cNvPr id="6" name="Text 4"/>
          <p:cNvSpPr txBox="1"/>
          <p:nvPr/>
        </p:nvSpPr>
        <p:spPr>
          <a:xfrm>
            <a:off x="822960" y="2103120"/>
            <a:ext cx="3566160" cy="731520"/>
          </a:xfrm>
          <a:prstGeom prst="rect">
            <a:avLst/>
          </a:prstGeom>
          <a:noFill/>
          <a:ln/>
        </p:spPr>
        <p:txBody>
          <a:bodyPr wrap="square" lIns="0" tIns="0" rIns="0" bIns="0" rtlCol="0" anchor="ctr"/>
          <a:lstStyle/>
          <a:p>
            <a:pPr algn="ctr" indent="0" marL="0">
              <a:buNone/>
            </a:pPr>
            <a:r>
              <a:rPr lang="en-US" sz="1400" b="1" dirty="0">
                <a:solidFill>
                  <a:srgbClr val="000000"/>
                </a:solidFill>
                <a:latin typeface="Cambria" pitchFamily="34" charset="0"/>
                <a:ea typeface="Cambria" pitchFamily="34" charset="-122"/>
                <a:cs typeface="Cambria" pitchFamily="34" charset="-120"/>
              </a:rPr>
              <a:t>Under the Guidance of</a:t>
            </a:r>
            <a:endParaRPr lang="en-US" sz="1100" dirty="0"/>
          </a:p>
          <a:p>
            <a:pPr algn="ctr" indent="0" marL="0">
              <a:buNone/>
            </a:pPr>
            <a:r>
              <a:rPr lang="en-US" sz="1600" b="1" i="1" dirty="0">
                <a:solidFill>
                  <a:srgbClr val="E36C09"/>
                </a:solidFill>
                <a:latin typeface="Cambria" pitchFamily="34" charset="0"/>
                <a:ea typeface="Cambria" pitchFamily="34" charset="-122"/>
                <a:cs typeface="Cambria" pitchFamily="34" charset="-120"/>
              </a:rPr>
              <a:t>Mr. Rishikesh C. Yeolekar</a:t>
            </a:r>
            <a:endParaRPr lang="en-US" sz="1100" dirty="0"/>
          </a:p>
        </p:txBody>
      </p:sp>
      <p:sp>
        <p:nvSpPr>
          <p:cNvPr id="7" name="Text 5"/>
          <p:cNvSpPr txBox="1"/>
          <p:nvPr/>
        </p:nvSpPr>
        <p:spPr>
          <a:xfrm>
            <a:off x="4754880" y="2029968"/>
            <a:ext cx="3566160" cy="877824"/>
          </a:xfrm>
          <a:prstGeom prst="rect">
            <a:avLst/>
          </a:prstGeom>
          <a:noFill/>
          <a:ln/>
        </p:spPr>
        <p:txBody>
          <a:bodyPr wrap="square" lIns="0" tIns="0" rIns="0" bIns="0" rtlCol="0" anchor="ctr"/>
          <a:lstStyle/>
          <a:p>
            <a:pPr algn="ctr" indent="0" marL="0">
              <a:buNone/>
            </a:pPr>
            <a:r>
              <a:rPr lang="en-US" sz="1400" b="1" dirty="0">
                <a:solidFill>
                  <a:srgbClr val="000000"/>
                </a:solidFill>
                <a:latin typeface="Cambria" pitchFamily="34" charset="0"/>
                <a:ea typeface="Cambria" pitchFamily="34" charset="-122"/>
                <a:cs typeface="Cambria" pitchFamily="34" charset="-120"/>
              </a:rPr>
              <a:t>Presented by</a:t>
            </a:r>
            <a:endParaRPr lang="en-US" sz="1100" dirty="0"/>
          </a:p>
          <a:p>
            <a:pPr algn="ctr" indent="0" marL="0">
              <a:buNone/>
            </a:pPr>
            <a:r>
              <a:rPr lang="en-US" sz="1600" b="1" i="1" dirty="0">
                <a:solidFill>
                  <a:srgbClr val="E36C09"/>
                </a:solidFill>
                <a:latin typeface="Cambria" pitchFamily="34" charset="0"/>
                <a:ea typeface="Cambria" pitchFamily="34" charset="-122"/>
                <a:cs typeface="Cambria" pitchFamily="34" charset="-120"/>
              </a:rPr>
              <a:t>Tanmay Gosavi (BA18)</a:t>
            </a:r>
            <a:endParaRPr lang="en-US" sz="1100" dirty="0"/>
          </a:p>
          <a:p>
            <a:pPr algn="ctr" indent="0" marL="0">
              <a:buNone/>
            </a:pPr>
            <a:r>
              <a:rPr lang="en-US" sz="1600" b="1" i="1" dirty="0">
                <a:solidFill>
                  <a:srgbClr val="E36C09"/>
                </a:solidFill>
                <a:latin typeface="Cambria" pitchFamily="34" charset="0"/>
                <a:ea typeface="Cambria" pitchFamily="34" charset="-122"/>
                <a:cs typeface="Cambria" pitchFamily="34" charset="-120"/>
              </a:rPr>
              <a:t>Kush Honkalse (BA20)</a:t>
            </a:r>
            <a:endParaRPr lang="en-US" sz="1100" dirty="0"/>
          </a:p>
        </p:txBody>
      </p:sp>
      <p:pic>
        <p:nvPicPr>
          <p:cNvPr id="8" name="Image 0" descr="MMCOE logo">    </p:cNvPr>
          <p:cNvPicPr>
            <a:picLocks noChangeAspect="1"/>
          </p:cNvPicPr>
          <p:nvPr/>
        </p:nvPicPr>
        <p:blipFill>
          <a:blip r:embed="rId1"/>
          <a:stretch>
            <a:fillRect/>
          </a:stretch>
        </p:blipFill>
        <p:spPr>
          <a:xfrm>
            <a:off x="4279392" y="3108960"/>
            <a:ext cx="585216" cy="704088"/>
          </a:xfrm>
          <a:prstGeom prst="rect">
            <a:avLst/>
          </a:prstGeom>
        </p:spPr>
      </p:pic>
      <p:sp>
        <p:nvSpPr>
          <p:cNvPr id="9" name="Text 6"/>
          <p:cNvSpPr txBox="1"/>
          <p:nvPr/>
        </p:nvSpPr>
        <p:spPr>
          <a:xfrm>
            <a:off x="457200" y="3931920"/>
            <a:ext cx="8229600" cy="320040"/>
          </a:xfrm>
          <a:prstGeom prst="rect">
            <a:avLst/>
          </a:prstGeom>
          <a:noFill/>
          <a:ln/>
        </p:spPr>
        <p:txBody>
          <a:bodyPr wrap="square" lIns="0" tIns="0" rIns="0" bIns="0" rtlCol="0" anchor="ctr"/>
          <a:lstStyle/>
          <a:p>
            <a:pPr algn="ctr" indent="0" marL="0">
              <a:buNone/>
            </a:pPr>
            <a:r>
              <a:rPr lang="en-US" sz="1600" b="1" dirty="0">
                <a:solidFill>
                  <a:srgbClr val="000000"/>
                </a:solidFill>
                <a:latin typeface="Cambria" pitchFamily="34" charset="0"/>
                <a:ea typeface="Cambria" pitchFamily="34" charset="-122"/>
                <a:cs typeface="Cambria" pitchFamily="34" charset="-120"/>
              </a:rPr>
              <a:t>Department of Artificial Intelligence &amp; Data Science</a:t>
            </a:r>
            <a:endParaRPr lang="en-US" sz="1600" dirty="0"/>
          </a:p>
        </p:txBody>
      </p:sp>
      <p:sp>
        <p:nvSpPr>
          <p:cNvPr id="10" name="Text 7"/>
          <p:cNvSpPr txBox="1"/>
          <p:nvPr/>
        </p:nvSpPr>
        <p:spPr>
          <a:xfrm>
            <a:off x="457200" y="4297680"/>
            <a:ext cx="8229600" cy="365760"/>
          </a:xfrm>
          <a:prstGeom prst="rect">
            <a:avLst/>
          </a:prstGeom>
          <a:noFill/>
          <a:ln/>
        </p:spPr>
        <p:txBody>
          <a:bodyPr wrap="square" lIns="0" tIns="0" rIns="0" bIns="0" rtlCol="0" anchor="ctr"/>
          <a:lstStyle/>
          <a:p>
            <a:pPr algn="ctr" indent="0" marL="0">
              <a:buNone/>
            </a:pPr>
            <a:r>
              <a:rPr lang="en-US" sz="1800" b="1" dirty="0">
                <a:solidFill>
                  <a:srgbClr val="000000"/>
                </a:solidFill>
                <a:latin typeface="Cambria" pitchFamily="34" charset="0"/>
                <a:ea typeface="Cambria" pitchFamily="34" charset="-122"/>
                <a:cs typeface="Cambria" pitchFamily="34" charset="-120"/>
              </a:rPr>
              <a:t>Marathwada Mitra Mandal's College of Engineering, Pune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D2349"/>
          </a:solidFill>
          <a:ln w="12700">
            <a:solidFill>
              <a:srgbClr val="0D2349"/>
            </a:solidFill>
            <a:prstDash val="solid"/>
          </a:ln>
        </p:spPr>
      </p:sp>
      <p:sp>
        <p:nvSpPr>
          <p:cNvPr id="3" name="Text 1"/>
          <p:cNvSpPr txBox="1"/>
          <p:nvPr/>
        </p:nvSpPr>
        <p:spPr>
          <a:xfrm>
            <a:off x="274320" y="0"/>
            <a:ext cx="7863840"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Introduction</a:t>
            </a:r>
            <a:endParaRPr lang="en-US" sz="1900" dirty="0"/>
          </a:p>
        </p:txBody>
      </p:sp>
      <p:pic>
        <p:nvPicPr>
          <p:cNvPr id="4" name="Image 0" descr="MMCOE logo">    </p:cNvPr>
          <p:cNvPicPr>
            <a:picLocks noChangeAspect="1"/>
          </p:cNvPicPr>
          <p:nvPr/>
        </p:nvPicPr>
        <p:blipFill>
          <a:blip r:embed="rId1"/>
          <a:stretch>
            <a:fillRect/>
          </a:stretch>
        </p:blipFill>
        <p:spPr>
          <a:xfrm>
            <a:off x="8531352" y="36576"/>
            <a:ext cx="320040" cy="384048"/>
          </a:xfrm>
          <a:prstGeom prst="rect">
            <a:avLst/>
          </a:prstGeom>
        </p:spPr>
      </p:pic>
      <p:sp>
        <p:nvSpPr>
          <p:cNvPr id="5" name="Text 2"/>
          <p:cNvSpPr txBox="1"/>
          <p:nvPr/>
        </p:nvSpPr>
        <p:spPr>
          <a:xfrm>
            <a:off x="274320" y="4882896"/>
            <a:ext cx="7680960" cy="201168"/>
          </a:xfrm>
          <a:prstGeom prst="rect">
            <a:avLst/>
          </a:prstGeom>
          <a:noFill/>
          <a:ln/>
        </p:spPr>
        <p:txBody>
          <a:bodyPr wrap="square" lIns="0" tIns="0" rIns="0" bIns="0" rtlCol="0" anchor="ctr"/>
          <a:lstStyle/>
          <a:p>
            <a:pPr indent="0" marL="0">
              <a:buNone/>
            </a:pPr>
            <a:r>
              <a:rPr lang="en-US" sz="700" dirty="0">
                <a:solidFill>
                  <a:srgbClr val="9CA3AF"/>
                </a:solidFill>
                <a:latin typeface="Calibri" pitchFamily="34" charset="0"/>
                <a:ea typeface="Calibri" pitchFamily="34" charset="-122"/>
                <a:cs typeface="Calibri" pitchFamily="34" charset="-120"/>
              </a:rPr>
              <a:t>Sakshya · Multilingual Document Intelligence (RAG)  |  BE Project Review 2  |  MMCOE Pune</a:t>
            </a:r>
            <a:endParaRPr lang="en-US" sz="700" dirty="0"/>
          </a:p>
        </p:txBody>
      </p:sp>
      <p:sp>
        <p:nvSpPr>
          <p:cNvPr id="6" name="Text 3"/>
          <p:cNvSpPr txBox="1"/>
          <p:nvPr/>
        </p:nvSpPr>
        <p:spPr>
          <a:xfrm>
            <a:off x="8412480" y="4882896"/>
            <a:ext cx="457200" cy="201168"/>
          </a:xfrm>
          <a:prstGeom prst="rect">
            <a:avLst/>
          </a:prstGeom>
          <a:noFill/>
          <a:ln/>
        </p:spPr>
        <p:txBody>
          <a:bodyPr wrap="square" lIns="0" tIns="0" rIns="0" bIns="0" rtlCol="0" anchor="ctr"/>
          <a:lstStyle/>
          <a:p>
            <a:pPr algn="r" indent="0" marL="0">
              <a:buNone/>
            </a:pPr>
            <a:r>
              <a:rPr lang="en-US" sz="700" dirty="0">
                <a:solidFill>
                  <a:srgbClr val="9CA3AF"/>
                </a:solidFill>
                <a:latin typeface="Calibri" pitchFamily="34" charset="0"/>
                <a:ea typeface="Calibri" pitchFamily="34" charset="-122"/>
                <a:cs typeface="Calibri" pitchFamily="34" charset="-120"/>
              </a:rPr>
              <a:t>2</a:t>
            </a:r>
            <a:endParaRPr lang="en-US" sz="700" dirty="0"/>
          </a:p>
        </p:txBody>
      </p:sp>
      <p:sp>
        <p:nvSpPr>
          <p:cNvPr id="8" name="Text 4"/>
          <p:cNvSpPr txBox="1"/>
          <p:nvPr/>
        </p:nvSpPr>
        <p:spPr>
          <a:xfrm>
            <a:off x="274320" y="603504"/>
            <a:ext cx="5120640" cy="237744"/>
          </a:xfrm>
          <a:prstGeom prst="rect">
            <a:avLst/>
          </a:prstGeom>
          <a:noFill/>
          <a:ln/>
        </p:spPr>
        <p:txBody>
          <a:bodyPr wrap="square" lIns="0" tIns="0" rIns="0" bIns="0" rtlCol="0" anchor="ctr"/>
          <a:lstStyle/>
          <a:p>
            <a:pPr indent="0" marL="0">
              <a:buNone/>
            </a:pPr>
            <a:r>
              <a:rPr lang="en-US" sz="1100" b="1" dirty="0">
                <a:solidFill>
                  <a:srgbClr val="0E7490"/>
                </a:solidFill>
                <a:latin typeface="Calibri" pitchFamily="34" charset="0"/>
                <a:ea typeface="Calibri" pitchFamily="34" charset="-122"/>
                <a:cs typeface="Calibri" pitchFamily="34" charset="-120"/>
              </a:rPr>
              <a:t>Context &amp; Motivation</a:t>
            </a:r>
            <a:endParaRPr lang="en-US" sz="1100" dirty="0"/>
          </a:p>
        </p:txBody>
      </p:sp>
      <p:sp>
        <p:nvSpPr>
          <p:cNvPr id="9" name="Text 5"/>
          <p:cNvSpPr txBox="1"/>
          <p:nvPr/>
        </p:nvSpPr>
        <p:spPr>
          <a:xfrm>
            <a:off x="274320" y="932688"/>
            <a:ext cx="5120640" cy="2926080"/>
          </a:xfrm>
          <a:prstGeom prst="rect">
            <a:avLst/>
          </a:prstGeom>
          <a:noFill/>
          <a:ln/>
        </p:spPr>
        <p:txBody>
          <a:bodyPr wrap="square" lIns="0" tIns="0" rIns="0" bIns="0" rtlCol="0" anchor="t"/>
          <a:lstStyle/>
          <a:p>
            <a:pPr marL="127000" indent="-127000">
              <a:spcAft>
                <a:spcPts val="1200"/>
              </a:spcAft>
              <a:buSzPct val="100000"/>
              <a:buChar char="•"/>
            </a:pPr>
            <a:r>
              <a:rPr lang="en-US" sz="1300" dirty="0">
                <a:solidFill>
                  <a:srgbClr val="111827"/>
                </a:solidFill>
                <a:latin typeface="Calibri" pitchFamily="34" charset="0"/>
                <a:ea typeface="Calibri" pitchFamily="34" charset="-122"/>
                <a:cs typeface="Calibri" pitchFamily="34" charset="-120"/>
              </a:rPr>
              <a:t>Offices, colleges, courts, banks and health centres in Maharashtra keep records as a mix of English, Marathi and Hindi PDFs, Word files and scans.</a:t>
            </a:r>
            <a:endParaRPr lang="en-US" sz="1300" dirty="0"/>
          </a:p>
          <a:p>
            <a:pPr marL="127000" indent="-127000">
              <a:spcAft>
                <a:spcPts val="1200"/>
              </a:spcAft>
              <a:buSzPct val="100000"/>
              <a:buChar char="•"/>
            </a:pPr>
            <a:r>
              <a:rPr lang="en-US" sz="1300" dirty="0">
                <a:solidFill>
                  <a:srgbClr val="111827"/>
                </a:solidFill>
                <a:latin typeface="Calibri" pitchFamily="34" charset="0"/>
                <a:ea typeface="Calibri" pitchFamily="34" charset="-122"/>
                <a:cs typeface="Calibri" pitchFamily="34" charset="-120"/>
              </a:rPr>
              <a:t>Keyword search misses paraphrase and cross-language matches: a Marathi question can miss the English circular that answers it.</a:t>
            </a:r>
            <a:endParaRPr lang="en-US" sz="1300" dirty="0"/>
          </a:p>
          <a:p>
            <a:pPr marL="127000" indent="-127000">
              <a:spcAft>
                <a:spcPts val="1200"/>
              </a:spcAft>
              <a:buSzPct val="100000"/>
              <a:buChar char="•"/>
            </a:pPr>
            <a:r>
              <a:rPr lang="en-US" sz="1300" dirty="0">
                <a:solidFill>
                  <a:srgbClr val="111827"/>
                </a:solidFill>
                <a:latin typeface="Calibri" pitchFamily="34" charset="0"/>
                <a:ea typeface="Calibri" pitchFamily="34" charset="-122"/>
                <a:cs typeface="Calibri" pitchFamily="34" charset="-120"/>
              </a:rPr>
              <a:t>General-purpose LLMs answer fluently with no page to check, which is not acceptable for legal, medical, academic or compliance questions.</a:t>
            </a:r>
            <a:endParaRPr lang="en-US" sz="1300" dirty="0"/>
          </a:p>
          <a:p>
            <a:pPr marL="127000" indent="-127000">
              <a:spcAft>
                <a:spcPts val="1200"/>
              </a:spcAft>
              <a:buSzPct val="100000"/>
              <a:buChar char="•"/>
            </a:pPr>
            <a:r>
              <a:rPr lang="en-US" sz="1300" dirty="0">
                <a:solidFill>
                  <a:srgbClr val="111827"/>
                </a:solidFill>
                <a:latin typeface="Calibri" pitchFamily="34" charset="0"/>
                <a:ea typeface="Calibri" pitchFamily="34" charset="-122"/>
                <a:cs typeface="Calibri" pitchFamily="34" charset="-120"/>
              </a:rPr>
              <a:t>Real queries and scans are messy: romanized input, OCR errors and Devanagari digits. The best retrieval strategy changes from question to question.</a:t>
            </a:r>
            <a:endParaRPr lang="en-US" sz="1300" dirty="0"/>
          </a:p>
        </p:txBody>
      </p:sp>
      <p:sp>
        <p:nvSpPr>
          <p:cNvPr id="10" name="Shape 6"/>
          <p:cNvSpPr/>
          <p:nvPr/>
        </p:nvSpPr>
        <p:spPr>
          <a:xfrm>
            <a:off x="274320" y="3977640"/>
            <a:ext cx="5120640" cy="713232"/>
          </a:xfrm>
          <a:prstGeom prst="roundRect">
            <a:avLst>
              <a:gd name="adj" fmla="val 7692"/>
            </a:avLst>
          </a:prstGeom>
          <a:solidFill>
            <a:srgbClr val="F3F4F6"/>
          </a:solidFill>
          <a:ln w="9525">
            <a:solidFill>
              <a:srgbClr val="D1D5DB"/>
            </a:solidFill>
            <a:prstDash val="solid"/>
          </a:ln>
        </p:spPr>
      </p:sp>
      <p:sp>
        <p:nvSpPr>
          <p:cNvPr id="11" name="Text 7"/>
          <p:cNvSpPr txBox="1"/>
          <p:nvPr/>
        </p:nvSpPr>
        <p:spPr>
          <a:xfrm>
            <a:off x="411480" y="4023360"/>
            <a:ext cx="4846320" cy="621792"/>
          </a:xfrm>
          <a:prstGeom prst="rect">
            <a:avLst/>
          </a:prstGeom>
          <a:noFill/>
          <a:ln/>
        </p:spPr>
        <p:txBody>
          <a:bodyPr wrap="square" lIns="0" tIns="0" rIns="0" bIns="0" rtlCol="0" anchor="ctr"/>
          <a:lstStyle/>
          <a:p>
            <a:pPr indent="0" marL="0">
              <a:buNone/>
            </a:pPr>
            <a:r>
              <a:rPr lang="en-US" sz="1050" b="1" dirty="0">
                <a:solidFill>
                  <a:srgbClr val="0D2349"/>
                </a:solidFill>
                <a:latin typeface="Calibri" pitchFamily="34" charset="0"/>
                <a:ea typeface="Calibri" pitchFamily="34" charset="-122"/>
                <a:cs typeface="Calibri" pitchFamily="34" charset="-120"/>
              </a:rPr>
              <a:t>Scope: </a:t>
            </a:r>
            <a:pPr indent="0" marL="0">
              <a:buNone/>
            </a:pPr>
            <a:r>
              <a:rPr lang="en-US" sz="1050" dirty="0">
                <a:solidFill>
                  <a:srgbClr val="111827"/>
                </a:solidFill>
                <a:latin typeface="Calibri" pitchFamily="34" charset="0"/>
                <a:ea typeface="Calibri" pitchFamily="34" charset="-122"/>
                <a:cs typeface="Calibri" pitchFamily="34" charset="-120"/>
              </a:rPr>
              <a:t>English, Hindi and Marathi (Devanagari and Roman script) across native PDFs, DOCX and scans, on a Colab T4 and a 16 GB CPU laptop.</a:t>
            </a:r>
            <a:endParaRPr lang="en-US" sz="1050" dirty="0"/>
          </a:p>
        </p:txBody>
      </p:sp>
      <p:sp>
        <p:nvSpPr>
          <p:cNvPr id="12" name="Shape 8"/>
          <p:cNvSpPr/>
          <p:nvPr/>
        </p:nvSpPr>
        <p:spPr>
          <a:xfrm>
            <a:off x="5650992" y="621792"/>
            <a:ext cx="3218688" cy="1243584"/>
          </a:xfrm>
          <a:prstGeom prst="roundRect">
            <a:avLst>
              <a:gd name="adj" fmla="val 4412"/>
            </a:avLst>
          </a:prstGeom>
          <a:solidFill>
            <a:srgbClr val="DBEAFE"/>
          </a:solidFill>
          <a:ln w="12700">
            <a:solidFill>
              <a:srgbClr val="DBEAFE"/>
            </a:solidFill>
            <a:prstDash val="solid"/>
          </a:ln>
        </p:spPr>
      </p:sp>
      <p:sp>
        <p:nvSpPr>
          <p:cNvPr id="13" name="Text 9"/>
          <p:cNvSpPr txBox="1"/>
          <p:nvPr/>
        </p:nvSpPr>
        <p:spPr>
          <a:xfrm>
            <a:off x="5760720" y="731520"/>
            <a:ext cx="2999232" cy="640080"/>
          </a:xfrm>
          <a:prstGeom prst="rect">
            <a:avLst/>
          </a:prstGeom>
          <a:noFill/>
          <a:ln/>
        </p:spPr>
        <p:txBody>
          <a:bodyPr wrap="square" lIns="0" tIns="0" rIns="0" bIns="0" rtlCol="0" anchor="ctr"/>
          <a:lstStyle/>
          <a:p>
            <a:pPr algn="ctr" indent="0" marL="0">
              <a:buNone/>
            </a:pPr>
            <a:r>
              <a:rPr lang="en-US" sz="1500" b="1" dirty="0">
                <a:solidFill>
                  <a:srgbClr val="0D2349"/>
                </a:solidFill>
                <a:latin typeface="Calibri" pitchFamily="34" charset="0"/>
                <a:ea typeface="Calibri" pitchFamily="34" charset="-122"/>
                <a:cs typeface="Calibri" pitchFamily="34" charset="-120"/>
              </a:rPr>
              <a:t>"penalty"  ≠  "liquidated damages"</a:t>
            </a:r>
            <a:endParaRPr lang="en-US" sz="1500" dirty="0"/>
          </a:p>
        </p:txBody>
      </p:sp>
      <p:sp>
        <p:nvSpPr>
          <p:cNvPr id="14" name="Text 10"/>
          <p:cNvSpPr txBox="1"/>
          <p:nvPr/>
        </p:nvSpPr>
        <p:spPr>
          <a:xfrm>
            <a:off x="5760720" y="1408176"/>
            <a:ext cx="2999232" cy="384048"/>
          </a:xfrm>
          <a:prstGeom prst="rect">
            <a:avLst/>
          </a:prstGeom>
          <a:noFill/>
          <a:ln/>
        </p:spPr>
        <p:txBody>
          <a:bodyPr wrap="square" lIns="0" tIns="0" rIns="0" bIns="0" rtlCol="0" anchor="ctr"/>
          <a:lstStyle/>
          <a:p>
            <a:pPr algn="ctr" indent="0" marL="0">
              <a:buNone/>
            </a:pPr>
            <a:r>
              <a:rPr lang="en-US" sz="1000" dirty="0">
                <a:solidFill>
                  <a:srgbClr val="111827"/>
                </a:solidFill>
                <a:latin typeface="Calibri" pitchFamily="34" charset="0"/>
                <a:ea typeface="Calibri" pitchFamily="34" charset="-122"/>
                <a:cs typeface="Calibri" pitchFamily="34" charset="-120"/>
              </a:rPr>
              <a:t>Keyword search misses paraphrase and cross-language matches</a:t>
            </a:r>
            <a:endParaRPr lang="en-US" sz="1000" dirty="0"/>
          </a:p>
        </p:txBody>
      </p:sp>
      <p:sp>
        <p:nvSpPr>
          <p:cNvPr id="15" name="Shape 11"/>
          <p:cNvSpPr/>
          <p:nvPr/>
        </p:nvSpPr>
        <p:spPr>
          <a:xfrm>
            <a:off x="5650992" y="1993392"/>
            <a:ext cx="3218688" cy="1243584"/>
          </a:xfrm>
          <a:prstGeom prst="roundRect">
            <a:avLst>
              <a:gd name="adj" fmla="val 4412"/>
            </a:avLst>
          </a:prstGeom>
          <a:solidFill>
            <a:srgbClr val="DCFCE7"/>
          </a:solidFill>
          <a:ln w="12700">
            <a:solidFill>
              <a:srgbClr val="DCFCE7"/>
            </a:solidFill>
            <a:prstDash val="solid"/>
          </a:ln>
        </p:spPr>
      </p:sp>
      <p:sp>
        <p:nvSpPr>
          <p:cNvPr id="16" name="Text 12"/>
          <p:cNvSpPr txBox="1"/>
          <p:nvPr/>
        </p:nvSpPr>
        <p:spPr>
          <a:xfrm>
            <a:off x="5760720" y="2103120"/>
            <a:ext cx="2999232" cy="640080"/>
          </a:xfrm>
          <a:prstGeom prst="rect">
            <a:avLst/>
          </a:prstGeom>
          <a:noFill/>
          <a:ln/>
        </p:spPr>
        <p:txBody>
          <a:bodyPr wrap="square" lIns="0" tIns="0" rIns="0" bIns="0" rtlCol="0" anchor="ctr"/>
          <a:lstStyle/>
          <a:p>
            <a:pPr algn="ctr" indent="0" marL="0">
              <a:buNone/>
            </a:pPr>
            <a:r>
              <a:rPr lang="en-US" sz="1500" b="1" dirty="0">
                <a:solidFill>
                  <a:srgbClr val="0D2349"/>
                </a:solidFill>
                <a:latin typeface="Nirmala UI" pitchFamily="34" charset="0"/>
                <a:ea typeface="Nirmala UI" pitchFamily="34" charset="-122"/>
                <a:cs typeface="Nirmala UI" pitchFamily="34" charset="-120"/>
              </a:rPr>
              <a:t>१४२</a:t>
            </a:r>
            <a:pPr algn="ctr" indent="0" marL="0">
              <a:buNone/>
            </a:pPr>
            <a:r>
              <a:rPr lang="en-US" sz="1500" b="1" dirty="0">
                <a:solidFill>
                  <a:srgbClr val="0D2349"/>
                </a:solidFill>
                <a:latin typeface="Calibri" pitchFamily="34" charset="0"/>
                <a:ea typeface="Calibri" pitchFamily="34" charset="-122"/>
                <a:cs typeface="Calibri" pitchFamily="34" charset="-120"/>
              </a:rPr>
              <a:t>  ≠  142</a:t>
            </a:r>
            <a:endParaRPr lang="en-US" sz="1500" dirty="0"/>
          </a:p>
        </p:txBody>
      </p:sp>
      <p:sp>
        <p:nvSpPr>
          <p:cNvPr id="17" name="Text 13"/>
          <p:cNvSpPr txBox="1"/>
          <p:nvPr/>
        </p:nvSpPr>
        <p:spPr>
          <a:xfrm>
            <a:off x="5760720" y="2779776"/>
            <a:ext cx="2999232" cy="384048"/>
          </a:xfrm>
          <a:prstGeom prst="rect">
            <a:avLst/>
          </a:prstGeom>
          <a:noFill/>
          <a:ln/>
        </p:spPr>
        <p:txBody>
          <a:bodyPr wrap="square" lIns="0" tIns="0" rIns="0" bIns="0" rtlCol="0" anchor="ctr"/>
          <a:lstStyle/>
          <a:p>
            <a:pPr algn="ctr" indent="0" marL="0">
              <a:buNone/>
            </a:pPr>
            <a:r>
              <a:rPr lang="en-US" sz="1000" dirty="0">
                <a:solidFill>
                  <a:srgbClr val="111827"/>
                </a:solidFill>
                <a:latin typeface="Calibri" pitchFamily="34" charset="0"/>
                <a:ea typeface="Calibri" pitchFamily="34" charset="-122"/>
                <a:cs typeface="Calibri" pitchFamily="34" charset="-120"/>
              </a:rPr>
              <a:t>Scans use Devanagari digits; plain matching never links them</a:t>
            </a:r>
            <a:endParaRPr lang="en-US" sz="1000" dirty="0"/>
          </a:p>
        </p:txBody>
      </p:sp>
      <p:sp>
        <p:nvSpPr>
          <p:cNvPr id="18" name="Shape 14"/>
          <p:cNvSpPr/>
          <p:nvPr/>
        </p:nvSpPr>
        <p:spPr>
          <a:xfrm>
            <a:off x="5650992" y="3364992"/>
            <a:ext cx="3218688" cy="1243584"/>
          </a:xfrm>
          <a:prstGeom prst="roundRect">
            <a:avLst>
              <a:gd name="adj" fmla="val 4412"/>
            </a:avLst>
          </a:prstGeom>
          <a:solidFill>
            <a:srgbClr val="FEF3C7"/>
          </a:solidFill>
          <a:ln w="12700">
            <a:solidFill>
              <a:srgbClr val="FEF3C7"/>
            </a:solidFill>
            <a:prstDash val="solid"/>
          </a:ln>
        </p:spPr>
      </p:sp>
      <p:sp>
        <p:nvSpPr>
          <p:cNvPr id="19" name="Text 15"/>
          <p:cNvSpPr txBox="1"/>
          <p:nvPr/>
        </p:nvSpPr>
        <p:spPr>
          <a:xfrm>
            <a:off x="5760720" y="3474720"/>
            <a:ext cx="2999232" cy="640080"/>
          </a:xfrm>
          <a:prstGeom prst="rect">
            <a:avLst/>
          </a:prstGeom>
          <a:noFill/>
          <a:ln/>
        </p:spPr>
        <p:txBody>
          <a:bodyPr wrap="square" lIns="0" tIns="0" rIns="0" bIns="0" rtlCol="0" anchor="ctr"/>
          <a:lstStyle/>
          <a:p>
            <a:pPr algn="ctr" indent="0" marL="0">
              <a:buNone/>
            </a:pPr>
            <a:r>
              <a:rPr lang="en-US" sz="1500" b="1" dirty="0">
                <a:solidFill>
                  <a:srgbClr val="0D2349"/>
                </a:solidFill>
                <a:latin typeface="Calibri" pitchFamily="34" charset="0"/>
                <a:ea typeface="Calibri" pitchFamily="34" charset="-122"/>
                <a:cs typeface="Calibri" pitchFamily="34" charset="-120"/>
              </a:rPr>
              <a:t>"ATKT ke liye kitne subject allowed hai?"</a:t>
            </a:r>
            <a:endParaRPr lang="en-US" sz="1500" dirty="0"/>
          </a:p>
        </p:txBody>
      </p:sp>
      <p:sp>
        <p:nvSpPr>
          <p:cNvPr id="20" name="Text 16"/>
          <p:cNvSpPr txBox="1"/>
          <p:nvPr/>
        </p:nvSpPr>
        <p:spPr>
          <a:xfrm>
            <a:off x="5760720" y="4151376"/>
            <a:ext cx="2999232" cy="384048"/>
          </a:xfrm>
          <a:prstGeom prst="rect">
            <a:avLst/>
          </a:prstGeom>
          <a:noFill/>
          <a:ln/>
        </p:spPr>
        <p:txBody>
          <a:bodyPr wrap="square" lIns="0" tIns="0" rIns="0" bIns="0" rtlCol="0" anchor="ctr"/>
          <a:lstStyle/>
          <a:p>
            <a:pPr algn="ctr" indent="0" marL="0">
              <a:buNone/>
            </a:pPr>
            <a:r>
              <a:rPr lang="en-US" sz="1000" dirty="0">
                <a:solidFill>
                  <a:srgbClr val="111827"/>
                </a:solidFill>
                <a:latin typeface="Calibri" pitchFamily="34" charset="0"/>
                <a:ea typeface="Calibri" pitchFamily="34" charset="-122"/>
                <a:cs typeface="Calibri" pitchFamily="34" charset="-120"/>
              </a:rPr>
              <a:t>People type Hinglish and romanized Marathi</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D2349"/>
          </a:solidFill>
          <a:ln w="12700">
            <a:solidFill>
              <a:srgbClr val="0D2349"/>
            </a:solidFill>
            <a:prstDash val="solid"/>
          </a:ln>
        </p:spPr>
      </p:sp>
      <p:sp>
        <p:nvSpPr>
          <p:cNvPr id="3" name="Text 1"/>
          <p:cNvSpPr txBox="1"/>
          <p:nvPr/>
        </p:nvSpPr>
        <p:spPr>
          <a:xfrm>
            <a:off x="274320" y="0"/>
            <a:ext cx="7863840"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Literature Survey</a:t>
            </a:r>
            <a:endParaRPr lang="en-US" sz="1900" dirty="0"/>
          </a:p>
        </p:txBody>
      </p:sp>
      <p:pic>
        <p:nvPicPr>
          <p:cNvPr id="4" name="Image 0" descr="MMCOE logo">    </p:cNvPr>
          <p:cNvPicPr>
            <a:picLocks noChangeAspect="1"/>
          </p:cNvPicPr>
          <p:nvPr/>
        </p:nvPicPr>
        <p:blipFill>
          <a:blip r:embed="rId1"/>
          <a:stretch>
            <a:fillRect/>
          </a:stretch>
        </p:blipFill>
        <p:spPr>
          <a:xfrm>
            <a:off x="8531352" y="36576"/>
            <a:ext cx="320040" cy="384048"/>
          </a:xfrm>
          <a:prstGeom prst="rect">
            <a:avLst/>
          </a:prstGeom>
        </p:spPr>
      </p:pic>
      <p:sp>
        <p:nvSpPr>
          <p:cNvPr id="5" name="Text 2"/>
          <p:cNvSpPr txBox="1"/>
          <p:nvPr/>
        </p:nvSpPr>
        <p:spPr>
          <a:xfrm>
            <a:off x="274320" y="4882896"/>
            <a:ext cx="7680960" cy="201168"/>
          </a:xfrm>
          <a:prstGeom prst="rect">
            <a:avLst/>
          </a:prstGeom>
          <a:noFill/>
          <a:ln/>
        </p:spPr>
        <p:txBody>
          <a:bodyPr wrap="square" lIns="0" tIns="0" rIns="0" bIns="0" rtlCol="0" anchor="ctr"/>
          <a:lstStyle/>
          <a:p>
            <a:pPr indent="0" marL="0">
              <a:buNone/>
            </a:pPr>
            <a:r>
              <a:rPr lang="en-US" sz="700" dirty="0">
                <a:solidFill>
                  <a:srgbClr val="9CA3AF"/>
                </a:solidFill>
                <a:latin typeface="Calibri" pitchFamily="34" charset="0"/>
                <a:ea typeface="Calibri" pitchFamily="34" charset="-122"/>
                <a:cs typeface="Calibri" pitchFamily="34" charset="-120"/>
              </a:rPr>
              <a:t>Sakshya · Multilingual Document Intelligence (RAG)  |  BE Project Review 2  |  MMCOE Pune</a:t>
            </a:r>
            <a:endParaRPr lang="en-US" sz="700" dirty="0"/>
          </a:p>
        </p:txBody>
      </p:sp>
      <p:sp>
        <p:nvSpPr>
          <p:cNvPr id="6" name="Text 3"/>
          <p:cNvSpPr txBox="1"/>
          <p:nvPr/>
        </p:nvSpPr>
        <p:spPr>
          <a:xfrm>
            <a:off x="8412480" y="4882896"/>
            <a:ext cx="457200" cy="201168"/>
          </a:xfrm>
          <a:prstGeom prst="rect">
            <a:avLst/>
          </a:prstGeom>
          <a:noFill/>
          <a:ln/>
        </p:spPr>
        <p:txBody>
          <a:bodyPr wrap="square" lIns="0" tIns="0" rIns="0" bIns="0" rtlCol="0" anchor="ctr"/>
          <a:lstStyle/>
          <a:p>
            <a:pPr algn="r" indent="0" marL="0">
              <a:buNone/>
            </a:pPr>
            <a:r>
              <a:rPr lang="en-US" sz="700" dirty="0">
                <a:solidFill>
                  <a:srgbClr val="9CA3AF"/>
                </a:solidFill>
                <a:latin typeface="Calibri" pitchFamily="34" charset="0"/>
                <a:ea typeface="Calibri" pitchFamily="34" charset="-122"/>
                <a:cs typeface="Calibri" pitchFamily="34" charset="-120"/>
              </a:rPr>
              <a:t>3</a:t>
            </a:r>
            <a:endParaRPr lang="en-US" sz="7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74320" y="566928"/>
          <a:ext cx="8595360" cy="914400"/>
        </p:xfrm>
        <a:graphic>
          <a:graphicData uri="http://schemas.openxmlformats.org/drawingml/2006/table">
            <a:tbl>
              <a:tblPr/>
              <a:tblGrid>
                <a:gridCol w="274320"/>
                <a:gridCol w="2240280"/>
                <a:gridCol w="2148840"/>
                <a:gridCol w="2103120"/>
                <a:gridCol w="1828800"/>
              </a:tblGrid>
              <a:tr h="393192">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2349"/>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Paper</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2349"/>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Contribution</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2349"/>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Gap identified</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2349"/>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Our response</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2349"/>
                    </a:solidFill>
                  </a:tcPr>
                </a:tc>
              </a:tr>
              <a:tr h="393192">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Park &amp; Lee, 2025 (Findings of ACL): Language Preference of Multilingual RAG</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Retrievers and generators prefer high-resource / query language and Latin script; DKM-RAG</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No private OCR documents, page provenance or Indian deployment</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750" dirty="0">
                          <a:solidFill>
                            <a:srgbClr val="0E7490"/>
                          </a:solidFill>
                          <a:latin typeface="Calibri" pitchFamily="34" charset="0"/>
                          <a:ea typeface="Calibri" pitchFamily="34" charset="-122"/>
                          <a:cs typeface="Calibri" pitchFamily="34" charset="-120"/>
                        </a:rPr>
                        <a:t>Script-faithful answering (N5), H6</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393192">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Resource-Efficient Multilingual RAG for Indian Languages, 2026</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English embeddings, translate only the output; 22 Indian languages</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Does not test when direct vs translate vs hybrid is best</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50" dirty="0">
                          <a:solidFill>
                            <a:srgbClr val="0E7490"/>
                          </a:solidFill>
                          <a:latin typeface="Calibri" pitchFamily="34" charset="0"/>
                          <a:ea typeface="Calibri" pitchFamily="34" charset="-122"/>
                          <a:cs typeface="Calibri" pitchFamily="34" charset="-120"/>
                        </a:rPr>
                        <a:t>RQ1 comparison + learned router (N1)</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93192">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Xu, Zhu &amp; Ba, 2025: M3-RAG</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Multimodal + multilingual RAG with modality routing</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No page-cited QA over private PDF/DOCX/scans on limited hardware</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750" dirty="0">
                          <a:solidFill>
                            <a:srgbClr val="0E7490"/>
                          </a:solidFill>
                          <a:latin typeface="Calibri" pitchFamily="34" charset="0"/>
                          <a:ea typeface="Calibri" pitchFamily="34" charset="-122"/>
                          <a:cs typeface="Calibri" pitchFamily="34" charset="-120"/>
                        </a:rPr>
                        <a:t>OCR-aware retrieval, page citations (N3)</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393192">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Iscan, Ozara &amp; Akbulut, 2024: Translation-based embedding strategies</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Translate non-English text to English before embedding</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No policy for which queries benefit from translation</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50" dirty="0">
                          <a:solidFill>
                            <a:srgbClr val="0E7490"/>
                          </a:solidFill>
                          <a:latin typeface="Calibri" pitchFamily="34" charset="0"/>
                          <a:ea typeface="Calibri" pitchFamily="34" charset="-122"/>
                          <a:cs typeface="Calibri" pitchFamily="34" charset="-120"/>
                        </a:rPr>
                        <a:t>Learned router (N1), H2</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93192">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A Multilingual Intelligent Document Processing System, 2025</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Multilingual upload and question answering</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No retrieval comparison, faithfulness or out-of-scope handling</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750" dirty="0">
                          <a:solidFill>
                            <a:srgbClr val="0E7490"/>
                          </a:solidFill>
                          <a:latin typeface="Calibri" pitchFamily="34" charset="0"/>
                          <a:ea typeface="Calibri" pitchFamily="34" charset="-122"/>
                          <a:cs typeface="Calibri" pitchFamily="34" charset="-120"/>
                        </a:rPr>
                        <a:t>Full evaluation + Sakshya-Bench</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393192">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Kabir et al., 2025: LegalRAG (arXiv 2504.16121)</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Bangla-English legal QA; relevance check + query refinement</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Domain-specific; weak on out-of-context questions</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50" dirty="0">
                          <a:solidFill>
                            <a:srgbClr val="0E7490"/>
                          </a:solidFill>
                          <a:latin typeface="Calibri" pitchFamily="34" charset="0"/>
                          <a:ea typeface="Calibri" pitchFamily="34" charset="-122"/>
                          <a:cs typeface="Calibri" pitchFamily="34" charset="-120"/>
                        </a:rPr>
                        <a:t>Evidence gate + abstention (N4), H5</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93192">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Zoughi et al., 2026: Hybrid layered Persian RAG</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FAQ + dense + BM25 + LLM fallback</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750" dirty="0">
                          <a:solidFill>
                            <a:srgbClr val="111827"/>
                          </a:solidFill>
                          <a:latin typeface="Calibri" pitchFamily="34" charset="0"/>
                          <a:ea typeface="Calibri" pitchFamily="34" charset="-122"/>
                          <a:cs typeface="Calibri" pitchFamily="34" charset="-120"/>
                        </a:rPr>
                        <a:t>Persian/FAQ-specific; latency rises on limited GPUs</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750" dirty="0">
                          <a:solidFill>
                            <a:srgbClr val="0E7490"/>
                          </a:solidFill>
                          <a:latin typeface="Calibri" pitchFamily="34" charset="0"/>
                          <a:ea typeface="Calibri" pitchFamily="34" charset="-122"/>
                          <a:cs typeface="Calibri" pitchFamily="34" charset="-120"/>
                        </a:rPr>
                        <a:t>Hybrid route for Indian languages on T4/CPU</a:t>
                      </a:r>
                      <a:endParaRPr lang="en-US" sz="7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bl>
          </a:graphicData>
        </a:graphic>
      </p:graphicFrame>
      <p:sp>
        <p:nvSpPr>
          <p:cNvPr id="9" name="Shape 4"/>
          <p:cNvSpPr/>
          <p:nvPr/>
        </p:nvSpPr>
        <p:spPr>
          <a:xfrm>
            <a:off x="274320" y="3877056"/>
            <a:ext cx="8595360" cy="566928"/>
          </a:xfrm>
          <a:prstGeom prst="roundRect">
            <a:avLst>
              <a:gd name="adj" fmla="val 9677"/>
            </a:avLst>
          </a:prstGeom>
          <a:solidFill>
            <a:srgbClr val="DBEAFE"/>
          </a:solidFill>
          <a:ln w="12700">
            <a:solidFill>
              <a:srgbClr val="DBEAFE"/>
            </a:solidFill>
            <a:prstDash val="solid"/>
          </a:ln>
        </p:spPr>
      </p:sp>
      <p:sp>
        <p:nvSpPr>
          <p:cNvPr id="10" name="Text 5"/>
          <p:cNvSpPr txBox="1"/>
          <p:nvPr/>
        </p:nvSpPr>
        <p:spPr>
          <a:xfrm>
            <a:off x="384048" y="3895344"/>
            <a:ext cx="8375904" cy="530352"/>
          </a:xfrm>
          <a:prstGeom prst="rect">
            <a:avLst/>
          </a:prstGeom>
          <a:noFill/>
          <a:ln/>
        </p:spPr>
        <p:txBody>
          <a:bodyPr wrap="square" lIns="0" tIns="0" rIns="0" bIns="0" rtlCol="0" anchor="ctr"/>
          <a:lstStyle/>
          <a:p>
            <a:pPr indent="0" marL="0">
              <a:buNone/>
            </a:pPr>
            <a:r>
              <a:rPr lang="en-US" sz="950" b="1" dirty="0">
                <a:solidFill>
                  <a:srgbClr val="0D2349"/>
                </a:solidFill>
                <a:latin typeface="Calibri" pitchFamily="34" charset="0"/>
                <a:ea typeface="Calibri" pitchFamily="34" charset="-122"/>
                <a:cs typeface="Calibri" pitchFamily="34" charset="-120"/>
              </a:rPr>
              <a:t>Consolidated gap: </a:t>
            </a:r>
            <a:pPr indent="0" marL="0">
              <a:buNone/>
            </a:pPr>
            <a:r>
              <a:rPr lang="en-US" sz="950" dirty="0">
                <a:solidFill>
                  <a:srgbClr val="111827"/>
                </a:solidFill>
                <a:latin typeface="Calibri" pitchFamily="34" charset="0"/>
                <a:ea typeface="Calibri" pitchFamily="34" charset="-122"/>
                <a:cs typeface="Calibri" pitchFamily="34" charset="-120"/>
              </a:rPr>
              <a:t>no study jointly compares direct, translation-based and hybrid retrieval over private English and Indian-language documents while measuring citation correctness, answer-language fidelity, OCR robustness, abstention, latency and cost.</a:t>
            </a:r>
            <a:endParaRPr lang="en-US" sz="950" dirty="0"/>
          </a:p>
        </p:txBody>
      </p:sp>
      <p:sp>
        <p:nvSpPr>
          <p:cNvPr id="11" name="Text 6"/>
          <p:cNvSpPr txBox="1"/>
          <p:nvPr/>
        </p:nvSpPr>
        <p:spPr>
          <a:xfrm>
            <a:off x="274320" y="4517136"/>
            <a:ext cx="8595360" cy="329184"/>
          </a:xfrm>
          <a:prstGeom prst="rect">
            <a:avLst/>
          </a:prstGeom>
          <a:noFill/>
          <a:ln/>
        </p:spPr>
        <p:txBody>
          <a:bodyPr wrap="square" lIns="0" tIns="0" rIns="0" bIns="0" rtlCol="0" anchor="ctr"/>
          <a:lstStyle/>
          <a:p>
            <a:pPr indent="0" marL="0">
              <a:buNone/>
            </a:pPr>
            <a:r>
              <a:rPr lang="en-US" sz="750" dirty="0">
                <a:solidFill>
                  <a:srgbClr val="4B5563"/>
                </a:solidFill>
                <a:latin typeface="Calibri" pitchFamily="34" charset="0"/>
                <a:ea typeface="Calibri" pitchFamily="34" charset="-122"/>
                <a:cs typeface="Calibri" pitchFamily="34" charset="-120"/>
              </a:rPr>
              <a:t>Foundations: RAG (Lewis 2020) · DPR (Karpukhin 2020) · E5 / multilingual-E5 (Wang 2022, 2024) · multilingual SBERT (Reimers &amp; Gurevych 2020) · BERT reranking (Nogueira &amp; Cho 2019) · IndicTrans2 (Gala 2023) · IndicLID, IndicXlit (Madhani 2023)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D2349"/>
          </a:solidFill>
          <a:ln w="12700">
            <a:solidFill>
              <a:srgbClr val="0D2349"/>
            </a:solidFill>
            <a:prstDash val="solid"/>
          </a:ln>
        </p:spPr>
      </p:sp>
      <p:sp>
        <p:nvSpPr>
          <p:cNvPr id="3" name="Text 1"/>
          <p:cNvSpPr txBox="1"/>
          <p:nvPr/>
        </p:nvSpPr>
        <p:spPr>
          <a:xfrm>
            <a:off x="274320" y="0"/>
            <a:ext cx="7863840"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Problem Statement</a:t>
            </a:r>
            <a:endParaRPr lang="en-US" sz="1900" dirty="0"/>
          </a:p>
        </p:txBody>
      </p:sp>
      <p:pic>
        <p:nvPicPr>
          <p:cNvPr id="4" name="Image 0" descr="MMCOE logo">    </p:cNvPr>
          <p:cNvPicPr>
            <a:picLocks noChangeAspect="1"/>
          </p:cNvPicPr>
          <p:nvPr/>
        </p:nvPicPr>
        <p:blipFill>
          <a:blip r:embed="rId1"/>
          <a:stretch>
            <a:fillRect/>
          </a:stretch>
        </p:blipFill>
        <p:spPr>
          <a:xfrm>
            <a:off x="8531352" y="36576"/>
            <a:ext cx="320040" cy="384048"/>
          </a:xfrm>
          <a:prstGeom prst="rect">
            <a:avLst/>
          </a:prstGeom>
        </p:spPr>
      </p:pic>
      <p:sp>
        <p:nvSpPr>
          <p:cNvPr id="5" name="Text 2"/>
          <p:cNvSpPr txBox="1"/>
          <p:nvPr/>
        </p:nvSpPr>
        <p:spPr>
          <a:xfrm>
            <a:off x="274320" y="4882896"/>
            <a:ext cx="7680960" cy="201168"/>
          </a:xfrm>
          <a:prstGeom prst="rect">
            <a:avLst/>
          </a:prstGeom>
          <a:noFill/>
          <a:ln/>
        </p:spPr>
        <p:txBody>
          <a:bodyPr wrap="square" lIns="0" tIns="0" rIns="0" bIns="0" rtlCol="0" anchor="ctr"/>
          <a:lstStyle/>
          <a:p>
            <a:pPr indent="0" marL="0">
              <a:buNone/>
            </a:pPr>
            <a:r>
              <a:rPr lang="en-US" sz="700" dirty="0">
                <a:solidFill>
                  <a:srgbClr val="9CA3AF"/>
                </a:solidFill>
                <a:latin typeface="Calibri" pitchFamily="34" charset="0"/>
                <a:ea typeface="Calibri" pitchFamily="34" charset="-122"/>
                <a:cs typeface="Calibri" pitchFamily="34" charset="-120"/>
              </a:rPr>
              <a:t>Sakshya · Multilingual Document Intelligence (RAG)  |  BE Project Review 2  |  MMCOE Pune</a:t>
            </a:r>
            <a:endParaRPr lang="en-US" sz="700" dirty="0"/>
          </a:p>
        </p:txBody>
      </p:sp>
      <p:sp>
        <p:nvSpPr>
          <p:cNvPr id="6" name="Text 3"/>
          <p:cNvSpPr txBox="1"/>
          <p:nvPr/>
        </p:nvSpPr>
        <p:spPr>
          <a:xfrm>
            <a:off x="8412480" y="4882896"/>
            <a:ext cx="457200" cy="201168"/>
          </a:xfrm>
          <a:prstGeom prst="rect">
            <a:avLst/>
          </a:prstGeom>
          <a:noFill/>
          <a:ln/>
        </p:spPr>
        <p:txBody>
          <a:bodyPr wrap="square" lIns="0" tIns="0" rIns="0" bIns="0" rtlCol="0" anchor="ctr"/>
          <a:lstStyle/>
          <a:p>
            <a:pPr algn="r" indent="0" marL="0">
              <a:buNone/>
            </a:pPr>
            <a:r>
              <a:rPr lang="en-US" sz="700" dirty="0">
                <a:solidFill>
                  <a:srgbClr val="9CA3AF"/>
                </a:solidFill>
                <a:latin typeface="Calibri" pitchFamily="34" charset="0"/>
                <a:ea typeface="Calibri" pitchFamily="34" charset="-122"/>
                <a:cs typeface="Calibri" pitchFamily="34" charset="-120"/>
              </a:rPr>
              <a:t>4</a:t>
            </a:r>
            <a:endParaRPr lang="en-US" sz="700" dirty="0"/>
          </a:p>
        </p:txBody>
      </p:sp>
      <p:sp>
        <p:nvSpPr>
          <p:cNvPr id="8" name="Shape 4"/>
          <p:cNvSpPr/>
          <p:nvPr/>
        </p:nvSpPr>
        <p:spPr>
          <a:xfrm>
            <a:off x="274320" y="603504"/>
            <a:ext cx="8595360" cy="822960"/>
          </a:xfrm>
          <a:prstGeom prst="roundRect">
            <a:avLst>
              <a:gd name="adj" fmla="val 6667"/>
            </a:avLst>
          </a:prstGeom>
          <a:solidFill>
            <a:srgbClr val="DBEAFE"/>
          </a:solidFill>
          <a:ln w="12700">
            <a:solidFill>
              <a:srgbClr val="DBEAFE"/>
            </a:solidFill>
            <a:prstDash val="solid"/>
          </a:ln>
        </p:spPr>
      </p:sp>
      <p:sp>
        <p:nvSpPr>
          <p:cNvPr id="9" name="Text 5"/>
          <p:cNvSpPr txBox="1"/>
          <p:nvPr/>
        </p:nvSpPr>
        <p:spPr>
          <a:xfrm>
            <a:off x="411480" y="640080"/>
            <a:ext cx="8321040" cy="749808"/>
          </a:xfrm>
          <a:prstGeom prst="rect">
            <a:avLst/>
          </a:prstGeom>
          <a:noFill/>
          <a:ln/>
        </p:spPr>
        <p:txBody>
          <a:bodyPr wrap="square" lIns="0" tIns="0" rIns="0" bIns="0" rtlCol="0" anchor="ctr"/>
          <a:lstStyle/>
          <a:p>
            <a:pPr indent="0" marL="0">
              <a:buNone/>
            </a:pPr>
            <a:r>
              <a:rPr lang="en-US" sz="1150" i="1" dirty="0">
                <a:solidFill>
                  <a:srgbClr val="0D2349"/>
                </a:solidFill>
                <a:latin typeface="Calibri" pitchFamily="34" charset="0"/>
                <a:ea typeface="Calibri" pitchFamily="34" charset="-122"/>
                <a:cs typeface="Calibri" pitchFamily="34" charset="-120"/>
              </a:rPr>
              <a:t>"Offices cannot reliably query their own English, Hindi and Marathi files, including old scans, and get answers they can verify page by page. Keyword search misses meaning, LLMs answer without evidence, and romanized queries, OCR noise and Devanagari digits break both."</a:t>
            </a:r>
            <a:endParaRPr lang="en-US" sz="1150" dirty="0"/>
          </a:p>
        </p:txBody>
      </p:sp>
      <p:sp>
        <p:nvSpPr>
          <p:cNvPr id="10" name="Text 6"/>
          <p:cNvSpPr txBox="1"/>
          <p:nvPr/>
        </p:nvSpPr>
        <p:spPr>
          <a:xfrm>
            <a:off x="274320" y="1517904"/>
            <a:ext cx="5486400" cy="237744"/>
          </a:xfrm>
          <a:prstGeom prst="rect">
            <a:avLst/>
          </a:prstGeom>
          <a:noFill/>
          <a:ln/>
        </p:spPr>
        <p:txBody>
          <a:bodyPr wrap="square" lIns="0" tIns="0" rIns="0" bIns="0" rtlCol="0" anchor="ctr"/>
          <a:lstStyle/>
          <a:p>
            <a:pPr indent="0" marL="0">
              <a:buNone/>
            </a:pPr>
            <a:r>
              <a:rPr lang="en-US" sz="1100" b="1" dirty="0">
                <a:solidFill>
                  <a:srgbClr val="0E7490"/>
                </a:solidFill>
                <a:latin typeface="Calibri" pitchFamily="34" charset="0"/>
                <a:ea typeface="Calibri" pitchFamily="34" charset="-122"/>
                <a:cs typeface="Calibri" pitchFamily="34" charset="-120"/>
              </a:rPr>
              <a:t>Where it matters in Maharashtra</a:t>
            </a:r>
            <a:endParaRPr lang="en-US" sz="1100" dirty="0"/>
          </a:p>
        </p:txBody>
      </p:sp>
      <p:sp>
        <p:nvSpPr>
          <p:cNvPr id="11" name="Shape 7"/>
          <p:cNvSpPr/>
          <p:nvPr/>
        </p:nvSpPr>
        <p:spPr>
          <a:xfrm>
            <a:off x="274320" y="1828800"/>
            <a:ext cx="2779776" cy="1280160"/>
          </a:xfrm>
          <a:prstGeom prst="roundRect">
            <a:avLst>
              <a:gd name="adj" fmla="val 4286"/>
            </a:avLst>
          </a:prstGeom>
          <a:solidFill>
            <a:srgbClr val="F3F4F6"/>
          </a:solidFill>
          <a:ln w="9525">
            <a:solidFill>
              <a:srgbClr val="D1D5DB"/>
            </a:solidFill>
            <a:prstDash val="solid"/>
          </a:ln>
        </p:spPr>
      </p:sp>
      <p:sp>
        <p:nvSpPr>
          <p:cNvPr id="12" name="Text 8"/>
          <p:cNvSpPr txBox="1"/>
          <p:nvPr/>
        </p:nvSpPr>
        <p:spPr>
          <a:xfrm>
            <a:off x="384048" y="1920240"/>
            <a:ext cx="2560320" cy="256032"/>
          </a:xfrm>
          <a:prstGeom prst="rect">
            <a:avLst/>
          </a:prstGeom>
          <a:noFill/>
          <a:ln/>
        </p:spPr>
        <p:txBody>
          <a:bodyPr wrap="square" lIns="0" tIns="0" rIns="0" bIns="0" rtlCol="0" anchor="t"/>
          <a:lstStyle/>
          <a:p>
            <a:pPr indent="0" marL="0">
              <a:buNone/>
            </a:pPr>
            <a:r>
              <a:rPr lang="en-US" sz="1100" b="1" dirty="0">
                <a:solidFill>
                  <a:srgbClr val="0D2349"/>
                </a:solidFill>
                <a:latin typeface="Calibri" pitchFamily="34" charset="0"/>
                <a:ea typeface="Calibri" pitchFamily="34" charset="-122"/>
                <a:cs typeface="Calibri" pitchFamily="34" charset="-120"/>
              </a:rPr>
              <a:t>Gram Panchayat / Tehsil office</a:t>
            </a:r>
            <a:endParaRPr lang="en-US" sz="1100" dirty="0"/>
          </a:p>
        </p:txBody>
      </p:sp>
      <p:sp>
        <p:nvSpPr>
          <p:cNvPr id="13" name="Text 9"/>
          <p:cNvSpPr txBox="1"/>
          <p:nvPr/>
        </p:nvSpPr>
        <p:spPr>
          <a:xfrm>
            <a:off x="384048" y="2212848"/>
            <a:ext cx="2560320" cy="566928"/>
          </a:xfrm>
          <a:prstGeom prst="rect">
            <a:avLst/>
          </a:prstGeom>
          <a:noFill/>
          <a:ln/>
        </p:spPr>
        <p:txBody>
          <a:bodyPr wrap="square" lIns="0" tIns="0" rIns="0" bIns="0" rtlCol="0" anchor="t"/>
          <a:lstStyle/>
          <a:p>
            <a:pPr indent="0" marL="0">
              <a:buNone/>
            </a:pPr>
            <a:r>
              <a:rPr lang="en-US" sz="950" dirty="0">
                <a:solidFill>
                  <a:srgbClr val="111827"/>
                </a:solidFill>
                <a:latin typeface="Calibri" pitchFamily="34" charset="0"/>
                <a:ea typeface="Calibri" pitchFamily="34" charset="-122"/>
                <a:cs typeface="Calibri" pitchFamily="34" charset="-120"/>
              </a:rPr>
              <a:t>Scheme eligibility from scanned Marathi GRs, asked in romanized Marathi</a:t>
            </a:r>
            <a:endParaRPr lang="en-US" sz="950" dirty="0"/>
          </a:p>
        </p:txBody>
      </p:sp>
      <p:sp>
        <p:nvSpPr>
          <p:cNvPr id="14" name="Text 10"/>
          <p:cNvSpPr txBox="1"/>
          <p:nvPr/>
        </p:nvSpPr>
        <p:spPr>
          <a:xfrm>
            <a:off x="384048" y="2816352"/>
            <a:ext cx="2560320" cy="201168"/>
          </a:xfrm>
          <a:prstGeom prst="rect">
            <a:avLst/>
          </a:prstGeom>
          <a:noFill/>
          <a:ln/>
        </p:spPr>
        <p:txBody>
          <a:bodyPr wrap="square" lIns="0" tIns="0" rIns="0" bIns="0" rtlCol="0" anchor="t"/>
          <a:lstStyle/>
          <a:p>
            <a:pPr indent="0" marL="0">
              <a:buNone/>
            </a:pPr>
            <a:r>
              <a:rPr lang="en-US" sz="900" b="1" dirty="0">
                <a:solidFill>
                  <a:srgbClr val="0E7490"/>
                </a:solidFill>
                <a:latin typeface="Calibri" pitchFamily="34" charset="0"/>
                <a:ea typeface="Calibri" pitchFamily="34" charset="-122"/>
                <a:cs typeface="Calibri" pitchFamily="34" charset="-120"/>
              </a:rPr>
              <a:t>N2 · N3 · N5</a:t>
            </a:r>
            <a:endParaRPr lang="en-US" sz="900" dirty="0"/>
          </a:p>
        </p:txBody>
      </p:sp>
      <p:sp>
        <p:nvSpPr>
          <p:cNvPr id="15" name="Shape 11"/>
          <p:cNvSpPr/>
          <p:nvPr/>
        </p:nvSpPr>
        <p:spPr>
          <a:xfrm>
            <a:off x="3182112" y="1828800"/>
            <a:ext cx="2779776" cy="1280160"/>
          </a:xfrm>
          <a:prstGeom prst="roundRect">
            <a:avLst>
              <a:gd name="adj" fmla="val 4286"/>
            </a:avLst>
          </a:prstGeom>
          <a:solidFill>
            <a:srgbClr val="F3F4F6"/>
          </a:solidFill>
          <a:ln w="9525">
            <a:solidFill>
              <a:srgbClr val="D1D5DB"/>
            </a:solidFill>
            <a:prstDash val="solid"/>
          </a:ln>
        </p:spPr>
      </p:sp>
      <p:sp>
        <p:nvSpPr>
          <p:cNvPr id="16" name="Text 12"/>
          <p:cNvSpPr txBox="1"/>
          <p:nvPr/>
        </p:nvSpPr>
        <p:spPr>
          <a:xfrm>
            <a:off x="3291840" y="1920240"/>
            <a:ext cx="2560320" cy="256032"/>
          </a:xfrm>
          <a:prstGeom prst="rect">
            <a:avLst/>
          </a:prstGeom>
          <a:noFill/>
          <a:ln/>
        </p:spPr>
        <p:txBody>
          <a:bodyPr wrap="square" lIns="0" tIns="0" rIns="0" bIns="0" rtlCol="0" anchor="t"/>
          <a:lstStyle/>
          <a:p>
            <a:pPr indent="0" marL="0">
              <a:buNone/>
            </a:pPr>
            <a:r>
              <a:rPr lang="en-US" sz="1100" b="1" dirty="0">
                <a:solidFill>
                  <a:srgbClr val="0D2349"/>
                </a:solidFill>
                <a:latin typeface="Calibri" pitchFamily="34" charset="0"/>
                <a:ea typeface="Calibri" pitchFamily="34" charset="-122"/>
                <a:cs typeface="Calibri" pitchFamily="34" charset="-120"/>
              </a:rPr>
              <a:t>University exam cell</a:t>
            </a:r>
            <a:endParaRPr lang="en-US" sz="1100" dirty="0"/>
          </a:p>
        </p:txBody>
      </p:sp>
      <p:sp>
        <p:nvSpPr>
          <p:cNvPr id="17" name="Text 13"/>
          <p:cNvSpPr txBox="1"/>
          <p:nvPr/>
        </p:nvSpPr>
        <p:spPr>
          <a:xfrm>
            <a:off x="3291840" y="2212848"/>
            <a:ext cx="2560320" cy="566928"/>
          </a:xfrm>
          <a:prstGeom prst="rect">
            <a:avLst/>
          </a:prstGeom>
          <a:noFill/>
          <a:ln/>
        </p:spPr>
        <p:txBody>
          <a:bodyPr wrap="square" lIns="0" tIns="0" rIns="0" bIns="0" rtlCol="0" anchor="t"/>
          <a:lstStyle/>
          <a:p>
            <a:pPr indent="0" marL="0">
              <a:buNone/>
            </a:pPr>
            <a:r>
              <a:rPr lang="en-US" sz="950" dirty="0">
                <a:solidFill>
                  <a:srgbClr val="111827"/>
                </a:solidFill>
                <a:latin typeface="Calibri" pitchFamily="34" charset="0"/>
                <a:ea typeface="Calibri" pitchFamily="34" charset="-122"/>
                <a:cs typeface="Calibri" pitchFamily="34" charset="-120"/>
              </a:rPr>
              <a:t>Hinglish questions on ATKT and backlog rules over English circulars</a:t>
            </a:r>
            <a:endParaRPr lang="en-US" sz="950" dirty="0"/>
          </a:p>
        </p:txBody>
      </p:sp>
      <p:sp>
        <p:nvSpPr>
          <p:cNvPr id="18" name="Text 14"/>
          <p:cNvSpPr txBox="1"/>
          <p:nvPr/>
        </p:nvSpPr>
        <p:spPr>
          <a:xfrm>
            <a:off x="3291840" y="2816352"/>
            <a:ext cx="2560320" cy="201168"/>
          </a:xfrm>
          <a:prstGeom prst="rect">
            <a:avLst/>
          </a:prstGeom>
          <a:noFill/>
          <a:ln/>
        </p:spPr>
        <p:txBody>
          <a:bodyPr wrap="square" lIns="0" tIns="0" rIns="0" bIns="0" rtlCol="0" anchor="t"/>
          <a:lstStyle/>
          <a:p>
            <a:pPr indent="0" marL="0">
              <a:buNone/>
            </a:pPr>
            <a:r>
              <a:rPr lang="en-US" sz="900" b="1" dirty="0">
                <a:solidFill>
                  <a:srgbClr val="0E7490"/>
                </a:solidFill>
                <a:latin typeface="Calibri" pitchFamily="34" charset="0"/>
                <a:ea typeface="Calibri" pitchFamily="34" charset="-122"/>
                <a:cs typeface="Calibri" pitchFamily="34" charset="-120"/>
              </a:rPr>
              <a:t>N1 · N2 · N5</a:t>
            </a:r>
            <a:endParaRPr lang="en-US" sz="900" dirty="0"/>
          </a:p>
        </p:txBody>
      </p:sp>
      <p:sp>
        <p:nvSpPr>
          <p:cNvPr id="19" name="Shape 15"/>
          <p:cNvSpPr/>
          <p:nvPr/>
        </p:nvSpPr>
        <p:spPr>
          <a:xfrm>
            <a:off x="6089904" y="1828800"/>
            <a:ext cx="2779776" cy="1280160"/>
          </a:xfrm>
          <a:prstGeom prst="roundRect">
            <a:avLst>
              <a:gd name="adj" fmla="val 4286"/>
            </a:avLst>
          </a:prstGeom>
          <a:solidFill>
            <a:srgbClr val="F3F4F6"/>
          </a:solidFill>
          <a:ln w="9525">
            <a:solidFill>
              <a:srgbClr val="D1D5DB"/>
            </a:solidFill>
            <a:prstDash val="solid"/>
          </a:ln>
        </p:spPr>
      </p:sp>
      <p:sp>
        <p:nvSpPr>
          <p:cNvPr id="20" name="Text 16"/>
          <p:cNvSpPr txBox="1"/>
          <p:nvPr/>
        </p:nvSpPr>
        <p:spPr>
          <a:xfrm>
            <a:off x="6199632" y="1920240"/>
            <a:ext cx="2560320" cy="256032"/>
          </a:xfrm>
          <a:prstGeom prst="rect">
            <a:avLst/>
          </a:prstGeom>
          <a:noFill/>
          <a:ln/>
        </p:spPr>
        <p:txBody>
          <a:bodyPr wrap="square" lIns="0" tIns="0" rIns="0" bIns="0" rtlCol="0" anchor="t"/>
          <a:lstStyle/>
          <a:p>
            <a:pPr indent="0" marL="0">
              <a:buNone/>
            </a:pPr>
            <a:r>
              <a:rPr lang="en-US" sz="1100" b="1" dirty="0">
                <a:solidFill>
                  <a:srgbClr val="0D2349"/>
                </a:solidFill>
                <a:latin typeface="Calibri" pitchFamily="34" charset="0"/>
                <a:ea typeface="Calibri" pitchFamily="34" charset="-122"/>
                <a:cs typeface="Calibri" pitchFamily="34" charset="-120"/>
              </a:rPr>
              <a:t>District court / law firm</a:t>
            </a:r>
            <a:endParaRPr lang="en-US" sz="1100" dirty="0"/>
          </a:p>
        </p:txBody>
      </p:sp>
      <p:sp>
        <p:nvSpPr>
          <p:cNvPr id="21" name="Text 17"/>
          <p:cNvSpPr txBox="1"/>
          <p:nvPr/>
        </p:nvSpPr>
        <p:spPr>
          <a:xfrm>
            <a:off x="6199632" y="2212848"/>
            <a:ext cx="2560320" cy="566928"/>
          </a:xfrm>
          <a:prstGeom prst="rect">
            <a:avLst/>
          </a:prstGeom>
          <a:noFill/>
          <a:ln/>
        </p:spPr>
        <p:txBody>
          <a:bodyPr wrap="square" lIns="0" tIns="0" rIns="0" bIns="0" rtlCol="0" anchor="t"/>
          <a:lstStyle/>
          <a:p>
            <a:pPr indent="0" marL="0">
              <a:buNone/>
            </a:pPr>
            <a:r>
              <a:rPr lang="en-US" sz="950" dirty="0">
                <a:solidFill>
                  <a:srgbClr val="111827"/>
                </a:solidFill>
                <a:latin typeface="Calibri" pitchFamily="34" charset="0"/>
                <a:ea typeface="Calibri" pitchFamily="34" charset="-122"/>
                <a:cs typeface="Calibri" pitchFamily="34" charset="-120"/>
              </a:rPr>
              <a:t>English questions over scanned Marathi land-acquisition orders; Devanagari survey numbers</a:t>
            </a:r>
            <a:endParaRPr lang="en-US" sz="950" dirty="0"/>
          </a:p>
        </p:txBody>
      </p:sp>
      <p:sp>
        <p:nvSpPr>
          <p:cNvPr id="22" name="Text 18"/>
          <p:cNvSpPr txBox="1"/>
          <p:nvPr/>
        </p:nvSpPr>
        <p:spPr>
          <a:xfrm>
            <a:off x="6199632" y="2816352"/>
            <a:ext cx="2560320" cy="201168"/>
          </a:xfrm>
          <a:prstGeom prst="rect">
            <a:avLst/>
          </a:prstGeom>
          <a:noFill/>
          <a:ln/>
        </p:spPr>
        <p:txBody>
          <a:bodyPr wrap="square" lIns="0" tIns="0" rIns="0" bIns="0" rtlCol="0" anchor="t"/>
          <a:lstStyle/>
          <a:p>
            <a:pPr indent="0" marL="0">
              <a:buNone/>
            </a:pPr>
            <a:r>
              <a:rPr lang="en-US" sz="900" b="1" dirty="0">
                <a:solidFill>
                  <a:srgbClr val="0E7490"/>
                </a:solidFill>
                <a:latin typeface="Calibri" pitchFamily="34" charset="0"/>
                <a:ea typeface="Calibri" pitchFamily="34" charset="-122"/>
                <a:cs typeface="Calibri" pitchFamily="34" charset="-120"/>
              </a:rPr>
              <a:t>N1 · N3 · N4</a:t>
            </a:r>
            <a:endParaRPr lang="en-US" sz="900" dirty="0"/>
          </a:p>
        </p:txBody>
      </p:sp>
      <p:sp>
        <p:nvSpPr>
          <p:cNvPr id="23" name="Shape 19"/>
          <p:cNvSpPr/>
          <p:nvPr/>
        </p:nvSpPr>
        <p:spPr>
          <a:xfrm>
            <a:off x="274320" y="3218688"/>
            <a:ext cx="2779776" cy="1280160"/>
          </a:xfrm>
          <a:prstGeom prst="roundRect">
            <a:avLst>
              <a:gd name="adj" fmla="val 4286"/>
            </a:avLst>
          </a:prstGeom>
          <a:solidFill>
            <a:srgbClr val="F3F4F6"/>
          </a:solidFill>
          <a:ln w="9525">
            <a:solidFill>
              <a:srgbClr val="D1D5DB"/>
            </a:solidFill>
            <a:prstDash val="solid"/>
          </a:ln>
        </p:spPr>
      </p:sp>
      <p:sp>
        <p:nvSpPr>
          <p:cNvPr id="24" name="Text 20"/>
          <p:cNvSpPr txBox="1"/>
          <p:nvPr/>
        </p:nvSpPr>
        <p:spPr>
          <a:xfrm>
            <a:off x="384048" y="3310128"/>
            <a:ext cx="2560320" cy="256032"/>
          </a:xfrm>
          <a:prstGeom prst="rect">
            <a:avLst/>
          </a:prstGeom>
          <a:noFill/>
          <a:ln/>
        </p:spPr>
        <p:txBody>
          <a:bodyPr wrap="square" lIns="0" tIns="0" rIns="0" bIns="0" rtlCol="0" anchor="t"/>
          <a:lstStyle/>
          <a:p>
            <a:pPr indent="0" marL="0">
              <a:buNone/>
            </a:pPr>
            <a:r>
              <a:rPr lang="en-US" sz="1100" b="1" dirty="0">
                <a:solidFill>
                  <a:srgbClr val="0D2349"/>
                </a:solidFill>
                <a:latin typeface="Calibri" pitchFamily="34" charset="0"/>
                <a:ea typeface="Calibri" pitchFamily="34" charset="-122"/>
                <a:cs typeface="Calibri" pitchFamily="34" charset="-120"/>
              </a:rPr>
              <a:t>Primary health centre</a:t>
            </a:r>
            <a:endParaRPr lang="en-US" sz="1100" dirty="0"/>
          </a:p>
        </p:txBody>
      </p:sp>
      <p:sp>
        <p:nvSpPr>
          <p:cNvPr id="25" name="Text 21"/>
          <p:cNvSpPr txBox="1"/>
          <p:nvPr/>
        </p:nvSpPr>
        <p:spPr>
          <a:xfrm>
            <a:off x="384048" y="3602736"/>
            <a:ext cx="2560320" cy="566928"/>
          </a:xfrm>
          <a:prstGeom prst="rect">
            <a:avLst/>
          </a:prstGeom>
          <a:noFill/>
          <a:ln/>
        </p:spPr>
        <p:txBody>
          <a:bodyPr wrap="square" lIns="0" tIns="0" rIns="0" bIns="0" rtlCol="0" anchor="t"/>
          <a:lstStyle/>
          <a:p>
            <a:pPr indent="0" marL="0">
              <a:buNone/>
            </a:pPr>
            <a:r>
              <a:rPr lang="en-US" sz="950" dirty="0">
                <a:solidFill>
                  <a:srgbClr val="111827"/>
                </a:solidFill>
                <a:latin typeface="Calibri" pitchFamily="34" charset="0"/>
                <a:ea typeface="Calibri" pitchFamily="34" charset="-122"/>
                <a:cs typeface="Calibri" pitchFamily="34" charset="-120"/>
              </a:rPr>
              <a:t>Hindi protocol questions; must abstain when the protocols do not cover a topic</a:t>
            </a:r>
            <a:endParaRPr lang="en-US" sz="950" dirty="0"/>
          </a:p>
        </p:txBody>
      </p:sp>
      <p:sp>
        <p:nvSpPr>
          <p:cNvPr id="26" name="Text 22"/>
          <p:cNvSpPr txBox="1"/>
          <p:nvPr/>
        </p:nvSpPr>
        <p:spPr>
          <a:xfrm>
            <a:off x="384048" y="4206240"/>
            <a:ext cx="2560320" cy="201168"/>
          </a:xfrm>
          <a:prstGeom prst="rect">
            <a:avLst/>
          </a:prstGeom>
          <a:noFill/>
          <a:ln/>
        </p:spPr>
        <p:txBody>
          <a:bodyPr wrap="square" lIns="0" tIns="0" rIns="0" bIns="0" rtlCol="0" anchor="t"/>
          <a:lstStyle/>
          <a:p>
            <a:pPr indent="0" marL="0">
              <a:buNone/>
            </a:pPr>
            <a:r>
              <a:rPr lang="en-US" sz="900" b="1" dirty="0">
                <a:solidFill>
                  <a:srgbClr val="0E7490"/>
                </a:solidFill>
                <a:latin typeface="Calibri" pitchFamily="34" charset="0"/>
                <a:ea typeface="Calibri" pitchFamily="34" charset="-122"/>
                <a:cs typeface="Calibri" pitchFamily="34" charset="-120"/>
              </a:rPr>
              <a:t>N4 · N5</a:t>
            </a:r>
            <a:endParaRPr lang="en-US" sz="900" dirty="0"/>
          </a:p>
        </p:txBody>
      </p:sp>
      <p:sp>
        <p:nvSpPr>
          <p:cNvPr id="27" name="Shape 23"/>
          <p:cNvSpPr/>
          <p:nvPr/>
        </p:nvSpPr>
        <p:spPr>
          <a:xfrm>
            <a:off x="3182112" y="3218688"/>
            <a:ext cx="2779776" cy="1280160"/>
          </a:xfrm>
          <a:prstGeom prst="roundRect">
            <a:avLst>
              <a:gd name="adj" fmla="val 4286"/>
            </a:avLst>
          </a:prstGeom>
          <a:solidFill>
            <a:srgbClr val="F3F4F6"/>
          </a:solidFill>
          <a:ln w="9525">
            <a:solidFill>
              <a:srgbClr val="D1D5DB"/>
            </a:solidFill>
            <a:prstDash val="solid"/>
          </a:ln>
        </p:spPr>
      </p:sp>
      <p:sp>
        <p:nvSpPr>
          <p:cNvPr id="28" name="Text 24"/>
          <p:cNvSpPr txBox="1"/>
          <p:nvPr/>
        </p:nvSpPr>
        <p:spPr>
          <a:xfrm>
            <a:off x="3291840" y="3310128"/>
            <a:ext cx="2560320" cy="256032"/>
          </a:xfrm>
          <a:prstGeom prst="rect">
            <a:avLst/>
          </a:prstGeom>
          <a:noFill/>
          <a:ln/>
        </p:spPr>
        <p:txBody>
          <a:bodyPr wrap="square" lIns="0" tIns="0" rIns="0" bIns="0" rtlCol="0" anchor="t"/>
          <a:lstStyle/>
          <a:p>
            <a:pPr indent="0" marL="0">
              <a:buNone/>
            </a:pPr>
            <a:r>
              <a:rPr lang="en-US" sz="1100" b="1" dirty="0">
                <a:solidFill>
                  <a:srgbClr val="0D2349"/>
                </a:solidFill>
                <a:latin typeface="Calibri" pitchFamily="34" charset="0"/>
                <a:ea typeface="Calibri" pitchFamily="34" charset="-122"/>
                <a:cs typeface="Calibri" pitchFamily="34" charset="-120"/>
              </a:rPr>
              <a:t>Co-operative bank compliance</a:t>
            </a:r>
            <a:endParaRPr lang="en-US" sz="1100" dirty="0"/>
          </a:p>
        </p:txBody>
      </p:sp>
      <p:sp>
        <p:nvSpPr>
          <p:cNvPr id="29" name="Text 25"/>
          <p:cNvSpPr txBox="1"/>
          <p:nvPr/>
        </p:nvSpPr>
        <p:spPr>
          <a:xfrm>
            <a:off x="3291840" y="3602736"/>
            <a:ext cx="2560320" cy="566928"/>
          </a:xfrm>
          <a:prstGeom prst="rect">
            <a:avLst/>
          </a:prstGeom>
          <a:noFill/>
          <a:ln/>
        </p:spPr>
        <p:txBody>
          <a:bodyPr wrap="square" lIns="0" tIns="0" rIns="0" bIns="0" rtlCol="0" anchor="t"/>
          <a:lstStyle/>
          <a:p>
            <a:pPr indent="0" marL="0">
              <a:buNone/>
            </a:pPr>
            <a:r>
              <a:rPr lang="en-US" sz="950" dirty="0">
                <a:solidFill>
                  <a:srgbClr val="111827"/>
                </a:solidFill>
                <a:latin typeface="Calibri" pitchFamily="34" charset="0"/>
                <a:ea typeface="Calibri" pitchFamily="34" charset="-122"/>
                <a:cs typeface="Calibri" pitchFamily="34" charset="-120"/>
              </a:rPr>
              <a:t>RBI circulars in English and Hindi; dates, clause numbers and a cited audit trail</a:t>
            </a:r>
            <a:endParaRPr lang="en-US" sz="950" dirty="0"/>
          </a:p>
        </p:txBody>
      </p:sp>
      <p:sp>
        <p:nvSpPr>
          <p:cNvPr id="30" name="Text 26"/>
          <p:cNvSpPr txBox="1"/>
          <p:nvPr/>
        </p:nvSpPr>
        <p:spPr>
          <a:xfrm>
            <a:off x="3291840" y="4206240"/>
            <a:ext cx="2560320" cy="201168"/>
          </a:xfrm>
          <a:prstGeom prst="rect">
            <a:avLst/>
          </a:prstGeom>
          <a:noFill/>
          <a:ln/>
        </p:spPr>
        <p:txBody>
          <a:bodyPr wrap="square" lIns="0" tIns="0" rIns="0" bIns="0" rtlCol="0" anchor="t"/>
          <a:lstStyle/>
          <a:p>
            <a:pPr indent="0" marL="0">
              <a:buNone/>
            </a:pPr>
            <a:r>
              <a:rPr lang="en-US" sz="900" b="1" dirty="0">
                <a:solidFill>
                  <a:srgbClr val="0E7490"/>
                </a:solidFill>
                <a:latin typeface="Calibri" pitchFamily="34" charset="0"/>
                <a:ea typeface="Calibri" pitchFamily="34" charset="-122"/>
                <a:cs typeface="Calibri" pitchFamily="34" charset="-120"/>
              </a:rPr>
              <a:t>N1 · N4</a:t>
            </a:r>
            <a:endParaRPr lang="en-US" sz="900" dirty="0"/>
          </a:p>
        </p:txBody>
      </p:sp>
      <p:sp>
        <p:nvSpPr>
          <p:cNvPr id="31" name="Shape 27"/>
          <p:cNvSpPr/>
          <p:nvPr/>
        </p:nvSpPr>
        <p:spPr>
          <a:xfrm>
            <a:off x="6089904" y="3218688"/>
            <a:ext cx="2779776" cy="1280160"/>
          </a:xfrm>
          <a:prstGeom prst="roundRect">
            <a:avLst>
              <a:gd name="adj" fmla="val 4286"/>
            </a:avLst>
          </a:prstGeom>
          <a:solidFill>
            <a:srgbClr val="F3F4F6"/>
          </a:solidFill>
          <a:ln w="9525">
            <a:solidFill>
              <a:srgbClr val="D1D5DB"/>
            </a:solidFill>
            <a:prstDash val="solid"/>
          </a:ln>
        </p:spPr>
      </p:sp>
      <p:sp>
        <p:nvSpPr>
          <p:cNvPr id="32" name="Text 28"/>
          <p:cNvSpPr txBox="1"/>
          <p:nvPr/>
        </p:nvSpPr>
        <p:spPr>
          <a:xfrm>
            <a:off x="6199632" y="3310128"/>
            <a:ext cx="2560320" cy="256032"/>
          </a:xfrm>
          <a:prstGeom prst="rect">
            <a:avLst/>
          </a:prstGeom>
          <a:noFill/>
          <a:ln/>
        </p:spPr>
        <p:txBody>
          <a:bodyPr wrap="square" lIns="0" tIns="0" rIns="0" bIns="0" rtlCol="0" anchor="t"/>
          <a:lstStyle/>
          <a:p>
            <a:pPr indent="0" marL="0">
              <a:buNone/>
            </a:pPr>
            <a:r>
              <a:rPr lang="en-US" sz="1100" b="1" dirty="0">
                <a:solidFill>
                  <a:srgbClr val="0D2349"/>
                </a:solidFill>
                <a:latin typeface="Calibri" pitchFamily="34" charset="0"/>
                <a:ea typeface="Calibri" pitchFamily="34" charset="-122"/>
                <a:cs typeface="Calibri" pitchFamily="34" charset="-120"/>
              </a:rPr>
              <a:t>Krishi Vigyan Kendra</a:t>
            </a:r>
            <a:endParaRPr lang="en-US" sz="1100" dirty="0"/>
          </a:p>
        </p:txBody>
      </p:sp>
      <p:sp>
        <p:nvSpPr>
          <p:cNvPr id="33" name="Text 29"/>
          <p:cNvSpPr txBox="1"/>
          <p:nvPr/>
        </p:nvSpPr>
        <p:spPr>
          <a:xfrm>
            <a:off x="6199632" y="3602736"/>
            <a:ext cx="2560320" cy="566928"/>
          </a:xfrm>
          <a:prstGeom prst="rect">
            <a:avLst/>
          </a:prstGeom>
          <a:noFill/>
          <a:ln/>
        </p:spPr>
        <p:txBody>
          <a:bodyPr wrap="square" lIns="0" tIns="0" rIns="0" bIns="0" rtlCol="0" anchor="t"/>
          <a:lstStyle/>
          <a:p>
            <a:pPr indent="0" marL="0">
              <a:buNone/>
            </a:pPr>
            <a:r>
              <a:rPr lang="en-US" sz="950" dirty="0">
                <a:solidFill>
                  <a:srgbClr val="111827"/>
                </a:solidFill>
                <a:latin typeface="Calibri" pitchFamily="34" charset="0"/>
                <a:ea typeface="Calibri" pitchFamily="34" charset="-122"/>
                <a:cs typeface="Calibri" pitchFamily="34" charset="-120"/>
              </a:rPr>
              <a:t>Romanized Marathi crop-advisory questions answered with the advisory page</a:t>
            </a:r>
            <a:endParaRPr lang="en-US" sz="950" dirty="0"/>
          </a:p>
        </p:txBody>
      </p:sp>
      <p:sp>
        <p:nvSpPr>
          <p:cNvPr id="34" name="Text 30"/>
          <p:cNvSpPr txBox="1"/>
          <p:nvPr/>
        </p:nvSpPr>
        <p:spPr>
          <a:xfrm>
            <a:off x="6199632" y="4206240"/>
            <a:ext cx="2560320" cy="201168"/>
          </a:xfrm>
          <a:prstGeom prst="rect">
            <a:avLst/>
          </a:prstGeom>
          <a:noFill/>
          <a:ln/>
        </p:spPr>
        <p:txBody>
          <a:bodyPr wrap="square" lIns="0" tIns="0" rIns="0" bIns="0" rtlCol="0" anchor="t"/>
          <a:lstStyle/>
          <a:p>
            <a:pPr indent="0" marL="0">
              <a:buNone/>
            </a:pPr>
            <a:r>
              <a:rPr lang="en-US" sz="900" b="1" dirty="0">
                <a:solidFill>
                  <a:srgbClr val="0E7490"/>
                </a:solidFill>
                <a:latin typeface="Calibri" pitchFamily="34" charset="0"/>
                <a:ea typeface="Calibri" pitchFamily="34" charset="-122"/>
                <a:cs typeface="Calibri" pitchFamily="34" charset="-120"/>
              </a:rPr>
              <a:t>N2 · N5</a:t>
            </a:r>
            <a:endParaRPr lang="en-US" sz="900" dirty="0"/>
          </a:p>
        </p:txBody>
      </p:sp>
      <p:sp>
        <p:nvSpPr>
          <p:cNvPr id="35" name="Text 31"/>
          <p:cNvSpPr txBox="1"/>
          <p:nvPr/>
        </p:nvSpPr>
        <p:spPr>
          <a:xfrm>
            <a:off x="274320" y="4626864"/>
            <a:ext cx="8595360" cy="201168"/>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N1 learned router · N2 query views (romanized, code-mixed, digits) · N3 OCR-aware retrieval · N4 evidence gate + claim verification · N5 script-faithful answers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D2349"/>
          </a:solidFill>
          <a:ln w="12700">
            <a:solidFill>
              <a:srgbClr val="0D2349"/>
            </a:solidFill>
            <a:prstDash val="solid"/>
          </a:ln>
        </p:spPr>
      </p:sp>
      <p:sp>
        <p:nvSpPr>
          <p:cNvPr id="3" name="Text 1"/>
          <p:cNvSpPr txBox="1"/>
          <p:nvPr/>
        </p:nvSpPr>
        <p:spPr>
          <a:xfrm>
            <a:off x="274320" y="0"/>
            <a:ext cx="7863840"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Project Objectives</a:t>
            </a:r>
            <a:endParaRPr lang="en-US" sz="1900" dirty="0"/>
          </a:p>
        </p:txBody>
      </p:sp>
      <p:pic>
        <p:nvPicPr>
          <p:cNvPr id="4" name="Image 0" descr="MMCOE logo">    </p:cNvPr>
          <p:cNvPicPr>
            <a:picLocks noChangeAspect="1"/>
          </p:cNvPicPr>
          <p:nvPr/>
        </p:nvPicPr>
        <p:blipFill>
          <a:blip r:embed="rId1"/>
          <a:stretch>
            <a:fillRect/>
          </a:stretch>
        </p:blipFill>
        <p:spPr>
          <a:xfrm>
            <a:off x="8531352" y="36576"/>
            <a:ext cx="320040" cy="384048"/>
          </a:xfrm>
          <a:prstGeom prst="rect">
            <a:avLst/>
          </a:prstGeom>
        </p:spPr>
      </p:pic>
      <p:sp>
        <p:nvSpPr>
          <p:cNvPr id="5" name="Text 2"/>
          <p:cNvSpPr txBox="1"/>
          <p:nvPr/>
        </p:nvSpPr>
        <p:spPr>
          <a:xfrm>
            <a:off x="274320" y="4882896"/>
            <a:ext cx="7680960" cy="201168"/>
          </a:xfrm>
          <a:prstGeom prst="rect">
            <a:avLst/>
          </a:prstGeom>
          <a:noFill/>
          <a:ln/>
        </p:spPr>
        <p:txBody>
          <a:bodyPr wrap="square" lIns="0" tIns="0" rIns="0" bIns="0" rtlCol="0" anchor="ctr"/>
          <a:lstStyle/>
          <a:p>
            <a:pPr indent="0" marL="0">
              <a:buNone/>
            </a:pPr>
            <a:r>
              <a:rPr lang="en-US" sz="700" dirty="0">
                <a:solidFill>
                  <a:srgbClr val="9CA3AF"/>
                </a:solidFill>
                <a:latin typeface="Calibri" pitchFamily="34" charset="0"/>
                <a:ea typeface="Calibri" pitchFamily="34" charset="-122"/>
                <a:cs typeface="Calibri" pitchFamily="34" charset="-120"/>
              </a:rPr>
              <a:t>Sakshya · Multilingual Document Intelligence (RAG)  |  BE Project Review 2  |  MMCOE Pune</a:t>
            </a:r>
            <a:endParaRPr lang="en-US" sz="700" dirty="0"/>
          </a:p>
        </p:txBody>
      </p:sp>
      <p:sp>
        <p:nvSpPr>
          <p:cNvPr id="6" name="Text 3"/>
          <p:cNvSpPr txBox="1"/>
          <p:nvPr/>
        </p:nvSpPr>
        <p:spPr>
          <a:xfrm>
            <a:off x="8412480" y="4882896"/>
            <a:ext cx="457200" cy="201168"/>
          </a:xfrm>
          <a:prstGeom prst="rect">
            <a:avLst/>
          </a:prstGeom>
          <a:noFill/>
          <a:ln/>
        </p:spPr>
        <p:txBody>
          <a:bodyPr wrap="square" lIns="0" tIns="0" rIns="0" bIns="0" rtlCol="0" anchor="ctr"/>
          <a:lstStyle/>
          <a:p>
            <a:pPr algn="r" indent="0" marL="0">
              <a:buNone/>
            </a:pPr>
            <a:r>
              <a:rPr lang="en-US" sz="700" dirty="0">
                <a:solidFill>
                  <a:srgbClr val="9CA3AF"/>
                </a:solidFill>
                <a:latin typeface="Calibri" pitchFamily="34" charset="0"/>
                <a:ea typeface="Calibri" pitchFamily="34" charset="-122"/>
                <a:cs typeface="Calibri" pitchFamily="34" charset="-120"/>
              </a:rPr>
              <a:t>5</a:t>
            </a:r>
            <a:endParaRPr lang="en-US" sz="700" dirty="0"/>
          </a:p>
        </p:txBody>
      </p:sp>
      <p:sp>
        <p:nvSpPr>
          <p:cNvPr id="8" name="Shape 4"/>
          <p:cNvSpPr/>
          <p:nvPr/>
        </p:nvSpPr>
        <p:spPr>
          <a:xfrm>
            <a:off x="274320" y="621792"/>
            <a:ext cx="4251960" cy="1280160"/>
          </a:xfrm>
          <a:prstGeom prst="roundRect">
            <a:avLst>
              <a:gd name="adj" fmla="val 4286"/>
            </a:avLst>
          </a:prstGeom>
          <a:solidFill>
            <a:srgbClr val="F3F4F6"/>
          </a:solidFill>
          <a:ln w="6350">
            <a:solidFill>
              <a:srgbClr val="D1D5DB"/>
            </a:solidFill>
            <a:prstDash val="solid"/>
          </a:ln>
        </p:spPr>
      </p:sp>
      <p:sp>
        <p:nvSpPr>
          <p:cNvPr id="9" name="Shape 5"/>
          <p:cNvSpPr/>
          <p:nvPr/>
        </p:nvSpPr>
        <p:spPr>
          <a:xfrm>
            <a:off x="411480" y="804672"/>
            <a:ext cx="502920" cy="502920"/>
          </a:xfrm>
          <a:prstGeom prst="ellipse">
            <a:avLst/>
          </a:prstGeom>
          <a:solidFill>
            <a:srgbClr val="0D2349"/>
          </a:solidFill>
          <a:ln w="12700">
            <a:solidFill>
              <a:srgbClr val="0D2349"/>
            </a:solidFill>
            <a:prstDash val="solid"/>
          </a:ln>
        </p:spPr>
      </p:sp>
      <p:sp>
        <p:nvSpPr>
          <p:cNvPr id="10" name="Text 6"/>
          <p:cNvSpPr txBox="1"/>
          <p:nvPr/>
        </p:nvSpPr>
        <p:spPr>
          <a:xfrm>
            <a:off x="411480" y="804672"/>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O1</a:t>
            </a:r>
            <a:endParaRPr lang="en-US" sz="1300" dirty="0"/>
          </a:p>
        </p:txBody>
      </p:sp>
      <p:sp>
        <p:nvSpPr>
          <p:cNvPr id="11" name="Text 7"/>
          <p:cNvSpPr txBox="1"/>
          <p:nvPr/>
        </p:nvSpPr>
        <p:spPr>
          <a:xfrm>
            <a:off x="1051560" y="804672"/>
            <a:ext cx="3337560" cy="310896"/>
          </a:xfrm>
          <a:prstGeom prst="rect">
            <a:avLst/>
          </a:prstGeom>
          <a:noFill/>
          <a:ln/>
        </p:spPr>
        <p:txBody>
          <a:bodyPr wrap="square" lIns="0" tIns="0" rIns="0" bIns="0" rtlCol="0" anchor="t"/>
          <a:lstStyle/>
          <a:p>
            <a:pPr indent="0" marL="0">
              <a:buNone/>
            </a:pPr>
            <a:r>
              <a:rPr lang="en-US" sz="1400" b="1" dirty="0">
                <a:solidFill>
                  <a:srgbClr val="0D2349"/>
                </a:solidFill>
                <a:latin typeface="Calibri" pitchFamily="34" charset="0"/>
                <a:ea typeface="Calibri" pitchFamily="34" charset="-122"/>
                <a:cs typeface="Calibri" pitchFamily="34" charset="-120"/>
              </a:rPr>
              <a:t>Page-anchored ingestion</a:t>
            </a:r>
            <a:endParaRPr lang="en-US" sz="1400" dirty="0"/>
          </a:p>
        </p:txBody>
      </p:sp>
      <p:sp>
        <p:nvSpPr>
          <p:cNvPr id="12" name="Text 8"/>
          <p:cNvSpPr txBox="1"/>
          <p:nvPr/>
        </p:nvSpPr>
        <p:spPr>
          <a:xfrm>
            <a:off x="1051560" y="1170432"/>
            <a:ext cx="3337560" cy="640080"/>
          </a:xfrm>
          <a:prstGeom prst="rect">
            <a:avLst/>
          </a:prstGeom>
          <a:noFill/>
          <a:ln/>
        </p:spPr>
        <p:txBody>
          <a:bodyPr wrap="square" lIns="0" tIns="0" rIns="0" bIns="0" rtlCol="0" anchor="t"/>
          <a:lstStyle/>
          <a:p>
            <a:pPr indent="0" marL="0">
              <a:buNone/>
            </a:pPr>
            <a:r>
              <a:rPr lang="en-US" sz="1200" dirty="0">
                <a:solidFill>
                  <a:srgbClr val="111827"/>
                </a:solidFill>
                <a:latin typeface="Calibri" pitchFamily="34" charset="0"/>
                <a:ea typeface="Calibri" pitchFamily="34" charset="-122"/>
                <a:cs typeface="Calibri" pitchFamily="34" charset="-120"/>
              </a:rPr>
              <a:t>PDF, DOCX and scans with OCR and per-block language/script ID; chunks never cross a page.</a:t>
            </a:r>
            <a:endParaRPr lang="en-US" sz="1200" dirty="0"/>
          </a:p>
        </p:txBody>
      </p:sp>
      <p:sp>
        <p:nvSpPr>
          <p:cNvPr id="13" name="Shape 9"/>
          <p:cNvSpPr/>
          <p:nvPr/>
        </p:nvSpPr>
        <p:spPr>
          <a:xfrm>
            <a:off x="4617720" y="621792"/>
            <a:ext cx="4251960" cy="1280160"/>
          </a:xfrm>
          <a:prstGeom prst="roundRect">
            <a:avLst>
              <a:gd name="adj" fmla="val 4286"/>
            </a:avLst>
          </a:prstGeom>
          <a:solidFill>
            <a:srgbClr val="DBEAFE"/>
          </a:solidFill>
          <a:ln w="6350">
            <a:solidFill>
              <a:srgbClr val="D1D5DB"/>
            </a:solidFill>
            <a:prstDash val="solid"/>
          </a:ln>
        </p:spPr>
      </p:sp>
      <p:sp>
        <p:nvSpPr>
          <p:cNvPr id="14" name="Shape 10"/>
          <p:cNvSpPr/>
          <p:nvPr/>
        </p:nvSpPr>
        <p:spPr>
          <a:xfrm>
            <a:off x="4754880" y="804672"/>
            <a:ext cx="502920" cy="502920"/>
          </a:xfrm>
          <a:prstGeom prst="ellipse">
            <a:avLst/>
          </a:prstGeom>
          <a:solidFill>
            <a:srgbClr val="0D2349"/>
          </a:solidFill>
          <a:ln w="12700">
            <a:solidFill>
              <a:srgbClr val="0D2349"/>
            </a:solidFill>
            <a:prstDash val="solid"/>
          </a:ln>
        </p:spPr>
      </p:sp>
      <p:sp>
        <p:nvSpPr>
          <p:cNvPr id="15" name="Text 11"/>
          <p:cNvSpPr txBox="1"/>
          <p:nvPr/>
        </p:nvSpPr>
        <p:spPr>
          <a:xfrm>
            <a:off x="4754880" y="804672"/>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O2</a:t>
            </a:r>
            <a:endParaRPr lang="en-US" sz="1300" dirty="0"/>
          </a:p>
        </p:txBody>
      </p:sp>
      <p:sp>
        <p:nvSpPr>
          <p:cNvPr id="16" name="Text 12"/>
          <p:cNvSpPr txBox="1"/>
          <p:nvPr/>
        </p:nvSpPr>
        <p:spPr>
          <a:xfrm>
            <a:off x="5394960" y="804672"/>
            <a:ext cx="3337560" cy="310896"/>
          </a:xfrm>
          <a:prstGeom prst="rect">
            <a:avLst/>
          </a:prstGeom>
          <a:noFill/>
          <a:ln/>
        </p:spPr>
        <p:txBody>
          <a:bodyPr wrap="square" lIns="0" tIns="0" rIns="0" bIns="0" rtlCol="0" anchor="t"/>
          <a:lstStyle/>
          <a:p>
            <a:pPr indent="0" marL="0">
              <a:buNone/>
            </a:pPr>
            <a:r>
              <a:rPr lang="en-US" sz="1400" b="1" dirty="0">
                <a:solidFill>
                  <a:srgbClr val="0D2349"/>
                </a:solidFill>
                <a:latin typeface="Calibri" pitchFamily="34" charset="0"/>
                <a:ea typeface="Calibri" pitchFamily="34" charset="-122"/>
                <a:cs typeface="Calibri" pitchFamily="34" charset="-120"/>
              </a:rPr>
              <a:t>Controlled retrieval comparison</a:t>
            </a:r>
            <a:endParaRPr lang="en-US" sz="1400" dirty="0"/>
          </a:p>
        </p:txBody>
      </p:sp>
      <p:sp>
        <p:nvSpPr>
          <p:cNvPr id="17" name="Text 13"/>
          <p:cNvSpPr txBox="1"/>
          <p:nvPr/>
        </p:nvSpPr>
        <p:spPr>
          <a:xfrm>
            <a:off x="5394960" y="1170432"/>
            <a:ext cx="3337560" cy="640080"/>
          </a:xfrm>
          <a:prstGeom prst="rect">
            <a:avLst/>
          </a:prstGeom>
          <a:noFill/>
          <a:ln/>
        </p:spPr>
        <p:txBody>
          <a:bodyPr wrap="square" lIns="0" tIns="0" rIns="0" bIns="0" rtlCol="0" anchor="t"/>
          <a:lstStyle/>
          <a:p>
            <a:pPr indent="0" marL="0">
              <a:buNone/>
            </a:pPr>
            <a:r>
              <a:rPr lang="en-US" sz="1200" dirty="0">
                <a:solidFill>
                  <a:srgbClr val="111827"/>
                </a:solidFill>
                <a:latin typeface="Calibri" pitchFamily="34" charset="0"/>
                <a:ea typeface="Calibri" pitchFamily="34" charset="-122"/>
                <a:cs typeface="Calibri" pitchFamily="34" charset="-120"/>
              </a:rPr>
              <a:t>Direct vs translate vs hybrid, by language, document type and query type (RQ1).</a:t>
            </a:r>
            <a:endParaRPr lang="en-US" sz="1200" dirty="0"/>
          </a:p>
        </p:txBody>
      </p:sp>
      <p:sp>
        <p:nvSpPr>
          <p:cNvPr id="18" name="Shape 14"/>
          <p:cNvSpPr/>
          <p:nvPr/>
        </p:nvSpPr>
        <p:spPr>
          <a:xfrm>
            <a:off x="274320" y="2011680"/>
            <a:ext cx="4251960" cy="1280160"/>
          </a:xfrm>
          <a:prstGeom prst="roundRect">
            <a:avLst>
              <a:gd name="adj" fmla="val 4286"/>
            </a:avLst>
          </a:prstGeom>
          <a:solidFill>
            <a:srgbClr val="DBEAFE"/>
          </a:solidFill>
          <a:ln w="6350">
            <a:solidFill>
              <a:srgbClr val="D1D5DB"/>
            </a:solidFill>
            <a:prstDash val="solid"/>
          </a:ln>
        </p:spPr>
      </p:sp>
      <p:sp>
        <p:nvSpPr>
          <p:cNvPr id="19" name="Shape 15"/>
          <p:cNvSpPr/>
          <p:nvPr/>
        </p:nvSpPr>
        <p:spPr>
          <a:xfrm>
            <a:off x="411480" y="2194560"/>
            <a:ext cx="502920" cy="502920"/>
          </a:xfrm>
          <a:prstGeom prst="ellipse">
            <a:avLst/>
          </a:prstGeom>
          <a:solidFill>
            <a:srgbClr val="0D2349"/>
          </a:solidFill>
          <a:ln w="12700">
            <a:solidFill>
              <a:srgbClr val="0D2349"/>
            </a:solidFill>
            <a:prstDash val="solid"/>
          </a:ln>
        </p:spPr>
      </p:sp>
      <p:sp>
        <p:nvSpPr>
          <p:cNvPr id="20" name="Text 16"/>
          <p:cNvSpPr txBox="1"/>
          <p:nvPr/>
        </p:nvSpPr>
        <p:spPr>
          <a:xfrm>
            <a:off x="411480" y="219456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O3</a:t>
            </a:r>
            <a:endParaRPr lang="en-US" sz="1300" dirty="0"/>
          </a:p>
        </p:txBody>
      </p:sp>
      <p:sp>
        <p:nvSpPr>
          <p:cNvPr id="21" name="Text 17"/>
          <p:cNvSpPr txBox="1"/>
          <p:nvPr/>
        </p:nvSpPr>
        <p:spPr>
          <a:xfrm>
            <a:off x="1051560" y="2194560"/>
            <a:ext cx="3337560" cy="310896"/>
          </a:xfrm>
          <a:prstGeom prst="rect">
            <a:avLst/>
          </a:prstGeom>
          <a:noFill/>
          <a:ln/>
        </p:spPr>
        <p:txBody>
          <a:bodyPr wrap="square" lIns="0" tIns="0" rIns="0" bIns="0" rtlCol="0" anchor="t"/>
          <a:lstStyle/>
          <a:p>
            <a:pPr indent="0" marL="0">
              <a:buNone/>
            </a:pPr>
            <a:r>
              <a:rPr lang="en-US" sz="1400" b="1" dirty="0">
                <a:solidFill>
                  <a:srgbClr val="0D2349"/>
                </a:solidFill>
                <a:latin typeface="Calibri" pitchFamily="34" charset="0"/>
                <a:ea typeface="Calibri" pitchFamily="34" charset="-122"/>
                <a:cs typeface="Calibri" pitchFamily="34" charset="-120"/>
              </a:rPr>
              <a:t>Learned router</a:t>
            </a:r>
            <a:endParaRPr lang="en-US" sz="1400" dirty="0"/>
          </a:p>
        </p:txBody>
      </p:sp>
      <p:sp>
        <p:nvSpPr>
          <p:cNvPr id="22" name="Text 18"/>
          <p:cNvSpPr txBox="1"/>
          <p:nvPr/>
        </p:nvSpPr>
        <p:spPr>
          <a:xfrm>
            <a:off x="1051560" y="2560320"/>
            <a:ext cx="3337560" cy="640080"/>
          </a:xfrm>
          <a:prstGeom prst="rect">
            <a:avLst/>
          </a:prstGeom>
          <a:noFill/>
          <a:ln/>
        </p:spPr>
        <p:txBody>
          <a:bodyPr wrap="square" lIns="0" tIns="0" rIns="0" bIns="0" rtlCol="0" anchor="t"/>
          <a:lstStyle/>
          <a:p>
            <a:pPr indent="0" marL="0">
              <a:buNone/>
            </a:pPr>
            <a:r>
              <a:rPr lang="en-US" sz="1200" dirty="0">
                <a:solidFill>
                  <a:srgbClr val="111827"/>
                </a:solidFill>
                <a:latin typeface="Calibri" pitchFamily="34" charset="0"/>
                <a:ea typeface="Calibri" pitchFamily="34" charset="-122"/>
                <a:cs typeface="Calibri" pitchFamily="34" charset="-120"/>
              </a:rPr>
              <a:t>Picks the route for each question from about 15 cheap features.</a:t>
            </a:r>
            <a:endParaRPr lang="en-US" sz="1200" dirty="0"/>
          </a:p>
        </p:txBody>
      </p:sp>
      <p:sp>
        <p:nvSpPr>
          <p:cNvPr id="23" name="Shape 19"/>
          <p:cNvSpPr/>
          <p:nvPr/>
        </p:nvSpPr>
        <p:spPr>
          <a:xfrm>
            <a:off x="4617720" y="2011680"/>
            <a:ext cx="4251960" cy="1280160"/>
          </a:xfrm>
          <a:prstGeom prst="roundRect">
            <a:avLst>
              <a:gd name="adj" fmla="val 4286"/>
            </a:avLst>
          </a:prstGeom>
          <a:solidFill>
            <a:srgbClr val="F3F4F6"/>
          </a:solidFill>
          <a:ln w="6350">
            <a:solidFill>
              <a:srgbClr val="D1D5DB"/>
            </a:solidFill>
            <a:prstDash val="solid"/>
          </a:ln>
        </p:spPr>
      </p:sp>
      <p:sp>
        <p:nvSpPr>
          <p:cNvPr id="24" name="Shape 20"/>
          <p:cNvSpPr/>
          <p:nvPr/>
        </p:nvSpPr>
        <p:spPr>
          <a:xfrm>
            <a:off x="4754880" y="2194560"/>
            <a:ext cx="502920" cy="502920"/>
          </a:xfrm>
          <a:prstGeom prst="ellipse">
            <a:avLst/>
          </a:prstGeom>
          <a:solidFill>
            <a:srgbClr val="0D2349"/>
          </a:solidFill>
          <a:ln w="12700">
            <a:solidFill>
              <a:srgbClr val="0D2349"/>
            </a:solidFill>
            <a:prstDash val="solid"/>
          </a:ln>
        </p:spPr>
      </p:sp>
      <p:sp>
        <p:nvSpPr>
          <p:cNvPr id="25" name="Text 21"/>
          <p:cNvSpPr txBox="1"/>
          <p:nvPr/>
        </p:nvSpPr>
        <p:spPr>
          <a:xfrm>
            <a:off x="4754880" y="219456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O4</a:t>
            </a:r>
            <a:endParaRPr lang="en-US" sz="1300" dirty="0"/>
          </a:p>
        </p:txBody>
      </p:sp>
      <p:sp>
        <p:nvSpPr>
          <p:cNvPr id="26" name="Text 22"/>
          <p:cNvSpPr txBox="1"/>
          <p:nvPr/>
        </p:nvSpPr>
        <p:spPr>
          <a:xfrm>
            <a:off x="5394960" y="2194560"/>
            <a:ext cx="3337560" cy="310896"/>
          </a:xfrm>
          <a:prstGeom prst="rect">
            <a:avLst/>
          </a:prstGeom>
          <a:noFill/>
          <a:ln/>
        </p:spPr>
        <p:txBody>
          <a:bodyPr wrap="square" lIns="0" tIns="0" rIns="0" bIns="0" rtlCol="0" anchor="t"/>
          <a:lstStyle/>
          <a:p>
            <a:pPr indent="0" marL="0">
              <a:buNone/>
            </a:pPr>
            <a:r>
              <a:rPr lang="en-US" sz="1400" b="1" dirty="0">
                <a:solidFill>
                  <a:srgbClr val="0D2349"/>
                </a:solidFill>
                <a:latin typeface="Calibri" pitchFamily="34" charset="0"/>
                <a:ea typeface="Calibri" pitchFamily="34" charset="-122"/>
                <a:cs typeface="Calibri" pitchFamily="34" charset="-120"/>
              </a:rPr>
              <a:t>Evidence gate + claim verification</a:t>
            </a:r>
            <a:endParaRPr lang="en-US" sz="1400" dirty="0"/>
          </a:p>
        </p:txBody>
      </p:sp>
      <p:sp>
        <p:nvSpPr>
          <p:cNvPr id="27" name="Text 23"/>
          <p:cNvSpPr txBox="1"/>
          <p:nvPr/>
        </p:nvSpPr>
        <p:spPr>
          <a:xfrm>
            <a:off x="5394960" y="2560320"/>
            <a:ext cx="3337560" cy="640080"/>
          </a:xfrm>
          <a:prstGeom prst="rect">
            <a:avLst/>
          </a:prstGeom>
          <a:noFill/>
          <a:ln/>
        </p:spPr>
        <p:txBody>
          <a:bodyPr wrap="square" lIns="0" tIns="0" rIns="0" bIns="0" rtlCol="0" anchor="t"/>
          <a:lstStyle/>
          <a:p>
            <a:pPr indent="0" marL="0">
              <a:buNone/>
            </a:pPr>
            <a:r>
              <a:rPr lang="en-US" sz="1200" dirty="0">
                <a:solidFill>
                  <a:srgbClr val="111827"/>
                </a:solidFill>
                <a:latin typeface="Calibri" pitchFamily="34" charset="0"/>
                <a:ea typeface="Calibri" pitchFamily="34" charset="-122"/>
                <a:cs typeface="Calibri" pitchFamily="34" charset="-120"/>
              </a:rPr>
              <a:t>Cut unsupported sentences; abstain when the evidence is thin.</a:t>
            </a:r>
            <a:endParaRPr lang="en-US" sz="1200" dirty="0"/>
          </a:p>
        </p:txBody>
      </p:sp>
      <p:sp>
        <p:nvSpPr>
          <p:cNvPr id="28" name="Shape 24"/>
          <p:cNvSpPr/>
          <p:nvPr/>
        </p:nvSpPr>
        <p:spPr>
          <a:xfrm>
            <a:off x="274320" y="3401568"/>
            <a:ext cx="4251960" cy="1280160"/>
          </a:xfrm>
          <a:prstGeom prst="roundRect">
            <a:avLst>
              <a:gd name="adj" fmla="val 4286"/>
            </a:avLst>
          </a:prstGeom>
          <a:solidFill>
            <a:srgbClr val="F3F4F6"/>
          </a:solidFill>
          <a:ln w="6350">
            <a:solidFill>
              <a:srgbClr val="D1D5DB"/>
            </a:solidFill>
            <a:prstDash val="solid"/>
          </a:ln>
        </p:spPr>
      </p:sp>
      <p:sp>
        <p:nvSpPr>
          <p:cNvPr id="29" name="Shape 25"/>
          <p:cNvSpPr/>
          <p:nvPr/>
        </p:nvSpPr>
        <p:spPr>
          <a:xfrm>
            <a:off x="411480" y="3584448"/>
            <a:ext cx="502920" cy="502920"/>
          </a:xfrm>
          <a:prstGeom prst="ellipse">
            <a:avLst/>
          </a:prstGeom>
          <a:solidFill>
            <a:srgbClr val="0D2349"/>
          </a:solidFill>
          <a:ln w="12700">
            <a:solidFill>
              <a:srgbClr val="0D2349"/>
            </a:solidFill>
            <a:prstDash val="solid"/>
          </a:ln>
        </p:spPr>
      </p:sp>
      <p:sp>
        <p:nvSpPr>
          <p:cNvPr id="30" name="Text 26"/>
          <p:cNvSpPr txBox="1"/>
          <p:nvPr/>
        </p:nvSpPr>
        <p:spPr>
          <a:xfrm>
            <a:off x="411480" y="3584448"/>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O5</a:t>
            </a:r>
            <a:endParaRPr lang="en-US" sz="1300" dirty="0"/>
          </a:p>
        </p:txBody>
      </p:sp>
      <p:sp>
        <p:nvSpPr>
          <p:cNvPr id="31" name="Text 27"/>
          <p:cNvSpPr txBox="1"/>
          <p:nvPr/>
        </p:nvSpPr>
        <p:spPr>
          <a:xfrm>
            <a:off x="1051560" y="3584448"/>
            <a:ext cx="3337560" cy="310896"/>
          </a:xfrm>
          <a:prstGeom prst="rect">
            <a:avLst/>
          </a:prstGeom>
          <a:noFill/>
          <a:ln/>
        </p:spPr>
        <p:txBody>
          <a:bodyPr wrap="square" lIns="0" tIns="0" rIns="0" bIns="0" rtlCol="0" anchor="t"/>
          <a:lstStyle/>
          <a:p>
            <a:pPr indent="0" marL="0">
              <a:buNone/>
            </a:pPr>
            <a:r>
              <a:rPr lang="en-US" sz="1400" b="1" dirty="0">
                <a:solidFill>
                  <a:srgbClr val="0D2349"/>
                </a:solidFill>
                <a:latin typeface="Calibri" pitchFamily="34" charset="0"/>
                <a:ea typeface="Calibri" pitchFamily="34" charset="-122"/>
                <a:cs typeface="Calibri" pitchFamily="34" charset="-120"/>
              </a:rPr>
              <a:t>Script-faithful answering</a:t>
            </a:r>
            <a:endParaRPr lang="en-US" sz="1400" dirty="0"/>
          </a:p>
        </p:txBody>
      </p:sp>
      <p:sp>
        <p:nvSpPr>
          <p:cNvPr id="32" name="Text 28"/>
          <p:cNvSpPr txBox="1"/>
          <p:nvPr/>
        </p:nvSpPr>
        <p:spPr>
          <a:xfrm>
            <a:off x="1051560" y="3950208"/>
            <a:ext cx="3337560" cy="640080"/>
          </a:xfrm>
          <a:prstGeom prst="rect">
            <a:avLst/>
          </a:prstGeom>
          <a:noFill/>
          <a:ln/>
        </p:spPr>
        <p:txBody>
          <a:bodyPr wrap="square" lIns="0" tIns="0" rIns="0" bIns="0" rtlCol="0" anchor="t"/>
          <a:lstStyle/>
          <a:p>
            <a:pPr indent="0" marL="0">
              <a:buNone/>
            </a:pPr>
            <a:r>
              <a:rPr lang="en-US" sz="1200" dirty="0">
                <a:solidFill>
                  <a:srgbClr val="111827"/>
                </a:solidFill>
                <a:latin typeface="Calibri" pitchFamily="34" charset="0"/>
                <a:ea typeface="Calibri" pitchFamily="34" charset="-122"/>
                <a:cs typeface="Calibri" pitchFamily="34" charset="-120"/>
              </a:rPr>
              <a:t>Romanized in, romanized out; Devanagari and code-mixed input handled.</a:t>
            </a:r>
            <a:endParaRPr lang="en-US" sz="1200" dirty="0"/>
          </a:p>
        </p:txBody>
      </p:sp>
      <p:sp>
        <p:nvSpPr>
          <p:cNvPr id="33" name="Shape 29"/>
          <p:cNvSpPr/>
          <p:nvPr/>
        </p:nvSpPr>
        <p:spPr>
          <a:xfrm>
            <a:off x="4617720" y="3401568"/>
            <a:ext cx="4251960" cy="1280160"/>
          </a:xfrm>
          <a:prstGeom prst="roundRect">
            <a:avLst>
              <a:gd name="adj" fmla="val 4286"/>
            </a:avLst>
          </a:prstGeom>
          <a:solidFill>
            <a:srgbClr val="DBEAFE"/>
          </a:solidFill>
          <a:ln w="6350">
            <a:solidFill>
              <a:srgbClr val="D1D5DB"/>
            </a:solidFill>
            <a:prstDash val="solid"/>
          </a:ln>
        </p:spPr>
      </p:sp>
      <p:sp>
        <p:nvSpPr>
          <p:cNvPr id="34" name="Shape 30"/>
          <p:cNvSpPr/>
          <p:nvPr/>
        </p:nvSpPr>
        <p:spPr>
          <a:xfrm>
            <a:off x="4754880" y="3584448"/>
            <a:ext cx="502920" cy="502920"/>
          </a:xfrm>
          <a:prstGeom prst="ellipse">
            <a:avLst/>
          </a:prstGeom>
          <a:solidFill>
            <a:srgbClr val="0D2349"/>
          </a:solidFill>
          <a:ln w="12700">
            <a:solidFill>
              <a:srgbClr val="0D2349"/>
            </a:solidFill>
            <a:prstDash val="solid"/>
          </a:ln>
        </p:spPr>
      </p:sp>
      <p:sp>
        <p:nvSpPr>
          <p:cNvPr id="35" name="Text 31"/>
          <p:cNvSpPr txBox="1"/>
          <p:nvPr/>
        </p:nvSpPr>
        <p:spPr>
          <a:xfrm>
            <a:off x="4754880" y="3584448"/>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O6</a:t>
            </a:r>
            <a:endParaRPr lang="en-US" sz="1300" dirty="0"/>
          </a:p>
        </p:txBody>
      </p:sp>
      <p:sp>
        <p:nvSpPr>
          <p:cNvPr id="36" name="Text 32"/>
          <p:cNvSpPr txBox="1"/>
          <p:nvPr/>
        </p:nvSpPr>
        <p:spPr>
          <a:xfrm>
            <a:off x="5394960" y="3584448"/>
            <a:ext cx="3337560" cy="310896"/>
          </a:xfrm>
          <a:prstGeom prst="rect">
            <a:avLst/>
          </a:prstGeom>
          <a:noFill/>
          <a:ln/>
        </p:spPr>
        <p:txBody>
          <a:bodyPr wrap="square" lIns="0" tIns="0" rIns="0" bIns="0" rtlCol="0" anchor="t"/>
          <a:lstStyle/>
          <a:p>
            <a:pPr indent="0" marL="0">
              <a:buNone/>
            </a:pPr>
            <a:r>
              <a:rPr lang="en-US" sz="1400" b="1" dirty="0">
                <a:solidFill>
                  <a:srgbClr val="0D2349"/>
                </a:solidFill>
                <a:latin typeface="Calibri" pitchFamily="34" charset="0"/>
                <a:ea typeface="Calibri" pitchFamily="34" charset="-122"/>
                <a:cs typeface="Calibri" pitchFamily="34" charset="-120"/>
              </a:rPr>
              <a:t>Sakshya-Bench</a:t>
            </a:r>
            <a:endParaRPr lang="en-US" sz="1400" dirty="0"/>
          </a:p>
        </p:txBody>
      </p:sp>
      <p:sp>
        <p:nvSpPr>
          <p:cNvPr id="37" name="Text 33"/>
          <p:cNvSpPr txBox="1"/>
          <p:nvPr/>
        </p:nvSpPr>
        <p:spPr>
          <a:xfrm>
            <a:off x="5394960" y="3950208"/>
            <a:ext cx="3337560" cy="640080"/>
          </a:xfrm>
          <a:prstGeom prst="rect">
            <a:avLst/>
          </a:prstGeom>
          <a:noFill/>
          <a:ln/>
        </p:spPr>
        <p:txBody>
          <a:bodyPr wrap="square" lIns="0" tIns="0" rIns="0" bIns="0" rtlCol="0" anchor="t"/>
          <a:lstStyle/>
          <a:p>
            <a:pPr indent="0" marL="0">
              <a:buNone/>
            </a:pPr>
            <a:r>
              <a:rPr lang="en-US" sz="1200" dirty="0">
                <a:solidFill>
                  <a:srgbClr val="111827"/>
                </a:solidFill>
                <a:latin typeface="Calibri" pitchFamily="34" charset="0"/>
                <a:ea typeface="Calibri" pitchFamily="34" charset="-122"/>
                <a:cs typeface="Calibri" pitchFamily="34" charset="-120"/>
              </a:rPr>
              <a:t>~60 public documents, ~400 human-checked questions with gold pages and unanswerable cases.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D2349"/>
          </a:solidFill>
          <a:ln w="12700">
            <a:solidFill>
              <a:srgbClr val="0D2349"/>
            </a:solidFill>
            <a:prstDash val="solid"/>
          </a:ln>
        </p:spPr>
      </p:sp>
      <p:sp>
        <p:nvSpPr>
          <p:cNvPr id="3" name="Text 1"/>
          <p:cNvSpPr txBox="1"/>
          <p:nvPr/>
        </p:nvSpPr>
        <p:spPr>
          <a:xfrm>
            <a:off x="274320" y="0"/>
            <a:ext cx="7863840"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Research Questions &amp; Hypotheses</a:t>
            </a:r>
            <a:endParaRPr lang="en-US" sz="1900" dirty="0"/>
          </a:p>
        </p:txBody>
      </p:sp>
      <p:pic>
        <p:nvPicPr>
          <p:cNvPr id="4" name="Image 0" descr="MMCOE logo">    </p:cNvPr>
          <p:cNvPicPr>
            <a:picLocks noChangeAspect="1"/>
          </p:cNvPicPr>
          <p:nvPr/>
        </p:nvPicPr>
        <p:blipFill>
          <a:blip r:embed="rId1"/>
          <a:stretch>
            <a:fillRect/>
          </a:stretch>
        </p:blipFill>
        <p:spPr>
          <a:xfrm>
            <a:off x="8531352" y="36576"/>
            <a:ext cx="320040" cy="384048"/>
          </a:xfrm>
          <a:prstGeom prst="rect">
            <a:avLst/>
          </a:prstGeom>
        </p:spPr>
      </p:pic>
      <p:sp>
        <p:nvSpPr>
          <p:cNvPr id="5" name="Text 2"/>
          <p:cNvSpPr txBox="1"/>
          <p:nvPr/>
        </p:nvSpPr>
        <p:spPr>
          <a:xfrm>
            <a:off x="274320" y="4882896"/>
            <a:ext cx="7680960" cy="201168"/>
          </a:xfrm>
          <a:prstGeom prst="rect">
            <a:avLst/>
          </a:prstGeom>
          <a:noFill/>
          <a:ln/>
        </p:spPr>
        <p:txBody>
          <a:bodyPr wrap="square" lIns="0" tIns="0" rIns="0" bIns="0" rtlCol="0" anchor="ctr"/>
          <a:lstStyle/>
          <a:p>
            <a:pPr indent="0" marL="0">
              <a:buNone/>
            </a:pPr>
            <a:r>
              <a:rPr lang="en-US" sz="700" dirty="0">
                <a:solidFill>
                  <a:srgbClr val="9CA3AF"/>
                </a:solidFill>
                <a:latin typeface="Calibri" pitchFamily="34" charset="0"/>
                <a:ea typeface="Calibri" pitchFamily="34" charset="-122"/>
                <a:cs typeface="Calibri" pitchFamily="34" charset="-120"/>
              </a:rPr>
              <a:t>Sakshya · Multilingual Document Intelligence (RAG)  |  BE Project Review 2  |  MMCOE Pune</a:t>
            </a:r>
            <a:endParaRPr lang="en-US" sz="700" dirty="0"/>
          </a:p>
        </p:txBody>
      </p:sp>
      <p:sp>
        <p:nvSpPr>
          <p:cNvPr id="6" name="Text 3"/>
          <p:cNvSpPr txBox="1"/>
          <p:nvPr/>
        </p:nvSpPr>
        <p:spPr>
          <a:xfrm>
            <a:off x="8412480" y="4882896"/>
            <a:ext cx="457200" cy="201168"/>
          </a:xfrm>
          <a:prstGeom prst="rect">
            <a:avLst/>
          </a:prstGeom>
          <a:noFill/>
          <a:ln/>
        </p:spPr>
        <p:txBody>
          <a:bodyPr wrap="square" lIns="0" tIns="0" rIns="0" bIns="0" rtlCol="0" anchor="ctr"/>
          <a:lstStyle/>
          <a:p>
            <a:pPr algn="r" indent="0" marL="0">
              <a:buNone/>
            </a:pPr>
            <a:r>
              <a:rPr lang="en-US" sz="700" dirty="0">
                <a:solidFill>
                  <a:srgbClr val="9CA3AF"/>
                </a:solidFill>
                <a:latin typeface="Calibri" pitchFamily="34" charset="0"/>
                <a:ea typeface="Calibri" pitchFamily="34" charset="-122"/>
                <a:cs typeface="Calibri" pitchFamily="34" charset="-120"/>
              </a:rPr>
              <a:t>6</a:t>
            </a:r>
            <a:endParaRPr lang="en-US" sz="700" dirty="0"/>
          </a:p>
        </p:txBody>
      </p:sp>
      <p:sp>
        <p:nvSpPr>
          <p:cNvPr id="8" name="Shape 4"/>
          <p:cNvSpPr/>
          <p:nvPr/>
        </p:nvSpPr>
        <p:spPr>
          <a:xfrm>
            <a:off x="274320" y="585216"/>
            <a:ext cx="2075688" cy="841248"/>
          </a:xfrm>
          <a:prstGeom prst="roundRect">
            <a:avLst>
              <a:gd name="adj" fmla="val 6522"/>
            </a:avLst>
          </a:prstGeom>
          <a:solidFill>
            <a:srgbClr val="DBEAFE"/>
          </a:solidFill>
          <a:ln w="12700">
            <a:solidFill>
              <a:srgbClr val="DBEAFE"/>
            </a:solidFill>
            <a:prstDash val="solid"/>
          </a:ln>
        </p:spPr>
      </p:sp>
      <p:sp>
        <p:nvSpPr>
          <p:cNvPr id="9" name="Text 5"/>
          <p:cNvSpPr txBox="1"/>
          <p:nvPr/>
        </p:nvSpPr>
        <p:spPr>
          <a:xfrm>
            <a:off x="365760" y="621792"/>
            <a:ext cx="1892808" cy="201168"/>
          </a:xfrm>
          <a:prstGeom prst="rect">
            <a:avLst/>
          </a:prstGeom>
          <a:noFill/>
          <a:ln/>
        </p:spPr>
        <p:txBody>
          <a:bodyPr wrap="square" lIns="0" tIns="0" rIns="0" bIns="0" rtlCol="0" anchor="t"/>
          <a:lstStyle/>
          <a:p>
            <a:pPr indent="0" marL="0">
              <a:buNone/>
            </a:pPr>
            <a:r>
              <a:rPr lang="en-US" sz="1050" b="1" dirty="0">
                <a:solidFill>
                  <a:srgbClr val="0D2349"/>
                </a:solidFill>
                <a:latin typeface="Calibri" pitchFamily="34" charset="0"/>
                <a:ea typeface="Calibri" pitchFamily="34" charset="-122"/>
                <a:cs typeface="Calibri" pitchFamily="34" charset="-120"/>
              </a:rPr>
              <a:t>RQ1</a:t>
            </a:r>
            <a:endParaRPr lang="en-US" sz="1050" dirty="0"/>
          </a:p>
        </p:txBody>
      </p:sp>
      <p:sp>
        <p:nvSpPr>
          <p:cNvPr id="10" name="Text 6"/>
          <p:cNvSpPr txBox="1"/>
          <p:nvPr/>
        </p:nvSpPr>
        <p:spPr>
          <a:xfrm>
            <a:off x="365760" y="822960"/>
            <a:ext cx="1892808" cy="566928"/>
          </a:xfrm>
          <a:prstGeom prst="rect">
            <a:avLst/>
          </a:prstGeom>
          <a:noFill/>
          <a:ln/>
        </p:spPr>
        <p:txBody>
          <a:bodyPr wrap="square" lIns="0" tIns="0" rIns="0" bIns="0" rtlCol="0" anchor="t"/>
          <a:lstStyle/>
          <a:p>
            <a:pPr indent="0" marL="0">
              <a:buNone/>
            </a:pPr>
            <a:r>
              <a:rPr lang="en-US" sz="850" dirty="0">
                <a:solidFill>
                  <a:srgbClr val="111827"/>
                </a:solidFill>
                <a:latin typeface="Calibri" pitchFamily="34" charset="0"/>
                <a:ea typeface="Calibri" pitchFamily="34" charset="-122"/>
                <a:cs typeface="Calibri" pitchFamily="34" charset="-120"/>
              </a:rPr>
              <a:t>Which retrieval strategy gives the best quality and cost per language and document type?</a:t>
            </a:r>
            <a:endParaRPr lang="en-US" sz="850" dirty="0"/>
          </a:p>
        </p:txBody>
      </p:sp>
      <p:sp>
        <p:nvSpPr>
          <p:cNvPr id="11" name="Shape 7"/>
          <p:cNvSpPr/>
          <p:nvPr/>
        </p:nvSpPr>
        <p:spPr>
          <a:xfrm>
            <a:off x="2441448" y="585216"/>
            <a:ext cx="2075688" cy="841248"/>
          </a:xfrm>
          <a:prstGeom prst="roundRect">
            <a:avLst>
              <a:gd name="adj" fmla="val 6522"/>
            </a:avLst>
          </a:prstGeom>
          <a:solidFill>
            <a:srgbClr val="DBEAFE"/>
          </a:solidFill>
          <a:ln w="12700">
            <a:solidFill>
              <a:srgbClr val="DBEAFE"/>
            </a:solidFill>
            <a:prstDash val="solid"/>
          </a:ln>
        </p:spPr>
      </p:sp>
      <p:sp>
        <p:nvSpPr>
          <p:cNvPr id="12" name="Text 8"/>
          <p:cNvSpPr txBox="1"/>
          <p:nvPr/>
        </p:nvSpPr>
        <p:spPr>
          <a:xfrm>
            <a:off x="2532888" y="621792"/>
            <a:ext cx="1892808" cy="201168"/>
          </a:xfrm>
          <a:prstGeom prst="rect">
            <a:avLst/>
          </a:prstGeom>
          <a:noFill/>
          <a:ln/>
        </p:spPr>
        <p:txBody>
          <a:bodyPr wrap="square" lIns="0" tIns="0" rIns="0" bIns="0" rtlCol="0" anchor="t"/>
          <a:lstStyle/>
          <a:p>
            <a:pPr indent="0" marL="0">
              <a:buNone/>
            </a:pPr>
            <a:r>
              <a:rPr lang="en-US" sz="1050" b="1" dirty="0">
                <a:solidFill>
                  <a:srgbClr val="0D2349"/>
                </a:solidFill>
                <a:latin typeface="Calibri" pitchFamily="34" charset="0"/>
                <a:ea typeface="Calibri" pitchFamily="34" charset="-122"/>
                <a:cs typeface="Calibri" pitchFamily="34" charset="-120"/>
              </a:rPr>
              <a:t>RQ2</a:t>
            </a:r>
            <a:endParaRPr lang="en-US" sz="1050" dirty="0"/>
          </a:p>
        </p:txBody>
      </p:sp>
      <p:sp>
        <p:nvSpPr>
          <p:cNvPr id="13" name="Text 9"/>
          <p:cNvSpPr txBox="1"/>
          <p:nvPr/>
        </p:nvSpPr>
        <p:spPr>
          <a:xfrm>
            <a:off x="2532888" y="822960"/>
            <a:ext cx="1892808" cy="566928"/>
          </a:xfrm>
          <a:prstGeom prst="rect">
            <a:avLst/>
          </a:prstGeom>
          <a:noFill/>
          <a:ln/>
        </p:spPr>
        <p:txBody>
          <a:bodyPr wrap="square" lIns="0" tIns="0" rIns="0" bIns="0" rtlCol="0" anchor="t"/>
          <a:lstStyle/>
          <a:p>
            <a:pPr indent="0" marL="0">
              <a:buNone/>
            </a:pPr>
            <a:r>
              <a:rPr lang="en-US" sz="850" dirty="0">
                <a:solidFill>
                  <a:srgbClr val="111827"/>
                </a:solidFill>
                <a:latin typeface="Calibri" pitchFamily="34" charset="0"/>
                <a:ea typeface="Calibri" pitchFamily="34" charset="-122"/>
                <a:cs typeface="Calibri" pitchFamily="34" charset="-120"/>
              </a:rPr>
              <a:t>Does hybrid retrieval with reranking improve page-cited faithfulness?</a:t>
            </a:r>
            <a:endParaRPr lang="en-US" sz="850" dirty="0"/>
          </a:p>
        </p:txBody>
      </p:sp>
      <p:sp>
        <p:nvSpPr>
          <p:cNvPr id="14" name="Shape 10"/>
          <p:cNvSpPr/>
          <p:nvPr/>
        </p:nvSpPr>
        <p:spPr>
          <a:xfrm>
            <a:off x="4608576" y="585216"/>
            <a:ext cx="2075688" cy="841248"/>
          </a:xfrm>
          <a:prstGeom prst="roundRect">
            <a:avLst>
              <a:gd name="adj" fmla="val 6522"/>
            </a:avLst>
          </a:prstGeom>
          <a:solidFill>
            <a:srgbClr val="DBEAFE"/>
          </a:solidFill>
          <a:ln w="12700">
            <a:solidFill>
              <a:srgbClr val="DBEAFE"/>
            </a:solidFill>
            <a:prstDash val="solid"/>
          </a:ln>
        </p:spPr>
      </p:sp>
      <p:sp>
        <p:nvSpPr>
          <p:cNvPr id="15" name="Text 11"/>
          <p:cNvSpPr txBox="1"/>
          <p:nvPr/>
        </p:nvSpPr>
        <p:spPr>
          <a:xfrm>
            <a:off x="4700016" y="621792"/>
            <a:ext cx="1892808" cy="201168"/>
          </a:xfrm>
          <a:prstGeom prst="rect">
            <a:avLst/>
          </a:prstGeom>
          <a:noFill/>
          <a:ln/>
        </p:spPr>
        <p:txBody>
          <a:bodyPr wrap="square" lIns="0" tIns="0" rIns="0" bIns="0" rtlCol="0" anchor="t"/>
          <a:lstStyle/>
          <a:p>
            <a:pPr indent="0" marL="0">
              <a:buNone/>
            </a:pPr>
            <a:r>
              <a:rPr lang="en-US" sz="1050" b="1" dirty="0">
                <a:solidFill>
                  <a:srgbClr val="0D2349"/>
                </a:solidFill>
                <a:latin typeface="Calibri" pitchFamily="34" charset="0"/>
                <a:ea typeface="Calibri" pitchFamily="34" charset="-122"/>
                <a:cs typeface="Calibri" pitchFamily="34" charset="-120"/>
              </a:rPr>
              <a:t>RQ3</a:t>
            </a:r>
            <a:endParaRPr lang="en-US" sz="1050" dirty="0"/>
          </a:p>
        </p:txBody>
      </p:sp>
      <p:sp>
        <p:nvSpPr>
          <p:cNvPr id="16" name="Text 12"/>
          <p:cNvSpPr txBox="1"/>
          <p:nvPr/>
        </p:nvSpPr>
        <p:spPr>
          <a:xfrm>
            <a:off x="4700016" y="822960"/>
            <a:ext cx="1892808" cy="566928"/>
          </a:xfrm>
          <a:prstGeom prst="rect">
            <a:avLst/>
          </a:prstGeom>
          <a:noFill/>
          <a:ln/>
        </p:spPr>
        <p:txBody>
          <a:bodyPr wrap="square" lIns="0" tIns="0" rIns="0" bIns="0" rtlCol="0" anchor="t"/>
          <a:lstStyle/>
          <a:p>
            <a:pPr indent="0" marL="0">
              <a:buNone/>
            </a:pPr>
            <a:r>
              <a:rPr lang="en-US" sz="850" dirty="0">
                <a:solidFill>
                  <a:srgbClr val="111827"/>
                </a:solidFill>
                <a:latin typeface="Calibri" pitchFamily="34" charset="0"/>
                <a:ea typeface="Calibri" pitchFamily="34" charset="-122"/>
                <a:cs typeface="Calibri" pitchFamily="34" charset="-120"/>
              </a:rPr>
              <a:t>Can evidence-sufficiency checks cut unsupported answers without unacceptable latency?</a:t>
            </a:r>
            <a:endParaRPr lang="en-US" sz="850" dirty="0"/>
          </a:p>
        </p:txBody>
      </p:sp>
      <p:sp>
        <p:nvSpPr>
          <p:cNvPr id="17" name="Shape 13"/>
          <p:cNvSpPr/>
          <p:nvPr/>
        </p:nvSpPr>
        <p:spPr>
          <a:xfrm>
            <a:off x="6775704" y="585216"/>
            <a:ext cx="2075688" cy="841248"/>
          </a:xfrm>
          <a:prstGeom prst="roundRect">
            <a:avLst>
              <a:gd name="adj" fmla="val 6522"/>
            </a:avLst>
          </a:prstGeom>
          <a:solidFill>
            <a:srgbClr val="DBEAFE"/>
          </a:solidFill>
          <a:ln w="12700">
            <a:solidFill>
              <a:srgbClr val="DBEAFE"/>
            </a:solidFill>
            <a:prstDash val="solid"/>
          </a:ln>
        </p:spPr>
      </p:sp>
      <p:sp>
        <p:nvSpPr>
          <p:cNvPr id="18" name="Text 14"/>
          <p:cNvSpPr txBox="1"/>
          <p:nvPr/>
        </p:nvSpPr>
        <p:spPr>
          <a:xfrm>
            <a:off x="6867144" y="621792"/>
            <a:ext cx="1892808" cy="201168"/>
          </a:xfrm>
          <a:prstGeom prst="rect">
            <a:avLst/>
          </a:prstGeom>
          <a:noFill/>
          <a:ln/>
        </p:spPr>
        <p:txBody>
          <a:bodyPr wrap="square" lIns="0" tIns="0" rIns="0" bIns="0" rtlCol="0" anchor="t"/>
          <a:lstStyle/>
          <a:p>
            <a:pPr indent="0" marL="0">
              <a:buNone/>
            </a:pPr>
            <a:r>
              <a:rPr lang="en-US" sz="1050" b="1" dirty="0">
                <a:solidFill>
                  <a:srgbClr val="0D2349"/>
                </a:solidFill>
                <a:latin typeface="Calibri" pitchFamily="34" charset="0"/>
                <a:ea typeface="Calibri" pitchFamily="34" charset="-122"/>
                <a:cs typeface="Calibri" pitchFamily="34" charset="-120"/>
              </a:rPr>
              <a:t>RQ4</a:t>
            </a:r>
            <a:endParaRPr lang="en-US" sz="1050" dirty="0"/>
          </a:p>
        </p:txBody>
      </p:sp>
      <p:sp>
        <p:nvSpPr>
          <p:cNvPr id="19" name="Text 15"/>
          <p:cNvSpPr txBox="1"/>
          <p:nvPr/>
        </p:nvSpPr>
        <p:spPr>
          <a:xfrm>
            <a:off x="6867144" y="822960"/>
            <a:ext cx="1892808" cy="566928"/>
          </a:xfrm>
          <a:prstGeom prst="rect">
            <a:avLst/>
          </a:prstGeom>
          <a:noFill/>
          <a:ln/>
        </p:spPr>
        <p:txBody>
          <a:bodyPr wrap="square" lIns="0" tIns="0" rIns="0" bIns="0" rtlCol="0" anchor="t"/>
          <a:lstStyle/>
          <a:p>
            <a:pPr indent="0" marL="0">
              <a:buNone/>
            </a:pPr>
            <a:r>
              <a:rPr lang="en-US" sz="850" dirty="0">
                <a:solidFill>
                  <a:srgbClr val="111827"/>
                </a:solidFill>
                <a:latin typeface="Calibri" pitchFamily="34" charset="0"/>
                <a:ea typeface="Calibri" pitchFamily="34" charset="-122"/>
                <a:cs typeface="Calibri" pitchFamily="34" charset="-120"/>
              </a:rPr>
              <a:t>How consistently does the system answer in the requested language?</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1554480"/>
          <a:ext cx="8595360" cy="914400"/>
        </p:xfrm>
        <a:graphic>
          <a:graphicData uri="http://schemas.openxmlformats.org/drawingml/2006/table">
            <a:tbl>
              <a:tblPr/>
              <a:tblGrid>
                <a:gridCol w="365760"/>
                <a:gridCol w="3017520"/>
                <a:gridCol w="960120"/>
                <a:gridCol w="2331720"/>
                <a:gridCol w="1920240"/>
              </a:tblGrid>
              <a:tr h="393192">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ID</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2349"/>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Hypothesis</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2349"/>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Answers</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2349"/>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Measured by</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2349"/>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Compared against</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2349"/>
                    </a:solidFill>
                  </a:tcPr>
                </a:tc>
              </a:tr>
              <a:tr h="393192">
                <a:tc>
                  <a:txBody>
                    <a:bodyPr/>
                    <a:lstStyle/>
                    <a:p>
                      <a:pPr indent="0" marL="0">
                        <a:buNone/>
                      </a:pPr>
                      <a:r>
                        <a:rPr lang="en-US" sz="850" b="1" dirty="0">
                          <a:solidFill>
                            <a:srgbClr val="0D2349"/>
                          </a:solidFill>
                          <a:latin typeface="Calibri" pitchFamily="34" charset="0"/>
                          <a:ea typeface="Calibri" pitchFamily="34" charset="-122"/>
                          <a:cs typeface="Calibri" pitchFamily="34" charset="-120"/>
                        </a:rPr>
                        <a:t>H1</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No single fixed route wins across language × document type × query type</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RQ1</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nDCG@10, Recall@20 per slice; oracle bound</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The 3 fixed routes</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393192">
                <a:tc>
                  <a:txBody>
                    <a:bodyPr/>
                    <a:lstStyle/>
                    <a:p>
                      <a:pPr indent="0" marL="0">
                        <a:buNone/>
                      </a:pPr>
                      <a:r>
                        <a:rPr lang="en-US" sz="850" b="1" dirty="0">
                          <a:solidFill>
                            <a:srgbClr val="0D2349"/>
                          </a:solidFill>
                          <a:latin typeface="Calibri" pitchFamily="34" charset="0"/>
                          <a:ea typeface="Calibri" pitchFamily="34" charset="-122"/>
                          <a:cs typeface="Calibri" pitchFamily="34" charset="-120"/>
                        </a:rPr>
                        <a:t>H2</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The learned router matches or beats the best fixed route at lower cost</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RQ1 · N1</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nDCG@10, ms/query, % sent to translation</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Best fixed route, always-hybrid, rules</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93192">
                <a:tc>
                  <a:txBody>
                    <a:bodyPr/>
                    <a:lstStyle/>
                    <a:p>
                      <a:pPr indent="0" marL="0">
                        <a:buNone/>
                      </a:pPr>
                      <a:r>
                        <a:rPr lang="en-US" sz="850" b="1" dirty="0">
                          <a:solidFill>
                            <a:srgbClr val="0D2349"/>
                          </a:solidFill>
                          <a:latin typeface="Calibri" pitchFamily="34" charset="0"/>
                          <a:ea typeface="Calibri" pitchFamily="34" charset="-122"/>
                          <a:cs typeface="Calibri" pitchFamily="34" charset="-120"/>
                        </a:rPr>
                        <a:t>H3</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Transliteration + digit normalization lift recall on romanized / code-mixed queries</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RQ1 · N2</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Recall@20 on the romanized slice</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Raw query; langdetect handling</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393192">
                <a:tc>
                  <a:txBody>
                    <a:bodyPr/>
                    <a:lstStyle/>
                    <a:p>
                      <a:pPr indent="0" marL="0">
                        <a:buNone/>
                      </a:pPr>
                      <a:r>
                        <a:rPr lang="en-US" sz="850" b="1" dirty="0">
                          <a:solidFill>
                            <a:srgbClr val="0D2349"/>
                          </a:solidFill>
                          <a:latin typeface="Calibri" pitchFamily="34" charset="0"/>
                          <a:ea typeface="Calibri" pitchFamily="34" charset="-122"/>
                          <a:cs typeface="Calibri" pitchFamily="34" charset="-120"/>
                        </a:rPr>
                        <a:t>H4</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OCR-aware fusion keeps recall steadier as scan quality drops</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RQ1 · N3</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Recall@20 by OCR bucket; synthetic 5-30% CER</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No OCR features</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393192">
                <a:tc>
                  <a:txBody>
                    <a:bodyPr/>
                    <a:lstStyle/>
                    <a:p>
                      <a:pPr indent="0" marL="0">
                        <a:buNone/>
                      </a:pPr>
                      <a:r>
                        <a:rPr lang="en-US" sz="850" b="1" dirty="0">
                          <a:solidFill>
                            <a:srgbClr val="0D2349"/>
                          </a:solidFill>
                          <a:latin typeface="Calibri" pitchFamily="34" charset="0"/>
                          <a:ea typeface="Calibri" pitchFamily="34" charset="-122"/>
                          <a:cs typeface="Calibri" pitchFamily="34" charset="-120"/>
                        </a:rPr>
                        <a:t>H5</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Evidence gate + claim checks cut unsupported sentences at modest latency</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RQ2, RQ3 · N4</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Unsupported-claim rate, citation P/R, abstention P/R, AURC, ms</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Prompt-only guard</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393192">
                <a:tc>
                  <a:txBody>
                    <a:bodyPr/>
                    <a:lstStyle/>
                    <a:p>
                      <a:pPr indent="0" marL="0">
                        <a:buNone/>
                      </a:pPr>
                      <a:r>
                        <a:rPr lang="en-US" sz="850" b="1" dirty="0">
                          <a:solidFill>
                            <a:srgbClr val="0D2349"/>
                          </a:solidFill>
                          <a:latin typeface="Calibri" pitchFamily="34" charset="0"/>
                          <a:ea typeface="Calibri" pitchFamily="34" charset="-122"/>
                          <a:cs typeface="Calibri" pitchFamily="34" charset="-120"/>
                        </a:rPr>
                        <a:t>H6</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Script-faithful answering raises language and script match</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RQ4 · N5</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Language + script match; human fluency</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850" dirty="0">
                          <a:solidFill>
                            <a:srgbClr val="111827"/>
                          </a:solidFill>
                          <a:latin typeface="Calibri" pitchFamily="34" charset="0"/>
                          <a:ea typeface="Calibri" pitchFamily="34" charset="-122"/>
                          <a:cs typeface="Calibri" pitchFamily="34" charset="-120"/>
                        </a:rPr>
                        <a:t>No fidelity check</a:t>
                      </a:r>
                      <a:endParaRPr lang="en-US" sz="850" dirty="0">
                        <a:latin typeface="Calibri" charset="0"/>
                        <a:ea typeface="Calibri" charset="0"/>
                        <a:cs typeface="Calibri" charset="0"/>
                      </a:endParaRPr>
                    </a:p>
                  </a:txBody>
                  <a:tcPr marL="50800" marR="508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21" name="Text 16"/>
          <p:cNvSpPr txBox="1"/>
          <p:nvPr/>
        </p:nvSpPr>
        <p:spPr>
          <a:xfrm>
            <a:off x="274320" y="4498848"/>
            <a:ext cx="8595360" cy="274320"/>
          </a:xfrm>
          <a:prstGeom prst="rect">
            <a:avLst/>
          </a:prstGeom>
          <a:noFill/>
          <a:ln/>
        </p:spPr>
        <p:txBody>
          <a:bodyPr wrap="square" lIns="0" tIns="0" rIns="0" bIns="0" rtlCol="0" anchor="ctr"/>
          <a:lstStyle/>
          <a:p>
            <a:pPr indent="0" marL="0">
              <a:buNone/>
            </a:pPr>
            <a:r>
              <a:rPr lang="en-US" sz="900" i="1" dirty="0">
                <a:solidFill>
                  <a:srgbClr val="4B5563"/>
                </a:solidFill>
                <a:latin typeface="Calibri" pitchFamily="34" charset="0"/>
                <a:ea typeface="Calibri" pitchFamily="34" charset="-122"/>
                <a:cs typeface="Calibri" pitchFamily="34" charset="-120"/>
              </a:rPr>
              <a:t>Each hypothesis is reported as supported, not supported or inconclusive, with paired-bootstrap 95% confidence intervals on the frozen test split.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D2349"/>
          </a:solidFill>
          <a:ln w="12700">
            <a:solidFill>
              <a:srgbClr val="0D2349"/>
            </a:solidFill>
            <a:prstDash val="solid"/>
          </a:ln>
        </p:spPr>
      </p:sp>
      <p:sp>
        <p:nvSpPr>
          <p:cNvPr id="3" name="Text 1"/>
          <p:cNvSpPr txBox="1"/>
          <p:nvPr/>
        </p:nvSpPr>
        <p:spPr>
          <a:xfrm>
            <a:off x="274320" y="0"/>
            <a:ext cx="7863840"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Proposed System: Sakshya</a:t>
            </a:r>
            <a:endParaRPr lang="en-US" sz="1900" dirty="0"/>
          </a:p>
        </p:txBody>
      </p:sp>
      <p:pic>
        <p:nvPicPr>
          <p:cNvPr id="4" name="Image 0" descr="MMCOE logo">    </p:cNvPr>
          <p:cNvPicPr>
            <a:picLocks noChangeAspect="1"/>
          </p:cNvPicPr>
          <p:nvPr/>
        </p:nvPicPr>
        <p:blipFill>
          <a:blip r:embed="rId1"/>
          <a:stretch>
            <a:fillRect/>
          </a:stretch>
        </p:blipFill>
        <p:spPr>
          <a:xfrm>
            <a:off x="8531352" y="36576"/>
            <a:ext cx="320040" cy="384048"/>
          </a:xfrm>
          <a:prstGeom prst="rect">
            <a:avLst/>
          </a:prstGeom>
        </p:spPr>
      </p:pic>
      <p:sp>
        <p:nvSpPr>
          <p:cNvPr id="5" name="Text 2"/>
          <p:cNvSpPr txBox="1"/>
          <p:nvPr/>
        </p:nvSpPr>
        <p:spPr>
          <a:xfrm>
            <a:off x="274320" y="4882896"/>
            <a:ext cx="7680960" cy="201168"/>
          </a:xfrm>
          <a:prstGeom prst="rect">
            <a:avLst/>
          </a:prstGeom>
          <a:noFill/>
          <a:ln/>
        </p:spPr>
        <p:txBody>
          <a:bodyPr wrap="square" lIns="0" tIns="0" rIns="0" bIns="0" rtlCol="0" anchor="ctr"/>
          <a:lstStyle/>
          <a:p>
            <a:pPr indent="0" marL="0">
              <a:buNone/>
            </a:pPr>
            <a:r>
              <a:rPr lang="en-US" sz="700" dirty="0">
                <a:solidFill>
                  <a:srgbClr val="9CA3AF"/>
                </a:solidFill>
                <a:latin typeface="Calibri" pitchFamily="34" charset="0"/>
                <a:ea typeface="Calibri" pitchFamily="34" charset="-122"/>
                <a:cs typeface="Calibri" pitchFamily="34" charset="-120"/>
              </a:rPr>
              <a:t>Sakshya · Multilingual Document Intelligence (RAG)  |  BE Project Review 2  |  MMCOE Pune</a:t>
            </a:r>
            <a:endParaRPr lang="en-US" sz="700" dirty="0"/>
          </a:p>
        </p:txBody>
      </p:sp>
      <p:sp>
        <p:nvSpPr>
          <p:cNvPr id="6" name="Text 3"/>
          <p:cNvSpPr txBox="1"/>
          <p:nvPr/>
        </p:nvSpPr>
        <p:spPr>
          <a:xfrm>
            <a:off x="8412480" y="4882896"/>
            <a:ext cx="457200" cy="201168"/>
          </a:xfrm>
          <a:prstGeom prst="rect">
            <a:avLst/>
          </a:prstGeom>
          <a:noFill/>
          <a:ln/>
        </p:spPr>
        <p:txBody>
          <a:bodyPr wrap="square" lIns="0" tIns="0" rIns="0" bIns="0" rtlCol="0" anchor="ctr"/>
          <a:lstStyle/>
          <a:p>
            <a:pPr algn="r" indent="0" marL="0">
              <a:buNone/>
            </a:pPr>
            <a:r>
              <a:rPr lang="en-US" sz="700" dirty="0">
                <a:solidFill>
                  <a:srgbClr val="9CA3AF"/>
                </a:solidFill>
                <a:latin typeface="Calibri" pitchFamily="34" charset="0"/>
                <a:ea typeface="Calibri" pitchFamily="34" charset="-122"/>
                <a:cs typeface="Calibri" pitchFamily="34" charset="-120"/>
              </a:rPr>
              <a:t>7</a:t>
            </a:r>
            <a:endParaRPr lang="en-US" sz="700" dirty="0"/>
          </a:p>
        </p:txBody>
      </p:sp>
      <p:sp>
        <p:nvSpPr>
          <p:cNvPr id="8" name="Shape 4"/>
          <p:cNvSpPr/>
          <p:nvPr/>
        </p:nvSpPr>
        <p:spPr>
          <a:xfrm>
            <a:off x="274320" y="548640"/>
            <a:ext cx="8595360" cy="786384"/>
          </a:xfrm>
          <a:prstGeom prst="roundRect">
            <a:avLst>
              <a:gd name="adj" fmla="val 6977"/>
            </a:avLst>
          </a:prstGeom>
          <a:solidFill>
            <a:srgbClr val="FFFFFF"/>
          </a:solidFill>
          <a:ln w="12700">
            <a:solidFill>
              <a:srgbClr val="D1D5DB"/>
            </a:solidFill>
            <a:prstDash val="solid"/>
          </a:ln>
        </p:spPr>
      </p:sp>
      <p:sp>
        <p:nvSpPr>
          <p:cNvPr id="9" name="Text 5"/>
          <p:cNvSpPr txBox="1"/>
          <p:nvPr/>
        </p:nvSpPr>
        <p:spPr>
          <a:xfrm>
            <a:off x="411480" y="576072"/>
            <a:ext cx="3657600" cy="201168"/>
          </a:xfrm>
          <a:prstGeom prst="rect">
            <a:avLst/>
          </a:prstGeom>
          <a:noFill/>
          <a:ln/>
        </p:spPr>
        <p:txBody>
          <a:bodyPr wrap="square" lIns="0" tIns="0" rIns="0" bIns="0" rtlCol="0" anchor="ctr"/>
          <a:lstStyle/>
          <a:p>
            <a:pPr indent="0" marL="0">
              <a:buNone/>
            </a:pPr>
            <a:r>
              <a:rPr lang="en-US" sz="950" b="1" dirty="0">
                <a:solidFill>
                  <a:srgbClr val="4B5563"/>
                </a:solidFill>
                <a:latin typeface="Calibri" pitchFamily="34" charset="0"/>
                <a:ea typeface="Calibri" pitchFamily="34" charset="-122"/>
                <a:cs typeface="Calibri" pitchFamily="34" charset="-120"/>
              </a:rPr>
              <a:t>Ingest · once per document</a:t>
            </a:r>
            <a:endParaRPr lang="en-US" sz="950" dirty="0"/>
          </a:p>
        </p:txBody>
      </p:sp>
      <p:sp>
        <p:nvSpPr>
          <p:cNvPr id="10" name="Shape 6"/>
          <p:cNvSpPr/>
          <p:nvPr/>
        </p:nvSpPr>
        <p:spPr>
          <a:xfrm>
            <a:off x="274320" y="1426464"/>
            <a:ext cx="8595360" cy="713232"/>
          </a:xfrm>
          <a:prstGeom prst="roundRect">
            <a:avLst>
              <a:gd name="adj" fmla="val 7692"/>
            </a:avLst>
          </a:prstGeom>
          <a:solidFill>
            <a:srgbClr val="FFFFFF"/>
          </a:solidFill>
          <a:ln w="12700">
            <a:solidFill>
              <a:srgbClr val="D1D5DB"/>
            </a:solidFill>
            <a:prstDash val="solid"/>
          </a:ln>
        </p:spPr>
      </p:sp>
      <p:sp>
        <p:nvSpPr>
          <p:cNvPr id="11" name="Text 7"/>
          <p:cNvSpPr txBox="1"/>
          <p:nvPr/>
        </p:nvSpPr>
        <p:spPr>
          <a:xfrm>
            <a:off x="411480" y="1453896"/>
            <a:ext cx="3657600" cy="201168"/>
          </a:xfrm>
          <a:prstGeom prst="rect">
            <a:avLst/>
          </a:prstGeom>
          <a:noFill/>
          <a:ln/>
        </p:spPr>
        <p:txBody>
          <a:bodyPr wrap="square" lIns="0" tIns="0" rIns="0" bIns="0" rtlCol="0" anchor="ctr"/>
          <a:lstStyle/>
          <a:p>
            <a:pPr indent="0" marL="0">
              <a:buNone/>
            </a:pPr>
            <a:r>
              <a:rPr lang="en-US" sz="950" b="1" dirty="0">
                <a:solidFill>
                  <a:srgbClr val="4B5563"/>
                </a:solidFill>
                <a:latin typeface="Calibri" pitchFamily="34" charset="0"/>
                <a:ea typeface="Calibri" pitchFamily="34" charset="-122"/>
                <a:cs typeface="Calibri" pitchFamily="34" charset="-120"/>
              </a:rPr>
              <a:t>Three indexes</a:t>
            </a:r>
            <a:endParaRPr lang="en-US" sz="950" dirty="0"/>
          </a:p>
        </p:txBody>
      </p:sp>
      <p:sp>
        <p:nvSpPr>
          <p:cNvPr id="12" name="Shape 8"/>
          <p:cNvSpPr/>
          <p:nvPr/>
        </p:nvSpPr>
        <p:spPr>
          <a:xfrm>
            <a:off x="274320" y="2231136"/>
            <a:ext cx="8595360" cy="2523744"/>
          </a:xfrm>
          <a:prstGeom prst="roundRect">
            <a:avLst>
              <a:gd name="adj" fmla="val 2174"/>
            </a:avLst>
          </a:prstGeom>
          <a:solidFill>
            <a:srgbClr val="FFFFFF"/>
          </a:solidFill>
          <a:ln w="12700">
            <a:solidFill>
              <a:srgbClr val="D1D5DB"/>
            </a:solidFill>
            <a:prstDash val="solid"/>
          </a:ln>
        </p:spPr>
      </p:sp>
      <p:sp>
        <p:nvSpPr>
          <p:cNvPr id="13" name="Text 9"/>
          <p:cNvSpPr txBox="1"/>
          <p:nvPr/>
        </p:nvSpPr>
        <p:spPr>
          <a:xfrm>
            <a:off x="411480" y="2258568"/>
            <a:ext cx="3657600" cy="201168"/>
          </a:xfrm>
          <a:prstGeom prst="rect">
            <a:avLst/>
          </a:prstGeom>
          <a:noFill/>
          <a:ln/>
        </p:spPr>
        <p:txBody>
          <a:bodyPr wrap="square" lIns="0" tIns="0" rIns="0" bIns="0" rtlCol="0" anchor="ctr"/>
          <a:lstStyle/>
          <a:p>
            <a:pPr indent="0" marL="0">
              <a:buNone/>
            </a:pPr>
            <a:r>
              <a:rPr lang="en-US" sz="950" b="1" dirty="0">
                <a:solidFill>
                  <a:srgbClr val="4B5563"/>
                </a:solidFill>
                <a:latin typeface="Calibri" pitchFamily="34" charset="0"/>
                <a:ea typeface="Calibri" pitchFamily="34" charset="-122"/>
                <a:cs typeface="Calibri" pitchFamily="34" charset="-120"/>
              </a:rPr>
              <a:t>Ask · per question</a:t>
            </a:r>
            <a:endParaRPr lang="en-US" sz="950" dirty="0"/>
          </a:p>
        </p:txBody>
      </p:sp>
      <p:sp>
        <p:nvSpPr>
          <p:cNvPr id="14" name="Shape 10"/>
          <p:cNvSpPr/>
          <p:nvPr/>
        </p:nvSpPr>
        <p:spPr>
          <a:xfrm>
            <a:off x="411480" y="786384"/>
            <a:ext cx="1805940" cy="457200"/>
          </a:xfrm>
          <a:prstGeom prst="roundRect">
            <a:avLst>
              <a:gd name="adj" fmla="val 12000"/>
            </a:avLst>
          </a:prstGeom>
          <a:solidFill>
            <a:srgbClr val="FFFFFF"/>
          </a:solidFill>
          <a:ln w="12700">
            <a:solidFill>
              <a:srgbClr val="6B7280"/>
            </a:solidFill>
            <a:prstDash val="solid"/>
          </a:ln>
        </p:spPr>
      </p:sp>
      <p:sp>
        <p:nvSpPr>
          <p:cNvPr id="15" name="Text 11"/>
          <p:cNvSpPr txBox="1"/>
          <p:nvPr/>
        </p:nvSpPr>
        <p:spPr>
          <a:xfrm>
            <a:off x="411480" y="786384"/>
            <a:ext cx="1805940" cy="457200"/>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Upload</a:t>
            </a:r>
            <a:endParaRPr lang="en-US" sz="1100" dirty="0"/>
          </a:p>
          <a:p>
            <a:pPr algn="ctr" indent="0" marL="0">
              <a:buNone/>
            </a:pPr>
            <a:r>
              <a:rPr lang="en-US" sz="800" dirty="0">
                <a:solidFill>
                  <a:srgbClr val="4B5563"/>
                </a:solidFill>
                <a:latin typeface="Calibri" pitchFamily="34" charset="0"/>
                <a:ea typeface="Calibri" pitchFamily="34" charset="-122"/>
                <a:cs typeface="Calibri" pitchFamily="34" charset="-120"/>
              </a:rPr>
              <a:t>PDF, DOCX, scans</a:t>
            </a:r>
            <a:endParaRPr lang="en-US" sz="1100" dirty="0"/>
          </a:p>
        </p:txBody>
      </p:sp>
      <p:sp>
        <p:nvSpPr>
          <p:cNvPr id="16" name="Shape 12"/>
          <p:cNvSpPr/>
          <p:nvPr/>
        </p:nvSpPr>
        <p:spPr>
          <a:xfrm>
            <a:off x="2583180" y="786384"/>
            <a:ext cx="1805940" cy="457200"/>
          </a:xfrm>
          <a:prstGeom prst="roundRect">
            <a:avLst>
              <a:gd name="adj" fmla="val 12000"/>
            </a:avLst>
          </a:prstGeom>
          <a:solidFill>
            <a:srgbClr val="FFFFFF"/>
          </a:solidFill>
          <a:ln w="12700">
            <a:solidFill>
              <a:srgbClr val="6B7280"/>
            </a:solidFill>
            <a:prstDash val="solid"/>
          </a:ln>
        </p:spPr>
      </p:sp>
      <p:sp>
        <p:nvSpPr>
          <p:cNvPr id="17" name="Text 13"/>
          <p:cNvSpPr txBox="1"/>
          <p:nvPr/>
        </p:nvSpPr>
        <p:spPr>
          <a:xfrm>
            <a:off x="2583180" y="786384"/>
            <a:ext cx="1805940" cy="457200"/>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Parse + OCR</a:t>
            </a:r>
            <a:endParaRPr lang="en-US" sz="1100" dirty="0"/>
          </a:p>
          <a:p>
            <a:pPr algn="ctr" indent="0" marL="0">
              <a:buNone/>
            </a:pPr>
            <a:r>
              <a:rPr lang="en-US" sz="800" dirty="0">
                <a:solidFill>
                  <a:srgbClr val="4B5563"/>
                </a:solidFill>
                <a:latin typeface="Calibri" pitchFamily="34" charset="0"/>
                <a:ea typeface="Calibri" pitchFamily="34" charset="-122"/>
                <a:cs typeface="Calibri" pitchFamily="34" charset="-120"/>
              </a:rPr>
              <a:t>Tesseract hin + mar + eng</a:t>
            </a:r>
            <a:endParaRPr lang="en-US" sz="1100" dirty="0"/>
          </a:p>
        </p:txBody>
      </p:sp>
      <p:sp>
        <p:nvSpPr>
          <p:cNvPr id="18" name="Shape 14"/>
          <p:cNvSpPr/>
          <p:nvPr/>
        </p:nvSpPr>
        <p:spPr>
          <a:xfrm>
            <a:off x="4754880" y="786384"/>
            <a:ext cx="1805940" cy="457200"/>
          </a:xfrm>
          <a:prstGeom prst="roundRect">
            <a:avLst>
              <a:gd name="adj" fmla="val 12000"/>
            </a:avLst>
          </a:prstGeom>
          <a:solidFill>
            <a:srgbClr val="FFFFFF"/>
          </a:solidFill>
          <a:ln w="12700">
            <a:solidFill>
              <a:srgbClr val="6B7280"/>
            </a:solidFill>
            <a:prstDash val="solid"/>
          </a:ln>
        </p:spPr>
      </p:sp>
      <p:sp>
        <p:nvSpPr>
          <p:cNvPr id="19" name="Text 15"/>
          <p:cNvSpPr txBox="1"/>
          <p:nvPr/>
        </p:nvSpPr>
        <p:spPr>
          <a:xfrm>
            <a:off x="4754880" y="786384"/>
            <a:ext cx="1805940" cy="457200"/>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Language ID</a:t>
            </a:r>
            <a:endParaRPr lang="en-US" sz="1100" dirty="0"/>
          </a:p>
          <a:p>
            <a:pPr algn="ctr" indent="0" marL="0">
              <a:buNone/>
            </a:pPr>
            <a:r>
              <a:rPr lang="en-US" sz="800" dirty="0">
                <a:solidFill>
                  <a:srgbClr val="4B5563"/>
                </a:solidFill>
                <a:latin typeface="Calibri" pitchFamily="34" charset="0"/>
                <a:ea typeface="Calibri" pitchFamily="34" charset="-122"/>
                <a:cs typeface="Calibri" pitchFamily="34" charset="-120"/>
              </a:rPr>
              <a:t>IndicLID per block</a:t>
            </a:r>
            <a:endParaRPr lang="en-US" sz="1100" dirty="0"/>
          </a:p>
        </p:txBody>
      </p:sp>
      <p:sp>
        <p:nvSpPr>
          <p:cNvPr id="20" name="Shape 16"/>
          <p:cNvSpPr/>
          <p:nvPr/>
        </p:nvSpPr>
        <p:spPr>
          <a:xfrm>
            <a:off x="6926580" y="786384"/>
            <a:ext cx="1805940" cy="457200"/>
          </a:xfrm>
          <a:prstGeom prst="roundRect">
            <a:avLst>
              <a:gd name="adj" fmla="val 12000"/>
            </a:avLst>
          </a:prstGeom>
          <a:solidFill>
            <a:srgbClr val="FFFFFF"/>
          </a:solidFill>
          <a:ln w="12700">
            <a:solidFill>
              <a:srgbClr val="6B7280"/>
            </a:solidFill>
            <a:prstDash val="solid"/>
          </a:ln>
        </p:spPr>
      </p:sp>
      <p:sp>
        <p:nvSpPr>
          <p:cNvPr id="21" name="Text 17"/>
          <p:cNvSpPr txBox="1"/>
          <p:nvPr/>
        </p:nvSpPr>
        <p:spPr>
          <a:xfrm>
            <a:off x="6926580" y="786384"/>
            <a:ext cx="1805940" cy="457200"/>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Page chunks</a:t>
            </a:r>
            <a:endParaRPr lang="en-US" sz="1100" dirty="0"/>
          </a:p>
          <a:p>
            <a:pPr algn="ctr" indent="0" marL="0">
              <a:buNone/>
            </a:pPr>
            <a:r>
              <a:rPr lang="en-US" sz="800" dirty="0">
                <a:solidFill>
                  <a:srgbClr val="4B5563"/>
                </a:solidFill>
                <a:latin typeface="Calibri" pitchFamily="34" charset="0"/>
                <a:ea typeface="Calibri" pitchFamily="34" charset="-122"/>
                <a:cs typeface="Calibri" pitchFamily="34" charset="-120"/>
              </a:rPr>
              <a:t>never cross a page</a:t>
            </a:r>
            <a:endParaRPr lang="en-US" sz="1100" dirty="0"/>
          </a:p>
        </p:txBody>
      </p:sp>
      <p:sp>
        <p:nvSpPr>
          <p:cNvPr id="22" name="Shape 18"/>
          <p:cNvSpPr/>
          <p:nvPr/>
        </p:nvSpPr>
        <p:spPr>
          <a:xfrm>
            <a:off x="2217420" y="1014984"/>
            <a:ext cx="365760" cy="0"/>
          </a:xfrm>
          <a:prstGeom prst="line">
            <a:avLst/>
          </a:prstGeom>
          <a:noFill/>
          <a:ln w="15875">
            <a:solidFill>
              <a:srgbClr val="6B7280"/>
            </a:solidFill>
            <a:prstDash val="solid"/>
            <a:tailEnd type="triangle"/>
          </a:ln>
        </p:spPr>
      </p:sp>
      <p:sp>
        <p:nvSpPr>
          <p:cNvPr id="23" name="Shape 19"/>
          <p:cNvSpPr/>
          <p:nvPr/>
        </p:nvSpPr>
        <p:spPr>
          <a:xfrm>
            <a:off x="4389120" y="1014984"/>
            <a:ext cx="365760" cy="0"/>
          </a:xfrm>
          <a:prstGeom prst="line">
            <a:avLst/>
          </a:prstGeom>
          <a:noFill/>
          <a:ln w="15875">
            <a:solidFill>
              <a:srgbClr val="6B7280"/>
            </a:solidFill>
            <a:prstDash val="solid"/>
            <a:tailEnd type="triangle"/>
          </a:ln>
        </p:spPr>
      </p:sp>
      <p:sp>
        <p:nvSpPr>
          <p:cNvPr id="24" name="Shape 20"/>
          <p:cNvSpPr/>
          <p:nvPr/>
        </p:nvSpPr>
        <p:spPr>
          <a:xfrm>
            <a:off x="6560820" y="1014984"/>
            <a:ext cx="365760" cy="0"/>
          </a:xfrm>
          <a:prstGeom prst="line">
            <a:avLst/>
          </a:prstGeom>
          <a:noFill/>
          <a:ln w="15875">
            <a:solidFill>
              <a:srgbClr val="6B7280"/>
            </a:solidFill>
            <a:prstDash val="solid"/>
            <a:tailEnd type="triangle"/>
          </a:ln>
        </p:spPr>
      </p:sp>
      <p:sp>
        <p:nvSpPr>
          <p:cNvPr id="25" name="Shape 21"/>
          <p:cNvSpPr/>
          <p:nvPr/>
        </p:nvSpPr>
        <p:spPr>
          <a:xfrm>
            <a:off x="7829550" y="1243584"/>
            <a:ext cx="0" cy="182880"/>
          </a:xfrm>
          <a:prstGeom prst="line">
            <a:avLst/>
          </a:prstGeom>
          <a:noFill/>
          <a:ln w="15875">
            <a:solidFill>
              <a:srgbClr val="6B7280"/>
            </a:solidFill>
            <a:prstDash val="solid"/>
            <a:tailEnd type="triangle"/>
          </a:ln>
        </p:spPr>
      </p:sp>
      <p:sp>
        <p:nvSpPr>
          <p:cNvPr id="26" name="Shape 22"/>
          <p:cNvSpPr/>
          <p:nvPr/>
        </p:nvSpPr>
        <p:spPr>
          <a:xfrm>
            <a:off x="411480" y="1645920"/>
            <a:ext cx="2651760" cy="457200"/>
          </a:xfrm>
          <a:prstGeom prst="roundRect">
            <a:avLst>
              <a:gd name="adj" fmla="val 12000"/>
            </a:avLst>
          </a:prstGeom>
          <a:solidFill>
            <a:srgbClr val="FFFFFF"/>
          </a:solidFill>
          <a:ln w="12700">
            <a:solidFill>
              <a:srgbClr val="6B7280"/>
            </a:solidFill>
            <a:prstDash val="solid"/>
          </a:ln>
        </p:spPr>
      </p:sp>
      <p:sp>
        <p:nvSpPr>
          <p:cNvPr id="27" name="Text 23"/>
          <p:cNvSpPr txBox="1"/>
          <p:nvPr/>
        </p:nvSpPr>
        <p:spPr>
          <a:xfrm>
            <a:off x="411480" y="1645920"/>
            <a:ext cx="2651760" cy="457200"/>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Dense</a:t>
            </a:r>
            <a:endParaRPr lang="en-US" sz="1100" dirty="0"/>
          </a:p>
          <a:p>
            <a:pPr algn="ctr" indent="0" marL="0">
              <a:buNone/>
            </a:pPr>
            <a:r>
              <a:rPr lang="en-US" sz="800" dirty="0">
                <a:solidFill>
                  <a:srgbClr val="4B5563"/>
                </a:solidFill>
                <a:latin typeface="Calibri" pitchFamily="34" charset="0"/>
                <a:ea typeface="Calibri" pitchFamily="34" charset="-122"/>
                <a:cs typeface="Calibri" pitchFamily="34" charset="-120"/>
              </a:rPr>
              <a:t>multilingual-E5 in pgvector (HNSW)</a:t>
            </a:r>
            <a:endParaRPr lang="en-US" sz="1100" dirty="0"/>
          </a:p>
        </p:txBody>
      </p:sp>
      <p:sp>
        <p:nvSpPr>
          <p:cNvPr id="28" name="Shape 24"/>
          <p:cNvSpPr/>
          <p:nvPr/>
        </p:nvSpPr>
        <p:spPr>
          <a:xfrm>
            <a:off x="3246120" y="1645920"/>
            <a:ext cx="2651760" cy="457200"/>
          </a:xfrm>
          <a:prstGeom prst="roundRect">
            <a:avLst>
              <a:gd name="adj" fmla="val 12000"/>
            </a:avLst>
          </a:prstGeom>
          <a:solidFill>
            <a:srgbClr val="FFFFFF"/>
          </a:solidFill>
          <a:ln w="12700">
            <a:solidFill>
              <a:srgbClr val="6B7280"/>
            </a:solidFill>
            <a:prstDash val="solid"/>
          </a:ln>
        </p:spPr>
      </p:sp>
      <p:sp>
        <p:nvSpPr>
          <p:cNvPr id="29" name="Text 25"/>
          <p:cNvSpPr txBox="1"/>
          <p:nvPr/>
        </p:nvSpPr>
        <p:spPr>
          <a:xfrm>
            <a:off x="3246120" y="1645920"/>
            <a:ext cx="2651760" cy="457200"/>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Lexical</a:t>
            </a:r>
            <a:endParaRPr lang="en-US" sz="1100" dirty="0"/>
          </a:p>
          <a:p>
            <a:pPr algn="ctr" indent="0" marL="0">
              <a:buNone/>
            </a:pPr>
            <a:r>
              <a:rPr lang="en-US" sz="800" dirty="0">
                <a:solidFill>
                  <a:srgbClr val="4B5563"/>
                </a:solidFill>
                <a:latin typeface="Calibri" pitchFamily="34" charset="0"/>
                <a:ea typeface="Calibri" pitchFamily="34" charset="-122"/>
                <a:cs typeface="Calibri" pitchFamily="34" charset="-120"/>
              </a:rPr>
              <a:t>BM25 + character n-grams</a:t>
            </a:r>
            <a:endParaRPr lang="en-US" sz="1100" dirty="0"/>
          </a:p>
        </p:txBody>
      </p:sp>
      <p:sp>
        <p:nvSpPr>
          <p:cNvPr id="30" name="Shape 26"/>
          <p:cNvSpPr/>
          <p:nvPr/>
        </p:nvSpPr>
        <p:spPr>
          <a:xfrm>
            <a:off x="6080760" y="1645920"/>
            <a:ext cx="2651760" cy="457200"/>
          </a:xfrm>
          <a:prstGeom prst="roundRect">
            <a:avLst>
              <a:gd name="adj" fmla="val 12000"/>
            </a:avLst>
          </a:prstGeom>
          <a:solidFill>
            <a:srgbClr val="FFFFFF"/>
          </a:solidFill>
          <a:ln w="12700">
            <a:solidFill>
              <a:srgbClr val="6B7280"/>
            </a:solidFill>
            <a:prstDash val="solid"/>
          </a:ln>
        </p:spPr>
      </p:sp>
      <p:sp>
        <p:nvSpPr>
          <p:cNvPr id="31" name="Text 27"/>
          <p:cNvSpPr txBox="1"/>
          <p:nvPr/>
        </p:nvSpPr>
        <p:spPr>
          <a:xfrm>
            <a:off x="6080760" y="1645920"/>
            <a:ext cx="2651760" cy="457200"/>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English shadow</a:t>
            </a:r>
            <a:endParaRPr lang="en-US" sz="1100" dirty="0"/>
          </a:p>
          <a:p>
            <a:pPr algn="ctr" indent="0" marL="0">
              <a:buNone/>
            </a:pPr>
            <a:r>
              <a:rPr lang="en-US" sz="800" dirty="0">
                <a:solidFill>
                  <a:srgbClr val="4B5563"/>
                </a:solidFill>
                <a:latin typeface="Calibri" pitchFamily="34" charset="0"/>
                <a:ea typeface="Calibri" pitchFamily="34" charset="-122"/>
                <a:cs typeface="Calibri" pitchFamily="34" charset="-120"/>
              </a:rPr>
              <a:t>IndicTrans2 translations of chunks</a:t>
            </a:r>
            <a:endParaRPr lang="en-US" sz="1100" dirty="0"/>
          </a:p>
        </p:txBody>
      </p:sp>
      <p:sp>
        <p:nvSpPr>
          <p:cNvPr id="32" name="Shape 28"/>
          <p:cNvSpPr/>
          <p:nvPr/>
        </p:nvSpPr>
        <p:spPr>
          <a:xfrm>
            <a:off x="411480" y="2487168"/>
            <a:ext cx="1805940" cy="457200"/>
          </a:xfrm>
          <a:prstGeom prst="roundRect">
            <a:avLst>
              <a:gd name="adj" fmla="val 12000"/>
            </a:avLst>
          </a:prstGeom>
          <a:solidFill>
            <a:srgbClr val="FFFFFF"/>
          </a:solidFill>
          <a:ln w="12700">
            <a:solidFill>
              <a:srgbClr val="6B7280"/>
            </a:solidFill>
            <a:prstDash val="solid"/>
          </a:ln>
        </p:spPr>
      </p:sp>
      <p:sp>
        <p:nvSpPr>
          <p:cNvPr id="33" name="Text 29"/>
          <p:cNvSpPr txBox="1"/>
          <p:nvPr/>
        </p:nvSpPr>
        <p:spPr>
          <a:xfrm>
            <a:off x="411480" y="2487168"/>
            <a:ext cx="1805940" cy="457200"/>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Question</a:t>
            </a:r>
            <a:endParaRPr lang="en-US" sz="1100" dirty="0"/>
          </a:p>
          <a:p>
            <a:pPr algn="ctr" indent="0" marL="0">
              <a:buNone/>
            </a:pPr>
            <a:r>
              <a:rPr lang="en-US" sz="800" dirty="0">
                <a:solidFill>
                  <a:srgbClr val="4B5563"/>
                </a:solidFill>
                <a:latin typeface="Calibri" pitchFamily="34" charset="0"/>
                <a:ea typeface="Calibri" pitchFamily="34" charset="-122"/>
                <a:cs typeface="Calibri" pitchFamily="34" charset="-120"/>
              </a:rPr>
              <a:t>any language or script</a:t>
            </a:r>
            <a:endParaRPr lang="en-US" sz="1100" dirty="0"/>
          </a:p>
        </p:txBody>
      </p:sp>
      <p:sp>
        <p:nvSpPr>
          <p:cNvPr id="34" name="Shape 30"/>
          <p:cNvSpPr/>
          <p:nvPr/>
        </p:nvSpPr>
        <p:spPr>
          <a:xfrm>
            <a:off x="2583180" y="2487168"/>
            <a:ext cx="1805940" cy="457200"/>
          </a:xfrm>
          <a:prstGeom prst="roundRect">
            <a:avLst>
              <a:gd name="adj" fmla="val 12000"/>
            </a:avLst>
          </a:prstGeom>
          <a:solidFill>
            <a:srgbClr val="FFFFFF"/>
          </a:solidFill>
          <a:ln w="12700">
            <a:solidFill>
              <a:srgbClr val="6B7280"/>
            </a:solidFill>
            <a:prstDash val="solid"/>
          </a:ln>
        </p:spPr>
      </p:sp>
      <p:sp>
        <p:nvSpPr>
          <p:cNvPr id="35" name="Text 31"/>
          <p:cNvSpPr txBox="1"/>
          <p:nvPr/>
        </p:nvSpPr>
        <p:spPr>
          <a:xfrm>
            <a:off x="2583180" y="2487168"/>
            <a:ext cx="1805940" cy="457200"/>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Understand (N2)</a:t>
            </a:r>
            <a:endParaRPr lang="en-US" sz="1100" dirty="0"/>
          </a:p>
          <a:p>
            <a:pPr algn="ctr" indent="0" marL="0">
              <a:buNone/>
            </a:pPr>
            <a:r>
              <a:rPr lang="en-US" sz="800" dirty="0">
                <a:solidFill>
                  <a:srgbClr val="4B5563"/>
                </a:solidFill>
                <a:latin typeface="Calibri" pitchFamily="34" charset="0"/>
                <a:ea typeface="Calibri" pitchFamily="34" charset="-122"/>
                <a:cs typeface="Calibri" pitchFamily="34" charset="-120"/>
              </a:rPr>
              <a:t>3 views + digit normalization</a:t>
            </a:r>
            <a:endParaRPr lang="en-US" sz="1100" dirty="0"/>
          </a:p>
        </p:txBody>
      </p:sp>
      <p:sp>
        <p:nvSpPr>
          <p:cNvPr id="36" name="Shape 32"/>
          <p:cNvSpPr/>
          <p:nvPr/>
        </p:nvSpPr>
        <p:spPr>
          <a:xfrm>
            <a:off x="4754880" y="2487168"/>
            <a:ext cx="1805940" cy="457200"/>
          </a:xfrm>
          <a:prstGeom prst="roundRect">
            <a:avLst>
              <a:gd name="adj" fmla="val 12000"/>
            </a:avLst>
          </a:prstGeom>
          <a:solidFill>
            <a:srgbClr val="DBEAFE"/>
          </a:solidFill>
          <a:ln w="22225">
            <a:solidFill>
              <a:srgbClr val="0D2349"/>
            </a:solidFill>
            <a:prstDash val="solid"/>
          </a:ln>
        </p:spPr>
      </p:sp>
      <p:sp>
        <p:nvSpPr>
          <p:cNvPr id="37" name="Text 33"/>
          <p:cNvSpPr txBox="1"/>
          <p:nvPr/>
        </p:nvSpPr>
        <p:spPr>
          <a:xfrm>
            <a:off x="4754880" y="2487168"/>
            <a:ext cx="1805940" cy="457200"/>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Router (N1)</a:t>
            </a:r>
            <a:endParaRPr lang="en-US" sz="1100" dirty="0"/>
          </a:p>
          <a:p>
            <a:pPr algn="ctr" indent="0" marL="0">
              <a:buNone/>
            </a:pPr>
            <a:r>
              <a:rPr lang="en-US" sz="800" dirty="0">
                <a:solidFill>
                  <a:srgbClr val="4B5563"/>
                </a:solidFill>
                <a:latin typeface="Calibri" pitchFamily="34" charset="0"/>
                <a:ea typeface="Calibri" pitchFamily="34" charset="-122"/>
                <a:cs typeface="Calibri" pitchFamily="34" charset="-120"/>
              </a:rPr>
              <a:t>direct · translate · hybrid</a:t>
            </a:r>
            <a:endParaRPr lang="en-US" sz="1100" dirty="0"/>
          </a:p>
        </p:txBody>
      </p:sp>
      <p:sp>
        <p:nvSpPr>
          <p:cNvPr id="38" name="Shape 34"/>
          <p:cNvSpPr/>
          <p:nvPr/>
        </p:nvSpPr>
        <p:spPr>
          <a:xfrm>
            <a:off x="6926580" y="2487168"/>
            <a:ext cx="1805940" cy="457200"/>
          </a:xfrm>
          <a:prstGeom prst="roundRect">
            <a:avLst>
              <a:gd name="adj" fmla="val 12000"/>
            </a:avLst>
          </a:prstGeom>
          <a:solidFill>
            <a:srgbClr val="FFFFFF"/>
          </a:solidFill>
          <a:ln w="12700">
            <a:solidFill>
              <a:srgbClr val="6B7280"/>
            </a:solidFill>
            <a:prstDash val="solid"/>
          </a:ln>
        </p:spPr>
      </p:sp>
      <p:sp>
        <p:nvSpPr>
          <p:cNvPr id="39" name="Text 35"/>
          <p:cNvSpPr txBox="1"/>
          <p:nvPr/>
        </p:nvSpPr>
        <p:spPr>
          <a:xfrm>
            <a:off x="6926580" y="2487168"/>
            <a:ext cx="1805940" cy="457200"/>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Retrieve + rerank</a:t>
            </a:r>
            <a:endParaRPr lang="en-US" sz="1100" dirty="0"/>
          </a:p>
          <a:p>
            <a:pPr algn="ctr" indent="0" marL="0">
              <a:buNone/>
            </a:pPr>
            <a:r>
              <a:rPr lang="en-US" sz="800" dirty="0">
                <a:solidFill>
                  <a:srgbClr val="4B5563"/>
                </a:solidFill>
                <a:latin typeface="Calibri" pitchFamily="34" charset="0"/>
                <a:ea typeface="Calibri" pitchFamily="34" charset="-122"/>
                <a:cs typeface="Calibri" pitchFamily="34" charset="-120"/>
              </a:rPr>
              <a:t>top-40 → top-6</a:t>
            </a:r>
            <a:endParaRPr lang="en-US" sz="1100" dirty="0"/>
          </a:p>
        </p:txBody>
      </p:sp>
      <p:sp>
        <p:nvSpPr>
          <p:cNvPr id="40" name="Shape 36"/>
          <p:cNvSpPr/>
          <p:nvPr/>
        </p:nvSpPr>
        <p:spPr>
          <a:xfrm>
            <a:off x="2217420" y="2715768"/>
            <a:ext cx="365760" cy="0"/>
          </a:xfrm>
          <a:prstGeom prst="line">
            <a:avLst/>
          </a:prstGeom>
          <a:noFill/>
          <a:ln w="15875">
            <a:solidFill>
              <a:srgbClr val="6B7280"/>
            </a:solidFill>
            <a:prstDash val="solid"/>
            <a:tailEnd type="triangle"/>
          </a:ln>
        </p:spPr>
      </p:sp>
      <p:sp>
        <p:nvSpPr>
          <p:cNvPr id="41" name="Shape 37"/>
          <p:cNvSpPr/>
          <p:nvPr/>
        </p:nvSpPr>
        <p:spPr>
          <a:xfrm>
            <a:off x="4389120" y="2715768"/>
            <a:ext cx="365760" cy="0"/>
          </a:xfrm>
          <a:prstGeom prst="line">
            <a:avLst/>
          </a:prstGeom>
          <a:noFill/>
          <a:ln w="15875">
            <a:solidFill>
              <a:srgbClr val="6B7280"/>
            </a:solidFill>
            <a:prstDash val="solid"/>
            <a:tailEnd type="triangle"/>
          </a:ln>
        </p:spPr>
      </p:sp>
      <p:sp>
        <p:nvSpPr>
          <p:cNvPr id="42" name="Shape 38"/>
          <p:cNvSpPr/>
          <p:nvPr/>
        </p:nvSpPr>
        <p:spPr>
          <a:xfrm>
            <a:off x="6560820" y="2715768"/>
            <a:ext cx="365760" cy="0"/>
          </a:xfrm>
          <a:prstGeom prst="line">
            <a:avLst/>
          </a:prstGeom>
          <a:noFill/>
          <a:ln w="15875">
            <a:solidFill>
              <a:srgbClr val="6B7280"/>
            </a:solidFill>
            <a:prstDash val="solid"/>
            <a:tailEnd type="triangle"/>
          </a:ln>
        </p:spPr>
      </p:sp>
      <p:sp>
        <p:nvSpPr>
          <p:cNvPr id="43" name="Shape 39"/>
          <p:cNvSpPr/>
          <p:nvPr/>
        </p:nvSpPr>
        <p:spPr>
          <a:xfrm flipV="1">
            <a:off x="7829550" y="2139696"/>
            <a:ext cx="0" cy="347472"/>
          </a:xfrm>
          <a:prstGeom prst="line">
            <a:avLst/>
          </a:prstGeom>
          <a:noFill/>
          <a:ln w="15875">
            <a:solidFill>
              <a:srgbClr val="6B7280"/>
            </a:solidFill>
            <a:prstDash val="solid"/>
            <a:tailEnd type="triangle"/>
          </a:ln>
        </p:spPr>
      </p:sp>
      <p:sp>
        <p:nvSpPr>
          <p:cNvPr id="44" name="Text 40"/>
          <p:cNvSpPr txBox="1"/>
          <p:nvPr/>
        </p:nvSpPr>
        <p:spPr>
          <a:xfrm>
            <a:off x="7884414" y="2167128"/>
            <a:ext cx="731520" cy="164592"/>
          </a:xfrm>
          <a:prstGeom prst="rect">
            <a:avLst/>
          </a:prstGeom>
          <a:noFill/>
          <a:ln/>
        </p:spPr>
        <p:txBody>
          <a:bodyPr wrap="square" lIns="0" tIns="0" rIns="0" bIns="0" rtlCol="0" anchor="ctr"/>
          <a:lstStyle/>
          <a:p>
            <a:pPr indent="0" marL="0">
              <a:buNone/>
            </a:pPr>
            <a:r>
              <a:rPr lang="en-US" sz="800" dirty="0">
                <a:solidFill>
                  <a:srgbClr val="4B5563"/>
                </a:solidFill>
                <a:latin typeface="Calibri" pitchFamily="34" charset="0"/>
                <a:ea typeface="Calibri" pitchFamily="34" charset="-122"/>
                <a:cs typeface="Calibri" pitchFamily="34" charset="-120"/>
              </a:rPr>
              <a:t>searches</a:t>
            </a:r>
            <a:endParaRPr lang="en-US" sz="800" dirty="0"/>
          </a:p>
        </p:txBody>
      </p:sp>
      <p:sp>
        <p:nvSpPr>
          <p:cNvPr id="45" name="Shape 41"/>
          <p:cNvSpPr/>
          <p:nvPr/>
        </p:nvSpPr>
        <p:spPr>
          <a:xfrm>
            <a:off x="6926580" y="3310128"/>
            <a:ext cx="1805940" cy="457200"/>
          </a:xfrm>
          <a:prstGeom prst="roundRect">
            <a:avLst>
              <a:gd name="adj" fmla="val 12000"/>
            </a:avLst>
          </a:prstGeom>
          <a:solidFill>
            <a:srgbClr val="FFFFFF"/>
          </a:solidFill>
          <a:ln w="12700">
            <a:solidFill>
              <a:srgbClr val="6B7280"/>
            </a:solidFill>
            <a:prstDash val="solid"/>
          </a:ln>
        </p:spPr>
      </p:sp>
      <p:sp>
        <p:nvSpPr>
          <p:cNvPr id="46" name="Text 42"/>
          <p:cNvSpPr txBox="1"/>
          <p:nvPr/>
        </p:nvSpPr>
        <p:spPr>
          <a:xfrm>
            <a:off x="6926580" y="3310128"/>
            <a:ext cx="1805940" cy="457200"/>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Evidence gate (N4)</a:t>
            </a:r>
            <a:endParaRPr lang="en-US" sz="1100" dirty="0"/>
          </a:p>
          <a:p>
            <a:pPr algn="ctr" indent="0" marL="0">
              <a:buNone/>
            </a:pPr>
            <a:r>
              <a:rPr lang="en-US" sz="800" dirty="0">
                <a:solidFill>
                  <a:srgbClr val="4B5563"/>
                </a:solidFill>
                <a:latin typeface="Calibri" pitchFamily="34" charset="0"/>
                <a:ea typeface="Calibri" pitchFamily="34" charset="-122"/>
                <a:cs typeface="Calibri" pitchFamily="34" charset="-120"/>
              </a:rPr>
              <a:t>sufficiency score ≥ τ ?</a:t>
            </a:r>
            <a:endParaRPr lang="en-US" sz="1100" dirty="0"/>
          </a:p>
        </p:txBody>
      </p:sp>
      <p:sp>
        <p:nvSpPr>
          <p:cNvPr id="47" name="Shape 43"/>
          <p:cNvSpPr/>
          <p:nvPr/>
        </p:nvSpPr>
        <p:spPr>
          <a:xfrm>
            <a:off x="4754880" y="3310128"/>
            <a:ext cx="1805940" cy="457200"/>
          </a:xfrm>
          <a:prstGeom prst="roundRect">
            <a:avLst>
              <a:gd name="adj" fmla="val 12000"/>
            </a:avLst>
          </a:prstGeom>
          <a:solidFill>
            <a:srgbClr val="FFFFFF"/>
          </a:solidFill>
          <a:ln w="12700">
            <a:solidFill>
              <a:srgbClr val="6B7280"/>
            </a:solidFill>
            <a:prstDash val="solid"/>
          </a:ln>
        </p:spPr>
      </p:sp>
      <p:sp>
        <p:nvSpPr>
          <p:cNvPr id="48" name="Text 44"/>
          <p:cNvSpPr txBox="1"/>
          <p:nvPr/>
        </p:nvSpPr>
        <p:spPr>
          <a:xfrm>
            <a:off x="4754880" y="3310128"/>
            <a:ext cx="1805940" cy="457200"/>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Generate</a:t>
            </a:r>
            <a:endParaRPr lang="en-US" sz="1100" dirty="0"/>
          </a:p>
          <a:p>
            <a:pPr algn="ctr" indent="0" marL="0">
              <a:buNone/>
            </a:pPr>
            <a:r>
              <a:rPr lang="en-US" sz="800" dirty="0">
                <a:solidFill>
                  <a:srgbClr val="4B5563"/>
                </a:solidFill>
                <a:latin typeface="Calibri" pitchFamily="34" charset="0"/>
                <a:ea typeface="Calibri" pitchFamily="34" charset="-122"/>
                <a:cs typeface="Calibri" pitchFamily="34" charset="-120"/>
              </a:rPr>
              <a:t>local 4-bit LLM, cites each sentence</a:t>
            </a:r>
            <a:endParaRPr lang="en-US" sz="1100" dirty="0"/>
          </a:p>
        </p:txBody>
      </p:sp>
      <p:sp>
        <p:nvSpPr>
          <p:cNvPr id="49" name="Shape 45"/>
          <p:cNvSpPr/>
          <p:nvPr/>
        </p:nvSpPr>
        <p:spPr>
          <a:xfrm>
            <a:off x="2583180" y="3310128"/>
            <a:ext cx="1805940" cy="457200"/>
          </a:xfrm>
          <a:prstGeom prst="roundRect">
            <a:avLst>
              <a:gd name="adj" fmla="val 12000"/>
            </a:avLst>
          </a:prstGeom>
          <a:solidFill>
            <a:srgbClr val="FFFFFF"/>
          </a:solidFill>
          <a:ln w="12700">
            <a:solidFill>
              <a:srgbClr val="6B7280"/>
            </a:solidFill>
            <a:prstDash val="solid"/>
          </a:ln>
        </p:spPr>
      </p:sp>
      <p:sp>
        <p:nvSpPr>
          <p:cNvPr id="50" name="Text 46"/>
          <p:cNvSpPr txBox="1"/>
          <p:nvPr/>
        </p:nvSpPr>
        <p:spPr>
          <a:xfrm>
            <a:off x="2583180" y="3310128"/>
            <a:ext cx="1805940" cy="457200"/>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Verify (N4, N5)</a:t>
            </a:r>
            <a:endParaRPr lang="en-US" sz="1100" dirty="0"/>
          </a:p>
          <a:p>
            <a:pPr algn="ctr" indent="0" marL="0">
              <a:buNone/>
            </a:pPr>
            <a:r>
              <a:rPr lang="en-US" sz="800" dirty="0">
                <a:solidFill>
                  <a:srgbClr val="4B5563"/>
                </a:solidFill>
                <a:latin typeface="Calibri" pitchFamily="34" charset="0"/>
                <a:ea typeface="Calibri" pitchFamily="34" charset="-122"/>
                <a:cs typeface="Calibri" pitchFamily="34" charset="-120"/>
              </a:rPr>
              <a:t>NLI per claim + script check</a:t>
            </a:r>
            <a:endParaRPr lang="en-US" sz="1100" dirty="0"/>
          </a:p>
        </p:txBody>
      </p:sp>
      <p:sp>
        <p:nvSpPr>
          <p:cNvPr id="51" name="Shape 47"/>
          <p:cNvSpPr/>
          <p:nvPr/>
        </p:nvSpPr>
        <p:spPr>
          <a:xfrm>
            <a:off x="411480" y="3310128"/>
            <a:ext cx="1805940" cy="457200"/>
          </a:xfrm>
          <a:prstGeom prst="roundRect">
            <a:avLst>
              <a:gd name="adj" fmla="val 12000"/>
            </a:avLst>
          </a:prstGeom>
          <a:solidFill>
            <a:srgbClr val="DCFCE7"/>
          </a:solidFill>
          <a:ln w="22225">
            <a:solidFill>
              <a:srgbClr val="15803D"/>
            </a:solidFill>
            <a:prstDash val="solid"/>
          </a:ln>
        </p:spPr>
      </p:sp>
      <p:sp>
        <p:nvSpPr>
          <p:cNvPr id="52" name="Text 48"/>
          <p:cNvSpPr txBox="1"/>
          <p:nvPr/>
        </p:nvSpPr>
        <p:spPr>
          <a:xfrm>
            <a:off x="411480" y="3310128"/>
            <a:ext cx="1805940" cy="457200"/>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Cited answer</a:t>
            </a:r>
            <a:endParaRPr lang="en-US" sz="1100" dirty="0"/>
          </a:p>
          <a:p>
            <a:pPr algn="ctr" indent="0" marL="0">
              <a:buNone/>
            </a:pPr>
            <a:r>
              <a:rPr lang="en-US" sz="800" dirty="0">
                <a:solidFill>
                  <a:srgbClr val="4B5563"/>
                </a:solidFill>
                <a:latin typeface="Calibri" pitchFamily="34" charset="0"/>
                <a:ea typeface="Calibri" pitchFamily="34" charset="-122"/>
                <a:cs typeface="Calibri" pitchFamily="34" charset="-120"/>
              </a:rPr>
              <a:t>PDF page highlighted</a:t>
            </a:r>
            <a:endParaRPr lang="en-US" sz="1100" dirty="0"/>
          </a:p>
        </p:txBody>
      </p:sp>
      <p:sp>
        <p:nvSpPr>
          <p:cNvPr id="53" name="Shape 49"/>
          <p:cNvSpPr/>
          <p:nvPr/>
        </p:nvSpPr>
        <p:spPr>
          <a:xfrm>
            <a:off x="7829550" y="2944368"/>
            <a:ext cx="0" cy="365760"/>
          </a:xfrm>
          <a:prstGeom prst="line">
            <a:avLst/>
          </a:prstGeom>
          <a:noFill/>
          <a:ln w="15875">
            <a:solidFill>
              <a:srgbClr val="6B7280"/>
            </a:solidFill>
            <a:prstDash val="solid"/>
            <a:tailEnd type="triangle"/>
          </a:ln>
        </p:spPr>
      </p:sp>
      <p:sp>
        <p:nvSpPr>
          <p:cNvPr id="54" name="Shape 50"/>
          <p:cNvSpPr/>
          <p:nvPr/>
        </p:nvSpPr>
        <p:spPr>
          <a:xfrm flipH="1">
            <a:off x="6560820" y="3538728"/>
            <a:ext cx="365760" cy="0"/>
          </a:xfrm>
          <a:prstGeom prst="line">
            <a:avLst/>
          </a:prstGeom>
          <a:noFill/>
          <a:ln w="15875">
            <a:solidFill>
              <a:srgbClr val="6B7280"/>
            </a:solidFill>
            <a:prstDash val="solid"/>
            <a:tailEnd type="triangle"/>
          </a:ln>
        </p:spPr>
      </p:sp>
      <p:sp>
        <p:nvSpPr>
          <p:cNvPr id="55" name="Shape 51"/>
          <p:cNvSpPr/>
          <p:nvPr/>
        </p:nvSpPr>
        <p:spPr>
          <a:xfrm flipH="1">
            <a:off x="4389120" y="3538728"/>
            <a:ext cx="365760" cy="0"/>
          </a:xfrm>
          <a:prstGeom prst="line">
            <a:avLst/>
          </a:prstGeom>
          <a:noFill/>
          <a:ln w="15875">
            <a:solidFill>
              <a:srgbClr val="6B7280"/>
            </a:solidFill>
            <a:prstDash val="solid"/>
            <a:tailEnd type="triangle"/>
          </a:ln>
        </p:spPr>
      </p:sp>
      <p:sp>
        <p:nvSpPr>
          <p:cNvPr id="56" name="Shape 52"/>
          <p:cNvSpPr/>
          <p:nvPr/>
        </p:nvSpPr>
        <p:spPr>
          <a:xfrm flipH="1">
            <a:off x="2217420" y="3538728"/>
            <a:ext cx="365760" cy="0"/>
          </a:xfrm>
          <a:prstGeom prst="line">
            <a:avLst/>
          </a:prstGeom>
          <a:noFill/>
          <a:ln w="15875">
            <a:solidFill>
              <a:srgbClr val="6B7280"/>
            </a:solidFill>
            <a:prstDash val="solid"/>
            <a:tailEnd type="triangle"/>
          </a:ln>
        </p:spPr>
      </p:sp>
      <p:sp>
        <p:nvSpPr>
          <p:cNvPr id="57" name="Text 53"/>
          <p:cNvSpPr txBox="1"/>
          <p:nvPr/>
        </p:nvSpPr>
        <p:spPr>
          <a:xfrm>
            <a:off x="6560820" y="3328416"/>
            <a:ext cx="365760" cy="182880"/>
          </a:xfrm>
          <a:prstGeom prst="rect">
            <a:avLst/>
          </a:prstGeom>
          <a:noFill/>
          <a:ln/>
        </p:spPr>
        <p:txBody>
          <a:bodyPr wrap="square" lIns="0" tIns="0" rIns="0" bIns="0" rtlCol="0" anchor="ctr"/>
          <a:lstStyle/>
          <a:p>
            <a:pPr algn="ctr" indent="0" marL="0">
              <a:buNone/>
            </a:pPr>
            <a:r>
              <a:rPr lang="en-US" sz="800" dirty="0">
                <a:solidFill>
                  <a:srgbClr val="4B5563"/>
                </a:solidFill>
                <a:latin typeface="Calibri" pitchFamily="34" charset="0"/>
                <a:ea typeface="Calibri" pitchFamily="34" charset="-122"/>
                <a:cs typeface="Calibri" pitchFamily="34" charset="-120"/>
              </a:rPr>
              <a:t>pass</a:t>
            </a:r>
            <a:endParaRPr lang="en-US" sz="800" dirty="0"/>
          </a:p>
        </p:txBody>
      </p:sp>
      <p:sp>
        <p:nvSpPr>
          <p:cNvPr id="58" name="Shape 54"/>
          <p:cNvSpPr/>
          <p:nvPr/>
        </p:nvSpPr>
        <p:spPr>
          <a:xfrm>
            <a:off x="6926580" y="4133088"/>
            <a:ext cx="1805940" cy="457200"/>
          </a:xfrm>
          <a:prstGeom prst="roundRect">
            <a:avLst>
              <a:gd name="adj" fmla="val 12000"/>
            </a:avLst>
          </a:prstGeom>
          <a:solidFill>
            <a:srgbClr val="FEF3C7"/>
          </a:solidFill>
          <a:ln w="22225">
            <a:solidFill>
              <a:srgbClr val="B45309"/>
            </a:solidFill>
            <a:prstDash val="solid"/>
          </a:ln>
        </p:spPr>
      </p:sp>
      <p:sp>
        <p:nvSpPr>
          <p:cNvPr id="59" name="Text 55"/>
          <p:cNvSpPr txBox="1"/>
          <p:nvPr/>
        </p:nvSpPr>
        <p:spPr>
          <a:xfrm>
            <a:off x="6926580" y="4133088"/>
            <a:ext cx="1805940" cy="457200"/>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Abstain</a:t>
            </a:r>
            <a:endParaRPr lang="en-US" sz="1100" dirty="0"/>
          </a:p>
          <a:p>
            <a:pPr algn="ctr" indent="0" marL="0">
              <a:buNone/>
            </a:pPr>
            <a:r>
              <a:rPr lang="en-US" sz="800" dirty="0">
                <a:solidFill>
                  <a:srgbClr val="4B5563"/>
                </a:solidFill>
                <a:latin typeface="Calibri" pitchFamily="34" charset="0"/>
                <a:ea typeface="Calibri" pitchFamily="34" charset="-122"/>
                <a:cs typeface="Calibri" pitchFamily="34" charset="-120"/>
              </a:rPr>
              <a:t>shows the nearest pages</a:t>
            </a:r>
            <a:endParaRPr lang="en-US" sz="1100" dirty="0"/>
          </a:p>
        </p:txBody>
      </p:sp>
      <p:sp>
        <p:nvSpPr>
          <p:cNvPr id="60" name="Shape 56"/>
          <p:cNvSpPr/>
          <p:nvPr/>
        </p:nvSpPr>
        <p:spPr>
          <a:xfrm>
            <a:off x="7829550" y="3767328"/>
            <a:ext cx="0" cy="365760"/>
          </a:xfrm>
          <a:prstGeom prst="line">
            <a:avLst/>
          </a:prstGeom>
          <a:noFill/>
          <a:ln w="15875">
            <a:solidFill>
              <a:srgbClr val="6B7280"/>
            </a:solidFill>
            <a:prstDash val="solid"/>
            <a:tailEnd type="triangle"/>
          </a:ln>
        </p:spPr>
      </p:sp>
      <p:sp>
        <p:nvSpPr>
          <p:cNvPr id="61" name="Text 57"/>
          <p:cNvSpPr txBox="1"/>
          <p:nvPr/>
        </p:nvSpPr>
        <p:spPr>
          <a:xfrm>
            <a:off x="7884414" y="3858768"/>
            <a:ext cx="731520" cy="182880"/>
          </a:xfrm>
          <a:prstGeom prst="rect">
            <a:avLst/>
          </a:prstGeom>
          <a:noFill/>
          <a:ln/>
        </p:spPr>
        <p:txBody>
          <a:bodyPr wrap="square" lIns="0" tIns="0" rIns="0" bIns="0" rtlCol="0" anchor="ctr"/>
          <a:lstStyle/>
          <a:p>
            <a:pPr indent="0" marL="0">
              <a:buNone/>
            </a:pPr>
            <a:r>
              <a:rPr lang="en-US" sz="800" dirty="0">
                <a:solidFill>
                  <a:srgbClr val="4B5563"/>
                </a:solidFill>
                <a:latin typeface="Calibri" pitchFamily="34" charset="0"/>
                <a:ea typeface="Calibri" pitchFamily="34" charset="-122"/>
                <a:cs typeface="Calibri" pitchFamily="34" charset="-120"/>
              </a:rPr>
              <a:t>below τ</a:t>
            </a:r>
            <a:endParaRPr lang="en-US" sz="800" dirty="0"/>
          </a:p>
        </p:txBody>
      </p:sp>
      <p:sp>
        <p:nvSpPr>
          <p:cNvPr id="62" name="Shape 58"/>
          <p:cNvSpPr/>
          <p:nvPr/>
        </p:nvSpPr>
        <p:spPr>
          <a:xfrm>
            <a:off x="3486150" y="3767328"/>
            <a:ext cx="0" cy="594360"/>
          </a:xfrm>
          <a:prstGeom prst="line">
            <a:avLst/>
          </a:prstGeom>
          <a:noFill/>
          <a:ln w="15875">
            <a:solidFill>
              <a:srgbClr val="6B7280"/>
            </a:solidFill>
            <a:prstDash val="solid"/>
          </a:ln>
        </p:spPr>
      </p:sp>
      <p:sp>
        <p:nvSpPr>
          <p:cNvPr id="63" name="Shape 59"/>
          <p:cNvSpPr/>
          <p:nvPr/>
        </p:nvSpPr>
        <p:spPr>
          <a:xfrm>
            <a:off x="3486150" y="4361688"/>
            <a:ext cx="3440430" cy="0"/>
          </a:xfrm>
          <a:prstGeom prst="line">
            <a:avLst/>
          </a:prstGeom>
          <a:noFill/>
          <a:ln w="15875">
            <a:solidFill>
              <a:srgbClr val="6B7280"/>
            </a:solidFill>
            <a:prstDash val="solid"/>
            <a:tailEnd type="triangle"/>
          </a:ln>
        </p:spPr>
      </p:sp>
      <p:sp>
        <p:nvSpPr>
          <p:cNvPr id="64" name="Text 60"/>
          <p:cNvSpPr txBox="1"/>
          <p:nvPr/>
        </p:nvSpPr>
        <p:spPr>
          <a:xfrm>
            <a:off x="4754880" y="4142232"/>
            <a:ext cx="1805940" cy="182880"/>
          </a:xfrm>
          <a:prstGeom prst="rect">
            <a:avLst/>
          </a:prstGeom>
          <a:noFill/>
          <a:ln/>
        </p:spPr>
        <p:txBody>
          <a:bodyPr wrap="square" lIns="0" tIns="0" rIns="0" bIns="0" rtlCol="0" anchor="ctr"/>
          <a:lstStyle/>
          <a:p>
            <a:pPr algn="ctr" indent="0" marL="0">
              <a:buNone/>
            </a:pPr>
            <a:r>
              <a:rPr lang="en-US" sz="800" dirty="0">
                <a:solidFill>
                  <a:srgbClr val="4B5563"/>
                </a:solidFill>
                <a:latin typeface="Calibri" pitchFamily="34" charset="0"/>
                <a:ea typeface="Calibri" pitchFamily="34" charset="-122"/>
                <a:cs typeface="Calibri" pitchFamily="34" charset="-120"/>
              </a:rPr>
              <a:t>too few supported sentences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D2349"/>
          </a:solidFill>
          <a:ln w="12700">
            <a:solidFill>
              <a:srgbClr val="0D2349"/>
            </a:solidFill>
            <a:prstDash val="solid"/>
          </a:ln>
        </p:spPr>
      </p:sp>
      <p:sp>
        <p:nvSpPr>
          <p:cNvPr id="3" name="Text 1"/>
          <p:cNvSpPr txBox="1"/>
          <p:nvPr/>
        </p:nvSpPr>
        <p:spPr>
          <a:xfrm>
            <a:off x="274320" y="0"/>
            <a:ext cx="7863840"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System Architecture: Core Mechanisms</a:t>
            </a:r>
            <a:endParaRPr lang="en-US" sz="1900" dirty="0"/>
          </a:p>
        </p:txBody>
      </p:sp>
      <p:pic>
        <p:nvPicPr>
          <p:cNvPr id="4" name="Image 0" descr="MMCOE logo">    </p:cNvPr>
          <p:cNvPicPr>
            <a:picLocks noChangeAspect="1"/>
          </p:cNvPicPr>
          <p:nvPr/>
        </p:nvPicPr>
        <p:blipFill>
          <a:blip r:embed="rId1"/>
          <a:stretch>
            <a:fillRect/>
          </a:stretch>
        </p:blipFill>
        <p:spPr>
          <a:xfrm>
            <a:off x="8531352" y="36576"/>
            <a:ext cx="320040" cy="384048"/>
          </a:xfrm>
          <a:prstGeom prst="rect">
            <a:avLst/>
          </a:prstGeom>
        </p:spPr>
      </p:pic>
      <p:sp>
        <p:nvSpPr>
          <p:cNvPr id="5" name="Text 2"/>
          <p:cNvSpPr txBox="1"/>
          <p:nvPr/>
        </p:nvSpPr>
        <p:spPr>
          <a:xfrm>
            <a:off x="274320" y="4882896"/>
            <a:ext cx="7680960" cy="201168"/>
          </a:xfrm>
          <a:prstGeom prst="rect">
            <a:avLst/>
          </a:prstGeom>
          <a:noFill/>
          <a:ln/>
        </p:spPr>
        <p:txBody>
          <a:bodyPr wrap="square" lIns="0" tIns="0" rIns="0" bIns="0" rtlCol="0" anchor="ctr"/>
          <a:lstStyle/>
          <a:p>
            <a:pPr indent="0" marL="0">
              <a:buNone/>
            </a:pPr>
            <a:r>
              <a:rPr lang="en-US" sz="700" dirty="0">
                <a:solidFill>
                  <a:srgbClr val="9CA3AF"/>
                </a:solidFill>
                <a:latin typeface="Calibri" pitchFamily="34" charset="0"/>
                <a:ea typeface="Calibri" pitchFamily="34" charset="-122"/>
                <a:cs typeface="Calibri" pitchFamily="34" charset="-120"/>
              </a:rPr>
              <a:t>Sakshya · Multilingual Document Intelligence (RAG)  |  BE Project Review 2  |  MMCOE Pune</a:t>
            </a:r>
            <a:endParaRPr lang="en-US" sz="700" dirty="0"/>
          </a:p>
        </p:txBody>
      </p:sp>
      <p:sp>
        <p:nvSpPr>
          <p:cNvPr id="6" name="Text 3"/>
          <p:cNvSpPr txBox="1"/>
          <p:nvPr/>
        </p:nvSpPr>
        <p:spPr>
          <a:xfrm>
            <a:off x="8412480" y="4882896"/>
            <a:ext cx="457200" cy="201168"/>
          </a:xfrm>
          <a:prstGeom prst="rect">
            <a:avLst/>
          </a:prstGeom>
          <a:noFill/>
          <a:ln/>
        </p:spPr>
        <p:txBody>
          <a:bodyPr wrap="square" lIns="0" tIns="0" rIns="0" bIns="0" rtlCol="0" anchor="ctr"/>
          <a:lstStyle/>
          <a:p>
            <a:pPr algn="r" indent="0" marL="0">
              <a:buNone/>
            </a:pPr>
            <a:r>
              <a:rPr lang="en-US" sz="700" dirty="0">
                <a:solidFill>
                  <a:srgbClr val="9CA3AF"/>
                </a:solidFill>
                <a:latin typeface="Calibri" pitchFamily="34" charset="0"/>
                <a:ea typeface="Calibri" pitchFamily="34" charset="-122"/>
                <a:cs typeface="Calibri" pitchFamily="34" charset="-120"/>
              </a:rPr>
              <a:t>8</a:t>
            </a:r>
            <a:endParaRPr lang="en-US" sz="700" dirty="0"/>
          </a:p>
        </p:txBody>
      </p:sp>
      <p:sp>
        <p:nvSpPr>
          <p:cNvPr id="8" name="Shape 4"/>
          <p:cNvSpPr/>
          <p:nvPr/>
        </p:nvSpPr>
        <p:spPr>
          <a:xfrm>
            <a:off x="274320" y="585216"/>
            <a:ext cx="2779776" cy="3346704"/>
          </a:xfrm>
          <a:prstGeom prst="roundRect">
            <a:avLst>
              <a:gd name="adj" fmla="val 1974"/>
            </a:avLst>
          </a:prstGeom>
          <a:solidFill>
            <a:srgbClr val="F3F4F6"/>
          </a:solidFill>
          <a:ln w="9525">
            <a:solidFill>
              <a:srgbClr val="D1D5DB"/>
            </a:solidFill>
            <a:prstDash val="solid"/>
          </a:ln>
        </p:spPr>
      </p:sp>
      <p:sp>
        <p:nvSpPr>
          <p:cNvPr id="9" name="Shape 5"/>
          <p:cNvSpPr/>
          <p:nvPr/>
        </p:nvSpPr>
        <p:spPr>
          <a:xfrm>
            <a:off x="274320" y="585216"/>
            <a:ext cx="2779776" cy="566928"/>
          </a:xfrm>
          <a:prstGeom prst="roundRect">
            <a:avLst>
              <a:gd name="adj" fmla="val 9677"/>
            </a:avLst>
          </a:prstGeom>
          <a:solidFill>
            <a:srgbClr val="DBEAFE"/>
          </a:solidFill>
          <a:ln w="12700">
            <a:solidFill>
              <a:srgbClr val="DBEAFE"/>
            </a:solidFill>
            <a:prstDash val="solid"/>
          </a:ln>
        </p:spPr>
      </p:sp>
      <p:sp>
        <p:nvSpPr>
          <p:cNvPr id="10" name="Text 6"/>
          <p:cNvSpPr txBox="1"/>
          <p:nvPr/>
        </p:nvSpPr>
        <p:spPr>
          <a:xfrm>
            <a:off x="384048" y="621792"/>
            <a:ext cx="2560320" cy="274320"/>
          </a:xfrm>
          <a:prstGeom prst="rect">
            <a:avLst/>
          </a:prstGeom>
          <a:noFill/>
          <a:ln/>
        </p:spPr>
        <p:txBody>
          <a:bodyPr wrap="square" lIns="0" tIns="0" rIns="0" bIns="0" rtlCol="0" anchor="t"/>
          <a:lstStyle/>
          <a:p>
            <a:pPr indent="0" marL="0">
              <a:buNone/>
            </a:pPr>
            <a:r>
              <a:rPr lang="en-US" sz="1300" b="1" dirty="0">
                <a:solidFill>
                  <a:srgbClr val="0D2349"/>
                </a:solidFill>
                <a:latin typeface="Calibri" pitchFamily="34" charset="0"/>
                <a:ea typeface="Calibri" pitchFamily="34" charset="-122"/>
                <a:cs typeface="Calibri" pitchFamily="34" charset="-120"/>
              </a:rPr>
              <a:t>Learned router</a:t>
            </a:r>
            <a:endParaRPr lang="en-US" sz="1300" dirty="0"/>
          </a:p>
        </p:txBody>
      </p:sp>
      <p:sp>
        <p:nvSpPr>
          <p:cNvPr id="11" name="Text 7"/>
          <p:cNvSpPr txBox="1"/>
          <p:nvPr/>
        </p:nvSpPr>
        <p:spPr>
          <a:xfrm>
            <a:off x="384048" y="896112"/>
            <a:ext cx="2560320" cy="201168"/>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N1 · before retrieval</a:t>
            </a:r>
            <a:endParaRPr lang="en-US" sz="900" dirty="0"/>
          </a:p>
        </p:txBody>
      </p:sp>
      <p:sp>
        <p:nvSpPr>
          <p:cNvPr id="12" name="Text 8"/>
          <p:cNvSpPr txBox="1"/>
          <p:nvPr/>
        </p:nvSpPr>
        <p:spPr>
          <a:xfrm>
            <a:off x="384048" y="1243584"/>
            <a:ext cx="2560320" cy="2651760"/>
          </a:xfrm>
          <a:prstGeom prst="rect">
            <a:avLst/>
          </a:prstGeom>
          <a:noFill/>
          <a:ln/>
        </p:spPr>
        <p:txBody>
          <a:bodyPr wrap="square" lIns="0" tIns="0" rIns="0" bIns="0" rtlCol="0" anchor="t"/>
          <a:lstStyle/>
          <a:p>
            <a:pPr indent="0" marL="0">
              <a:buNone/>
            </a:pPr>
            <a:r>
              <a:rPr lang="en-US" sz="1050" b="1" dirty="0">
                <a:solidFill>
                  <a:srgbClr val="0E7490"/>
                </a:solidFill>
                <a:latin typeface="Calibri" pitchFamily="34" charset="0"/>
                <a:ea typeface="Calibri" pitchFamily="34" charset="-122"/>
                <a:cs typeface="Calibri" pitchFamily="34" charset="-120"/>
              </a:rPr>
              <a:t>Labels: </a:t>
            </a:r>
            <a:pPr indent="0" marL="0">
              <a:spcAft>
                <a:spcPts val="600"/>
              </a:spcAft>
              <a:buNone/>
            </a:pPr>
            <a:r>
              <a:rPr lang="en-US" sz="1050" dirty="0">
                <a:solidFill>
                  <a:srgbClr val="111827"/>
                </a:solidFill>
                <a:latin typeface="Calibri" pitchFamily="34" charset="0"/>
                <a:ea typeface="Calibri" pitchFamily="34" charset="-122"/>
                <a:cs typeface="Calibri" pitchFamily="34" charset="-120"/>
              </a:rPr>
              <a:t>Run all 3 routes on every training question; the route that ranks the gold page highest is the oracle label.</a:t>
            </a:r>
            <a:endParaRPr lang="en-US" sz="1050" dirty="0"/>
          </a:p>
          <a:p>
            <a:pPr indent="0" marL="0">
              <a:buNone/>
            </a:pPr>
            <a:r>
              <a:rPr lang="en-US" sz="1050" b="1" dirty="0">
                <a:solidFill>
                  <a:srgbClr val="0E7490"/>
                </a:solidFill>
                <a:latin typeface="Calibri" pitchFamily="34" charset="0"/>
                <a:ea typeface="Calibri" pitchFamily="34" charset="-122"/>
                <a:cs typeface="Calibri" pitchFamily="34" charset="-120"/>
              </a:rPr>
              <a:t>Features: </a:t>
            </a:r>
            <a:pPr indent="0" marL="0">
              <a:spcAft>
                <a:spcPts val="600"/>
              </a:spcAft>
              <a:buNone/>
            </a:pPr>
            <a:r>
              <a:rPr lang="en-US" sz="1050" dirty="0">
                <a:solidFill>
                  <a:srgbClr val="111827"/>
                </a:solidFill>
                <a:latin typeface="Calibri" pitchFamily="34" charset="0"/>
                <a:ea typeface="Calibri" pitchFamily="34" charset="-122"/>
                <a:cs typeface="Calibri" pitchFamily="34" charset="-120"/>
              </a:rPr>
              <a:t>~15 cheap signals: script, romanization, code-mix ratio, length, numbers/IDs, IndicLID confidence, corpus language mix, scanned share, OCR confidence, score gaps.</a:t>
            </a:r>
            <a:endParaRPr lang="en-US" sz="1050" dirty="0"/>
          </a:p>
          <a:p>
            <a:pPr indent="0" marL="0">
              <a:buNone/>
            </a:pPr>
            <a:r>
              <a:rPr lang="en-US" sz="1050" b="1" dirty="0">
                <a:solidFill>
                  <a:srgbClr val="0E7490"/>
                </a:solidFill>
                <a:latin typeface="Calibri" pitchFamily="34" charset="0"/>
                <a:ea typeface="Calibri" pitchFamily="34" charset="-122"/>
                <a:cs typeface="Calibri" pitchFamily="34" charset="-120"/>
              </a:rPr>
              <a:t>Model: </a:t>
            </a:r>
            <a:pPr indent="0" marL="0">
              <a:spcAft>
                <a:spcPts val="600"/>
              </a:spcAft>
              <a:buNone/>
            </a:pPr>
            <a:r>
              <a:rPr lang="en-US" sz="1050" dirty="0">
                <a:solidFill>
                  <a:srgbClr val="111827"/>
                </a:solidFill>
                <a:latin typeface="Calibri" pitchFamily="34" charset="0"/>
                <a:ea typeface="Calibri" pitchFamily="34" charset="-122"/>
                <a:cs typeface="Calibri" pitchFamily="34" charset="-120"/>
              </a:rPr>
              <a:t>Shallow gradient-boosted trees, CV grouped by document.</a:t>
            </a:r>
            <a:endParaRPr lang="en-US" sz="1050" dirty="0"/>
          </a:p>
          <a:p>
            <a:pPr indent="0" marL="0">
              <a:buNone/>
            </a:pPr>
            <a:r>
              <a:rPr lang="en-US" sz="1050" b="1" dirty="0">
                <a:solidFill>
                  <a:srgbClr val="0E7490"/>
                </a:solidFill>
                <a:latin typeface="Calibri" pitchFamily="34" charset="0"/>
                <a:ea typeface="Calibri" pitchFamily="34" charset="-122"/>
                <a:cs typeface="Calibri" pitchFamily="34" charset="-120"/>
              </a:rPr>
              <a:t>Output: </a:t>
            </a:r>
            <a:pPr indent="0" marL="0">
              <a:spcAft>
                <a:spcPts val="600"/>
              </a:spcAft>
              <a:buNone/>
            </a:pPr>
            <a:r>
              <a:rPr lang="en-US" sz="1050" dirty="0">
                <a:solidFill>
                  <a:srgbClr val="111827"/>
                </a:solidFill>
                <a:latin typeface="Calibri" pitchFamily="34" charset="0"/>
                <a:ea typeface="Calibri" pitchFamily="34" charset="-122"/>
                <a:cs typeface="Calibri" pitchFamily="34" charset="-120"/>
              </a:rPr>
              <a:t>Route + fusion weights, shown in a "why this route" panel.</a:t>
            </a:r>
            <a:endParaRPr lang="en-US" sz="1050" dirty="0"/>
          </a:p>
        </p:txBody>
      </p:sp>
      <p:sp>
        <p:nvSpPr>
          <p:cNvPr id="13" name="Shape 9"/>
          <p:cNvSpPr/>
          <p:nvPr/>
        </p:nvSpPr>
        <p:spPr>
          <a:xfrm>
            <a:off x="3182112" y="585216"/>
            <a:ext cx="2779776" cy="3346704"/>
          </a:xfrm>
          <a:prstGeom prst="roundRect">
            <a:avLst>
              <a:gd name="adj" fmla="val 1974"/>
            </a:avLst>
          </a:prstGeom>
          <a:solidFill>
            <a:srgbClr val="F3F4F6"/>
          </a:solidFill>
          <a:ln w="9525">
            <a:solidFill>
              <a:srgbClr val="D1D5DB"/>
            </a:solidFill>
            <a:prstDash val="solid"/>
          </a:ln>
        </p:spPr>
      </p:sp>
      <p:sp>
        <p:nvSpPr>
          <p:cNvPr id="14" name="Shape 10"/>
          <p:cNvSpPr/>
          <p:nvPr/>
        </p:nvSpPr>
        <p:spPr>
          <a:xfrm>
            <a:off x="3182112" y="585216"/>
            <a:ext cx="2779776" cy="566928"/>
          </a:xfrm>
          <a:prstGeom prst="roundRect">
            <a:avLst>
              <a:gd name="adj" fmla="val 9677"/>
            </a:avLst>
          </a:prstGeom>
          <a:solidFill>
            <a:srgbClr val="FEF3C7"/>
          </a:solidFill>
          <a:ln w="12700">
            <a:solidFill>
              <a:srgbClr val="FEF3C7"/>
            </a:solidFill>
            <a:prstDash val="solid"/>
          </a:ln>
        </p:spPr>
      </p:sp>
      <p:sp>
        <p:nvSpPr>
          <p:cNvPr id="15" name="Text 11"/>
          <p:cNvSpPr txBox="1"/>
          <p:nvPr/>
        </p:nvSpPr>
        <p:spPr>
          <a:xfrm>
            <a:off x="3291840" y="621792"/>
            <a:ext cx="2560320" cy="274320"/>
          </a:xfrm>
          <a:prstGeom prst="rect">
            <a:avLst/>
          </a:prstGeom>
          <a:noFill/>
          <a:ln/>
        </p:spPr>
        <p:txBody>
          <a:bodyPr wrap="square" lIns="0" tIns="0" rIns="0" bIns="0" rtlCol="0" anchor="t"/>
          <a:lstStyle/>
          <a:p>
            <a:pPr indent="0" marL="0">
              <a:buNone/>
            </a:pPr>
            <a:r>
              <a:rPr lang="en-US" sz="1300" b="1" dirty="0">
                <a:solidFill>
                  <a:srgbClr val="0D2349"/>
                </a:solidFill>
                <a:latin typeface="Calibri" pitchFamily="34" charset="0"/>
                <a:ea typeface="Calibri" pitchFamily="34" charset="-122"/>
                <a:cs typeface="Calibri" pitchFamily="34" charset="-120"/>
              </a:rPr>
              <a:t>Evidence gate</a:t>
            </a:r>
            <a:endParaRPr lang="en-US" sz="1300" dirty="0"/>
          </a:p>
        </p:txBody>
      </p:sp>
      <p:sp>
        <p:nvSpPr>
          <p:cNvPr id="16" name="Text 12"/>
          <p:cNvSpPr txBox="1"/>
          <p:nvPr/>
        </p:nvSpPr>
        <p:spPr>
          <a:xfrm>
            <a:off x="3291840" y="896112"/>
            <a:ext cx="2560320" cy="201168"/>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N4 · before generation</a:t>
            </a:r>
            <a:endParaRPr lang="en-US" sz="900" dirty="0"/>
          </a:p>
        </p:txBody>
      </p:sp>
      <p:sp>
        <p:nvSpPr>
          <p:cNvPr id="17" name="Text 13"/>
          <p:cNvSpPr txBox="1"/>
          <p:nvPr/>
        </p:nvSpPr>
        <p:spPr>
          <a:xfrm>
            <a:off x="3291840" y="1243584"/>
            <a:ext cx="2560320" cy="2651760"/>
          </a:xfrm>
          <a:prstGeom prst="rect">
            <a:avLst/>
          </a:prstGeom>
          <a:noFill/>
          <a:ln/>
        </p:spPr>
        <p:txBody>
          <a:bodyPr wrap="square" lIns="0" tIns="0" rIns="0" bIns="0" rtlCol="0" anchor="t"/>
          <a:lstStyle/>
          <a:p>
            <a:pPr indent="0" marL="0">
              <a:buNone/>
            </a:pPr>
            <a:r>
              <a:rPr lang="en-US" sz="1050" b="1" dirty="0">
                <a:solidFill>
                  <a:srgbClr val="0E7490"/>
                </a:solidFill>
                <a:latin typeface="Calibri" pitchFamily="34" charset="0"/>
                <a:ea typeface="Calibri" pitchFamily="34" charset="-122"/>
                <a:cs typeface="Calibri" pitchFamily="34" charset="-120"/>
              </a:rPr>
              <a:t>Input: </a:t>
            </a:r>
            <a:pPr indent="0" marL="0">
              <a:spcAft>
                <a:spcPts val="600"/>
              </a:spcAft>
              <a:buNone/>
            </a:pPr>
            <a:r>
              <a:rPr lang="en-US" sz="1050" dirty="0">
                <a:solidFill>
                  <a:srgbClr val="111827"/>
                </a:solidFill>
                <a:latin typeface="Calibri" pitchFamily="34" charset="0"/>
                <a:ea typeface="Calibri" pitchFamily="34" charset="-122"/>
                <a:cs typeface="Calibri" pitchFamily="34" charset="-120"/>
              </a:rPr>
              <a:t>Reranker scores, score margins, agreement between routes, OCR confidence.</a:t>
            </a:r>
            <a:endParaRPr lang="en-US" sz="1050" dirty="0"/>
          </a:p>
          <a:p>
            <a:pPr indent="0" marL="0">
              <a:buNone/>
            </a:pPr>
            <a:r>
              <a:rPr lang="en-US" sz="1050" b="1" dirty="0">
                <a:solidFill>
                  <a:srgbClr val="0E7490"/>
                </a:solidFill>
                <a:latin typeface="Calibri" pitchFamily="34" charset="0"/>
                <a:ea typeface="Calibri" pitchFamily="34" charset="-122"/>
                <a:cs typeface="Calibri" pitchFamily="34" charset="-120"/>
              </a:rPr>
              <a:t>Model: </a:t>
            </a:r>
            <a:pPr indent="0" marL="0">
              <a:spcAft>
                <a:spcPts val="600"/>
              </a:spcAft>
              <a:buNone/>
            </a:pPr>
            <a:r>
              <a:rPr lang="en-US" sz="1050" dirty="0">
                <a:solidFill>
                  <a:srgbClr val="111827"/>
                </a:solidFill>
                <a:latin typeface="Calibri" pitchFamily="34" charset="0"/>
                <a:ea typeface="Calibri" pitchFamily="34" charset="-122"/>
                <a:cs typeface="Calibri" pitchFamily="34" charset="-120"/>
              </a:rPr>
              <a:t>Logistic regression giving a sufficiency score.</a:t>
            </a:r>
            <a:endParaRPr lang="en-US" sz="1050" dirty="0"/>
          </a:p>
          <a:p>
            <a:pPr indent="0" marL="0">
              <a:buNone/>
            </a:pPr>
            <a:r>
              <a:rPr lang="en-US" sz="1050" b="1" dirty="0">
                <a:solidFill>
                  <a:srgbClr val="0E7490"/>
                </a:solidFill>
                <a:latin typeface="Calibri" pitchFamily="34" charset="0"/>
                <a:ea typeface="Calibri" pitchFamily="34" charset="-122"/>
                <a:cs typeface="Calibri" pitchFamily="34" charset="-120"/>
              </a:rPr>
              <a:t>Threshold: </a:t>
            </a:r>
            <a:pPr indent="0" marL="0">
              <a:spcAft>
                <a:spcPts val="600"/>
              </a:spcAft>
              <a:buNone/>
            </a:pPr>
            <a:r>
              <a:rPr lang="en-US" sz="1050" dirty="0">
                <a:solidFill>
                  <a:srgbClr val="111827"/>
                </a:solidFill>
                <a:latin typeface="Calibri" pitchFamily="34" charset="0"/>
                <a:ea typeface="Calibri" pitchFamily="34" charset="-122"/>
                <a:cs typeface="Calibri" pitchFamily="34" charset="-120"/>
              </a:rPr>
              <a:t>τ chosen from the risk-coverage curve on the dev split.</a:t>
            </a:r>
            <a:endParaRPr lang="en-US" sz="1050" dirty="0"/>
          </a:p>
          <a:p>
            <a:pPr indent="0" marL="0">
              <a:buNone/>
            </a:pPr>
            <a:r>
              <a:rPr lang="en-US" sz="1050" b="1" dirty="0">
                <a:solidFill>
                  <a:srgbClr val="0E7490"/>
                </a:solidFill>
                <a:latin typeface="Calibri" pitchFamily="34" charset="0"/>
                <a:ea typeface="Calibri" pitchFamily="34" charset="-122"/>
                <a:cs typeface="Calibri" pitchFamily="34" charset="-120"/>
              </a:rPr>
              <a:t>Output: </a:t>
            </a:r>
            <a:pPr indent="0" marL="0">
              <a:spcAft>
                <a:spcPts val="600"/>
              </a:spcAft>
              <a:buNone/>
            </a:pPr>
            <a:r>
              <a:rPr lang="en-US" sz="1050" dirty="0">
                <a:solidFill>
                  <a:srgbClr val="111827"/>
                </a:solidFill>
                <a:latin typeface="Calibri" pitchFamily="34" charset="0"/>
                <a:ea typeface="Calibri" pitchFamily="34" charset="-122"/>
                <a:cs typeface="Calibri" pitchFamily="34" charset="-120"/>
              </a:rPr>
              <a:t>Below τ: abstain without calling the LLM and show the nearest pages.</a:t>
            </a:r>
            <a:endParaRPr lang="en-US" sz="1050" dirty="0"/>
          </a:p>
        </p:txBody>
      </p:sp>
      <p:sp>
        <p:nvSpPr>
          <p:cNvPr id="18" name="Shape 14"/>
          <p:cNvSpPr/>
          <p:nvPr/>
        </p:nvSpPr>
        <p:spPr>
          <a:xfrm>
            <a:off x="6089904" y="585216"/>
            <a:ext cx="2779776" cy="3346704"/>
          </a:xfrm>
          <a:prstGeom prst="roundRect">
            <a:avLst>
              <a:gd name="adj" fmla="val 1974"/>
            </a:avLst>
          </a:prstGeom>
          <a:solidFill>
            <a:srgbClr val="F3F4F6"/>
          </a:solidFill>
          <a:ln w="9525">
            <a:solidFill>
              <a:srgbClr val="D1D5DB"/>
            </a:solidFill>
            <a:prstDash val="solid"/>
          </a:ln>
        </p:spPr>
      </p:sp>
      <p:sp>
        <p:nvSpPr>
          <p:cNvPr id="19" name="Shape 15"/>
          <p:cNvSpPr/>
          <p:nvPr/>
        </p:nvSpPr>
        <p:spPr>
          <a:xfrm>
            <a:off x="6089904" y="585216"/>
            <a:ext cx="2779776" cy="566928"/>
          </a:xfrm>
          <a:prstGeom prst="roundRect">
            <a:avLst>
              <a:gd name="adj" fmla="val 9677"/>
            </a:avLst>
          </a:prstGeom>
          <a:solidFill>
            <a:srgbClr val="DCFCE7"/>
          </a:solidFill>
          <a:ln w="12700">
            <a:solidFill>
              <a:srgbClr val="DCFCE7"/>
            </a:solidFill>
            <a:prstDash val="solid"/>
          </a:ln>
        </p:spPr>
      </p:sp>
      <p:sp>
        <p:nvSpPr>
          <p:cNvPr id="20" name="Text 16"/>
          <p:cNvSpPr txBox="1"/>
          <p:nvPr/>
        </p:nvSpPr>
        <p:spPr>
          <a:xfrm>
            <a:off x="6199632" y="621792"/>
            <a:ext cx="2560320" cy="274320"/>
          </a:xfrm>
          <a:prstGeom prst="rect">
            <a:avLst/>
          </a:prstGeom>
          <a:noFill/>
          <a:ln/>
        </p:spPr>
        <p:txBody>
          <a:bodyPr wrap="square" lIns="0" tIns="0" rIns="0" bIns="0" rtlCol="0" anchor="t"/>
          <a:lstStyle/>
          <a:p>
            <a:pPr indent="0" marL="0">
              <a:buNone/>
            </a:pPr>
            <a:r>
              <a:rPr lang="en-US" sz="1300" b="1" dirty="0">
                <a:solidFill>
                  <a:srgbClr val="0D2349"/>
                </a:solidFill>
                <a:latin typeface="Calibri" pitchFamily="34" charset="0"/>
                <a:ea typeface="Calibri" pitchFamily="34" charset="-122"/>
                <a:cs typeface="Calibri" pitchFamily="34" charset="-120"/>
              </a:rPr>
              <a:t>Claim verifier</a:t>
            </a:r>
            <a:endParaRPr lang="en-US" sz="1300" dirty="0"/>
          </a:p>
        </p:txBody>
      </p:sp>
      <p:sp>
        <p:nvSpPr>
          <p:cNvPr id="21" name="Text 17"/>
          <p:cNvSpPr txBox="1"/>
          <p:nvPr/>
        </p:nvSpPr>
        <p:spPr>
          <a:xfrm>
            <a:off x="6199632" y="896112"/>
            <a:ext cx="2560320" cy="201168"/>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N4 + N5 · after generation</a:t>
            </a:r>
            <a:endParaRPr lang="en-US" sz="900" dirty="0"/>
          </a:p>
        </p:txBody>
      </p:sp>
      <p:sp>
        <p:nvSpPr>
          <p:cNvPr id="22" name="Text 18"/>
          <p:cNvSpPr txBox="1"/>
          <p:nvPr/>
        </p:nvSpPr>
        <p:spPr>
          <a:xfrm>
            <a:off x="6199632" y="1243584"/>
            <a:ext cx="2560320" cy="2651760"/>
          </a:xfrm>
          <a:prstGeom prst="rect">
            <a:avLst/>
          </a:prstGeom>
          <a:noFill/>
          <a:ln/>
        </p:spPr>
        <p:txBody>
          <a:bodyPr wrap="square" lIns="0" tIns="0" rIns="0" bIns="0" rtlCol="0" anchor="t"/>
          <a:lstStyle/>
          <a:p>
            <a:pPr indent="0" marL="0">
              <a:buNone/>
            </a:pPr>
            <a:r>
              <a:rPr lang="en-US" sz="1050" b="1" dirty="0">
                <a:solidFill>
                  <a:srgbClr val="0E7490"/>
                </a:solidFill>
                <a:latin typeface="Calibri" pitchFamily="34" charset="0"/>
                <a:ea typeface="Calibri" pitchFamily="34" charset="-122"/>
                <a:cs typeface="Calibri" pitchFamily="34" charset="-120"/>
              </a:rPr>
              <a:t>Check: </a:t>
            </a:r>
            <a:pPr indent="0" marL="0">
              <a:spcAft>
                <a:spcPts val="600"/>
              </a:spcAft>
              <a:buNone/>
            </a:pPr>
            <a:r>
              <a:rPr lang="en-US" sz="1050" dirty="0">
                <a:solidFill>
                  <a:srgbClr val="111827"/>
                </a:solidFill>
                <a:latin typeface="Calibri" pitchFamily="34" charset="0"/>
                <a:ea typeface="Calibri" pitchFamily="34" charset="-122"/>
                <a:cs typeface="Calibri" pitchFamily="34" charset="-120"/>
              </a:rPr>
              <a:t>Multilingual NLI on each sentence against the passage it cites.</a:t>
            </a:r>
            <a:endParaRPr lang="en-US" sz="1050" dirty="0"/>
          </a:p>
          <a:p>
            <a:pPr indent="0" marL="0">
              <a:buNone/>
            </a:pPr>
            <a:r>
              <a:rPr lang="en-US" sz="1050" b="1" dirty="0">
                <a:solidFill>
                  <a:srgbClr val="0E7490"/>
                </a:solidFill>
                <a:latin typeface="Calibri" pitchFamily="34" charset="0"/>
                <a:ea typeface="Calibri" pitchFamily="34" charset="-122"/>
                <a:cs typeface="Calibri" pitchFamily="34" charset="-120"/>
              </a:rPr>
              <a:t>Action: </a:t>
            </a:r>
            <a:pPr indent="0" marL="0">
              <a:spcAft>
                <a:spcPts val="600"/>
              </a:spcAft>
              <a:buNone/>
            </a:pPr>
            <a:r>
              <a:rPr lang="en-US" sz="1050" dirty="0">
                <a:solidFill>
                  <a:srgbClr val="111827"/>
                </a:solidFill>
                <a:latin typeface="Calibri" pitchFamily="34" charset="0"/>
                <a:ea typeface="Calibri" pitchFamily="34" charset="-122"/>
                <a:cs typeface="Calibri" pitchFamily="34" charset="-120"/>
              </a:rPr>
              <a:t>Drop unsupported sentences; abstain if too few remain.</a:t>
            </a:r>
            <a:endParaRPr lang="en-US" sz="1050" dirty="0"/>
          </a:p>
          <a:p>
            <a:pPr indent="0" marL="0">
              <a:buNone/>
            </a:pPr>
            <a:r>
              <a:rPr lang="en-US" sz="1050" b="1" dirty="0">
                <a:solidFill>
                  <a:srgbClr val="0E7490"/>
                </a:solidFill>
                <a:latin typeface="Calibri" pitchFamily="34" charset="0"/>
                <a:ea typeface="Calibri" pitchFamily="34" charset="-122"/>
                <a:cs typeface="Calibri" pitchFamily="34" charset="-120"/>
              </a:rPr>
              <a:t>Script: </a:t>
            </a:r>
            <a:pPr indent="0" marL="0">
              <a:spcAft>
                <a:spcPts val="600"/>
              </a:spcAft>
              <a:buNone/>
            </a:pPr>
            <a:r>
              <a:rPr lang="en-US" sz="1050" dirty="0">
                <a:solidFill>
                  <a:srgbClr val="111827"/>
                </a:solidFill>
                <a:latin typeface="Calibri" pitchFamily="34" charset="0"/>
                <a:ea typeface="Calibri" pitchFamily="34" charset="-122"/>
                <a:cs typeface="Calibri" pitchFamily="34" charset="-120"/>
              </a:rPr>
              <a:t>Romanized in, romanized out; repair with IndicXlit or IndicTrans2.</a:t>
            </a:r>
            <a:endParaRPr lang="en-US" sz="1050" dirty="0"/>
          </a:p>
          <a:p>
            <a:pPr indent="0" marL="0">
              <a:buNone/>
            </a:pPr>
            <a:r>
              <a:rPr lang="en-US" sz="1050" b="1" dirty="0">
                <a:solidFill>
                  <a:srgbClr val="0E7490"/>
                </a:solidFill>
                <a:latin typeface="Calibri" pitchFamily="34" charset="0"/>
                <a:ea typeface="Calibri" pitchFamily="34" charset="-122"/>
                <a:cs typeface="Calibri" pitchFamily="34" charset="-120"/>
              </a:rPr>
              <a:t>Training: </a:t>
            </a:r>
            <a:pPr indent="0" marL="0">
              <a:spcAft>
                <a:spcPts val="600"/>
              </a:spcAft>
              <a:buNone/>
            </a:pPr>
            <a:r>
              <a:rPr lang="en-US" sz="1050" dirty="0">
                <a:solidFill>
                  <a:srgbClr val="111827"/>
                </a:solidFill>
                <a:latin typeface="Calibri" pitchFamily="34" charset="0"/>
                <a:ea typeface="Calibri" pitchFamily="34" charset="-122"/>
                <a:cs typeface="Calibri" pitchFamily="34" charset="-120"/>
              </a:rPr>
              <a:t>Optional fine-tune on 1-2k checked Hindi/Marathi pairs (XNLI has no Marathi).</a:t>
            </a:r>
            <a:endParaRPr lang="en-US" sz="1050" dirty="0"/>
          </a:p>
        </p:txBody>
      </p:sp>
      <p:sp>
        <p:nvSpPr>
          <p:cNvPr id="23" name="Shape 19"/>
          <p:cNvSpPr/>
          <p:nvPr/>
        </p:nvSpPr>
        <p:spPr>
          <a:xfrm>
            <a:off x="274320" y="4041648"/>
            <a:ext cx="4251960" cy="731520"/>
          </a:xfrm>
          <a:prstGeom prst="roundRect">
            <a:avLst>
              <a:gd name="adj" fmla="val 7500"/>
            </a:avLst>
          </a:prstGeom>
          <a:solidFill>
            <a:srgbClr val="FFFFFF"/>
          </a:solidFill>
          <a:ln w="9525">
            <a:solidFill>
              <a:srgbClr val="D1D5DB"/>
            </a:solidFill>
            <a:prstDash val="solid"/>
          </a:ln>
        </p:spPr>
      </p:sp>
      <p:sp>
        <p:nvSpPr>
          <p:cNvPr id="24" name="Text 20"/>
          <p:cNvSpPr txBox="1"/>
          <p:nvPr/>
        </p:nvSpPr>
        <p:spPr>
          <a:xfrm>
            <a:off x="384048" y="4078224"/>
            <a:ext cx="4032504" cy="658368"/>
          </a:xfrm>
          <a:prstGeom prst="rect">
            <a:avLst/>
          </a:prstGeom>
          <a:noFill/>
          <a:ln/>
        </p:spPr>
        <p:txBody>
          <a:bodyPr wrap="square" lIns="0" tIns="0" rIns="0" bIns="0" rtlCol="0" anchor="ctr"/>
          <a:lstStyle/>
          <a:p>
            <a:pPr indent="0" marL="0">
              <a:buNone/>
            </a:pPr>
            <a:r>
              <a:rPr lang="en-US" sz="950" b="1" dirty="0">
                <a:solidFill>
                  <a:srgbClr val="0D2349"/>
                </a:solidFill>
                <a:latin typeface="Calibri" pitchFamily="34" charset="0"/>
                <a:ea typeface="Calibri" pitchFamily="34" charset="-122"/>
                <a:cs typeface="Calibri" pitchFamily="34" charset="-120"/>
              </a:rPr>
              <a:t>Query views (N2): </a:t>
            </a:r>
            <a:pPr indent="0" marL="0">
              <a:buNone/>
            </a:pPr>
            <a:r>
              <a:rPr lang="en-US" sz="950" dirty="0">
                <a:solidFill>
                  <a:srgbClr val="111827"/>
                </a:solidFill>
                <a:latin typeface="Calibri" pitchFamily="34" charset="0"/>
                <a:ea typeface="Calibri" pitchFamily="34" charset="-122"/>
                <a:cs typeface="Calibri" pitchFamily="34" charset="-120"/>
              </a:rPr>
              <a:t>as typed · IndicXlit → Devanagari · IndicTrans2 → English · digits </a:t>
            </a:r>
            <a:pPr indent="0" marL="0">
              <a:buNone/>
            </a:pPr>
            <a:r>
              <a:rPr lang="en-US" sz="950" dirty="0">
                <a:solidFill>
                  <a:srgbClr val="111827"/>
                </a:solidFill>
                <a:latin typeface="Nirmala UI" pitchFamily="34" charset="0"/>
                <a:ea typeface="Nirmala UI" pitchFamily="34" charset="-122"/>
                <a:cs typeface="Nirmala UI" pitchFamily="34" charset="-120"/>
              </a:rPr>
              <a:t>१४२</a:t>
            </a:r>
            <a:pPr indent="0" marL="0">
              <a:buNone/>
            </a:pPr>
            <a:r>
              <a:rPr lang="en-US" sz="950" dirty="0">
                <a:solidFill>
                  <a:srgbClr val="111827"/>
                </a:solidFill>
                <a:latin typeface="Calibri" pitchFamily="34" charset="0"/>
                <a:ea typeface="Calibri" pitchFamily="34" charset="-122"/>
                <a:cs typeface="Calibri" pitchFamily="34" charset="-120"/>
              </a:rPr>
              <a:t> ↔ 142</a:t>
            </a:r>
            <a:endParaRPr lang="en-US" sz="950" dirty="0"/>
          </a:p>
        </p:txBody>
      </p:sp>
      <p:sp>
        <p:nvSpPr>
          <p:cNvPr id="25" name="Shape 21"/>
          <p:cNvSpPr/>
          <p:nvPr/>
        </p:nvSpPr>
        <p:spPr>
          <a:xfrm>
            <a:off x="4617720" y="4041648"/>
            <a:ext cx="4251960" cy="731520"/>
          </a:xfrm>
          <a:prstGeom prst="roundRect">
            <a:avLst>
              <a:gd name="adj" fmla="val 7500"/>
            </a:avLst>
          </a:prstGeom>
          <a:solidFill>
            <a:srgbClr val="FFFFFF"/>
          </a:solidFill>
          <a:ln w="9525">
            <a:solidFill>
              <a:srgbClr val="D1D5DB"/>
            </a:solidFill>
            <a:prstDash val="solid"/>
          </a:ln>
        </p:spPr>
      </p:sp>
      <p:sp>
        <p:nvSpPr>
          <p:cNvPr id="26" name="Text 22"/>
          <p:cNvSpPr txBox="1"/>
          <p:nvPr/>
        </p:nvSpPr>
        <p:spPr>
          <a:xfrm>
            <a:off x="4727448" y="4078224"/>
            <a:ext cx="4032504" cy="658368"/>
          </a:xfrm>
          <a:prstGeom prst="rect">
            <a:avLst/>
          </a:prstGeom>
          <a:noFill/>
          <a:ln/>
        </p:spPr>
        <p:txBody>
          <a:bodyPr wrap="square" lIns="0" tIns="0" rIns="0" bIns="0" rtlCol="0" anchor="ctr"/>
          <a:lstStyle/>
          <a:p>
            <a:pPr indent="0" marL="0">
              <a:buNone/>
            </a:pPr>
            <a:r>
              <a:rPr lang="en-US" sz="950" b="1" dirty="0">
                <a:solidFill>
                  <a:srgbClr val="0D2349"/>
                </a:solidFill>
                <a:latin typeface="Calibri" pitchFamily="34" charset="0"/>
                <a:ea typeface="Calibri" pitchFamily="34" charset="-122"/>
                <a:cs typeface="Calibri" pitchFamily="34" charset="-120"/>
              </a:rPr>
              <a:t>OCR-aware fusion (N3): </a:t>
            </a:r>
            <a:pPr indent="0" marL="0">
              <a:buNone/>
            </a:pPr>
            <a:r>
              <a:rPr lang="en-US" sz="950" dirty="0">
                <a:solidFill>
                  <a:srgbClr val="111827"/>
                </a:solidFill>
                <a:latin typeface="Calibri" pitchFamily="34" charset="0"/>
                <a:ea typeface="Calibri" pitchFamily="34" charset="-122"/>
                <a:cs typeface="Calibri" pitchFamily="34" charset="-120"/>
              </a:rPr>
              <a:t>page OCR confidence feeds the router, shifts weight to character n-grams, adds a "check the page" badge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D2349"/>
          </a:solidFill>
          <a:ln w="12700">
            <a:solidFill>
              <a:srgbClr val="0D2349"/>
            </a:solidFill>
            <a:prstDash val="solid"/>
          </a:ln>
        </p:spPr>
      </p:sp>
      <p:sp>
        <p:nvSpPr>
          <p:cNvPr id="3" name="Text 1"/>
          <p:cNvSpPr txBox="1"/>
          <p:nvPr/>
        </p:nvSpPr>
        <p:spPr>
          <a:xfrm>
            <a:off x="274320" y="0"/>
            <a:ext cx="7863840"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Methodology</a:t>
            </a:r>
            <a:endParaRPr lang="en-US" sz="1900" dirty="0"/>
          </a:p>
        </p:txBody>
      </p:sp>
      <p:pic>
        <p:nvPicPr>
          <p:cNvPr id="4" name="Image 0" descr="MMCOE logo">    </p:cNvPr>
          <p:cNvPicPr>
            <a:picLocks noChangeAspect="1"/>
          </p:cNvPicPr>
          <p:nvPr/>
        </p:nvPicPr>
        <p:blipFill>
          <a:blip r:embed="rId1"/>
          <a:stretch>
            <a:fillRect/>
          </a:stretch>
        </p:blipFill>
        <p:spPr>
          <a:xfrm>
            <a:off x="8531352" y="36576"/>
            <a:ext cx="320040" cy="384048"/>
          </a:xfrm>
          <a:prstGeom prst="rect">
            <a:avLst/>
          </a:prstGeom>
        </p:spPr>
      </p:pic>
      <p:sp>
        <p:nvSpPr>
          <p:cNvPr id="5" name="Text 2"/>
          <p:cNvSpPr txBox="1"/>
          <p:nvPr/>
        </p:nvSpPr>
        <p:spPr>
          <a:xfrm>
            <a:off x="274320" y="4882896"/>
            <a:ext cx="7680960" cy="201168"/>
          </a:xfrm>
          <a:prstGeom prst="rect">
            <a:avLst/>
          </a:prstGeom>
          <a:noFill/>
          <a:ln/>
        </p:spPr>
        <p:txBody>
          <a:bodyPr wrap="square" lIns="0" tIns="0" rIns="0" bIns="0" rtlCol="0" anchor="ctr"/>
          <a:lstStyle/>
          <a:p>
            <a:pPr indent="0" marL="0">
              <a:buNone/>
            </a:pPr>
            <a:r>
              <a:rPr lang="en-US" sz="700" dirty="0">
                <a:solidFill>
                  <a:srgbClr val="9CA3AF"/>
                </a:solidFill>
                <a:latin typeface="Calibri" pitchFamily="34" charset="0"/>
                <a:ea typeface="Calibri" pitchFamily="34" charset="-122"/>
                <a:cs typeface="Calibri" pitchFamily="34" charset="-120"/>
              </a:rPr>
              <a:t>Sakshya · Multilingual Document Intelligence (RAG)  |  BE Project Review 2  |  MMCOE Pune</a:t>
            </a:r>
            <a:endParaRPr lang="en-US" sz="700" dirty="0"/>
          </a:p>
        </p:txBody>
      </p:sp>
      <p:sp>
        <p:nvSpPr>
          <p:cNvPr id="6" name="Text 3"/>
          <p:cNvSpPr txBox="1"/>
          <p:nvPr/>
        </p:nvSpPr>
        <p:spPr>
          <a:xfrm>
            <a:off x="8412480" y="4882896"/>
            <a:ext cx="457200" cy="201168"/>
          </a:xfrm>
          <a:prstGeom prst="rect">
            <a:avLst/>
          </a:prstGeom>
          <a:noFill/>
          <a:ln/>
        </p:spPr>
        <p:txBody>
          <a:bodyPr wrap="square" lIns="0" tIns="0" rIns="0" bIns="0" rtlCol="0" anchor="ctr"/>
          <a:lstStyle/>
          <a:p>
            <a:pPr algn="r" indent="0" marL="0">
              <a:buNone/>
            </a:pPr>
            <a:r>
              <a:rPr lang="en-US" sz="700" dirty="0">
                <a:solidFill>
                  <a:srgbClr val="9CA3AF"/>
                </a:solidFill>
                <a:latin typeface="Calibri" pitchFamily="34" charset="0"/>
                <a:ea typeface="Calibri" pitchFamily="34" charset="-122"/>
                <a:cs typeface="Calibri" pitchFamily="34" charset="-120"/>
              </a:rPr>
              <a:t>9</a:t>
            </a:r>
            <a:endParaRPr lang="en-US" sz="700" dirty="0"/>
          </a:p>
        </p:txBody>
      </p:sp>
      <p:sp>
        <p:nvSpPr>
          <p:cNvPr id="8" name="Text 4"/>
          <p:cNvSpPr txBox="1"/>
          <p:nvPr/>
        </p:nvSpPr>
        <p:spPr>
          <a:xfrm>
            <a:off x="274320" y="585216"/>
            <a:ext cx="4251960" cy="237744"/>
          </a:xfrm>
          <a:prstGeom prst="rect">
            <a:avLst/>
          </a:prstGeom>
          <a:noFill/>
          <a:ln/>
        </p:spPr>
        <p:txBody>
          <a:bodyPr wrap="square" lIns="0" tIns="0" rIns="0" bIns="0" rtlCol="0" anchor="ctr"/>
          <a:lstStyle/>
          <a:p>
            <a:pPr indent="0" marL="0">
              <a:buNone/>
            </a:pPr>
            <a:r>
              <a:rPr lang="en-US" sz="1100" b="1" dirty="0">
                <a:solidFill>
                  <a:srgbClr val="0E7490"/>
                </a:solidFill>
                <a:latin typeface="Calibri" pitchFamily="34" charset="0"/>
                <a:ea typeface="Calibri" pitchFamily="34" charset="-122"/>
                <a:cs typeface="Calibri" pitchFamily="34" charset="-120"/>
              </a:rPr>
              <a:t>Page-anchored ingestion</a:t>
            </a:r>
            <a:endParaRPr lang="en-US" sz="1100" dirty="0"/>
          </a:p>
        </p:txBody>
      </p:sp>
      <p:sp>
        <p:nvSpPr>
          <p:cNvPr id="9" name="Shape 5"/>
          <p:cNvSpPr/>
          <p:nvPr/>
        </p:nvSpPr>
        <p:spPr>
          <a:xfrm>
            <a:off x="274320" y="896112"/>
            <a:ext cx="4251960" cy="475488"/>
          </a:xfrm>
          <a:prstGeom prst="rect">
            <a:avLst/>
          </a:prstGeom>
          <a:solidFill>
            <a:srgbClr val="DBEAFE"/>
          </a:solidFill>
          <a:ln w="12700">
            <a:solidFill>
              <a:srgbClr val="DBEAFE"/>
            </a:solidFill>
            <a:prstDash val="solid"/>
          </a:ln>
        </p:spPr>
      </p:sp>
      <p:sp>
        <p:nvSpPr>
          <p:cNvPr id="10" name="Text 6"/>
          <p:cNvSpPr txBox="1"/>
          <p:nvPr/>
        </p:nvSpPr>
        <p:spPr>
          <a:xfrm>
            <a:off x="365760" y="896112"/>
            <a:ext cx="274320" cy="475488"/>
          </a:xfrm>
          <a:prstGeom prst="rect">
            <a:avLst/>
          </a:prstGeom>
          <a:noFill/>
          <a:ln/>
        </p:spPr>
        <p:txBody>
          <a:bodyPr wrap="square" lIns="0" tIns="0" rIns="0" bIns="0" rtlCol="0" anchor="ctr"/>
          <a:lstStyle/>
          <a:p>
            <a:pPr algn="ctr" indent="0" marL="0">
              <a:buNone/>
            </a:pPr>
            <a:r>
              <a:rPr lang="en-US" sz="1400" b="1" dirty="0">
                <a:solidFill>
                  <a:srgbClr val="0D2349"/>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731520" y="896112"/>
            <a:ext cx="3703320" cy="475488"/>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Detect file type; pages with no usable text layer go to OCR</a:t>
            </a:r>
            <a:endParaRPr lang="en-US" sz="1000" dirty="0"/>
          </a:p>
        </p:txBody>
      </p:sp>
      <p:sp>
        <p:nvSpPr>
          <p:cNvPr id="12" name="Shape 8"/>
          <p:cNvSpPr/>
          <p:nvPr/>
        </p:nvSpPr>
        <p:spPr>
          <a:xfrm>
            <a:off x="274320" y="1444752"/>
            <a:ext cx="4251960" cy="475488"/>
          </a:xfrm>
          <a:prstGeom prst="rect">
            <a:avLst/>
          </a:prstGeom>
          <a:solidFill>
            <a:srgbClr val="F3F4F6"/>
          </a:solidFill>
          <a:ln w="12700">
            <a:solidFill>
              <a:srgbClr val="F3F4F6"/>
            </a:solidFill>
            <a:prstDash val="solid"/>
          </a:ln>
        </p:spPr>
      </p:sp>
      <p:sp>
        <p:nvSpPr>
          <p:cNvPr id="13" name="Text 9"/>
          <p:cNvSpPr txBox="1"/>
          <p:nvPr/>
        </p:nvSpPr>
        <p:spPr>
          <a:xfrm>
            <a:off x="365760" y="1444752"/>
            <a:ext cx="274320" cy="475488"/>
          </a:xfrm>
          <a:prstGeom prst="rect">
            <a:avLst/>
          </a:prstGeom>
          <a:noFill/>
          <a:ln/>
        </p:spPr>
        <p:txBody>
          <a:bodyPr wrap="square" lIns="0" tIns="0" rIns="0" bIns="0" rtlCol="0" anchor="ctr"/>
          <a:lstStyle/>
          <a:p>
            <a:pPr algn="ctr" indent="0" marL="0">
              <a:buNone/>
            </a:pPr>
            <a:r>
              <a:rPr lang="en-US" sz="1400" b="1" dirty="0">
                <a:solidFill>
                  <a:srgbClr val="0D2349"/>
                </a:solidFill>
                <a:latin typeface="Calibri" pitchFamily="34" charset="0"/>
                <a:ea typeface="Calibri" pitchFamily="34" charset="-122"/>
                <a:cs typeface="Calibri" pitchFamily="34" charset="-120"/>
              </a:rPr>
              <a:t>2</a:t>
            </a:r>
            <a:endParaRPr lang="en-US" sz="1400" dirty="0"/>
          </a:p>
        </p:txBody>
      </p:sp>
      <p:sp>
        <p:nvSpPr>
          <p:cNvPr id="14" name="Text 10"/>
          <p:cNvSpPr txBox="1"/>
          <p:nvPr/>
        </p:nvSpPr>
        <p:spPr>
          <a:xfrm>
            <a:off x="731520" y="1444752"/>
            <a:ext cx="3703320" cy="475488"/>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Tesseract OCR (hin + mar + eng, 300 DPI); keep word confidence and boxes</a:t>
            </a:r>
            <a:endParaRPr lang="en-US" sz="1000" dirty="0"/>
          </a:p>
        </p:txBody>
      </p:sp>
      <p:sp>
        <p:nvSpPr>
          <p:cNvPr id="15" name="Shape 11"/>
          <p:cNvSpPr/>
          <p:nvPr/>
        </p:nvSpPr>
        <p:spPr>
          <a:xfrm>
            <a:off x="274320" y="1993392"/>
            <a:ext cx="4251960" cy="475488"/>
          </a:xfrm>
          <a:prstGeom prst="rect">
            <a:avLst/>
          </a:prstGeom>
          <a:solidFill>
            <a:srgbClr val="DBEAFE"/>
          </a:solidFill>
          <a:ln w="12700">
            <a:solidFill>
              <a:srgbClr val="DBEAFE"/>
            </a:solidFill>
            <a:prstDash val="solid"/>
          </a:ln>
        </p:spPr>
      </p:sp>
      <p:sp>
        <p:nvSpPr>
          <p:cNvPr id="16" name="Text 12"/>
          <p:cNvSpPr txBox="1"/>
          <p:nvPr/>
        </p:nvSpPr>
        <p:spPr>
          <a:xfrm>
            <a:off x="365760" y="1993392"/>
            <a:ext cx="274320" cy="475488"/>
          </a:xfrm>
          <a:prstGeom prst="rect">
            <a:avLst/>
          </a:prstGeom>
          <a:noFill/>
          <a:ln/>
        </p:spPr>
        <p:txBody>
          <a:bodyPr wrap="square" lIns="0" tIns="0" rIns="0" bIns="0" rtlCol="0" anchor="ctr"/>
          <a:lstStyle/>
          <a:p>
            <a:pPr algn="ctr" indent="0" marL="0">
              <a:buNone/>
            </a:pPr>
            <a:r>
              <a:rPr lang="en-US" sz="1400" b="1" dirty="0">
                <a:solidFill>
                  <a:srgbClr val="0D2349"/>
                </a:solidFill>
                <a:latin typeface="Calibri" pitchFamily="34" charset="0"/>
                <a:ea typeface="Calibri" pitchFamily="34" charset="-122"/>
                <a:cs typeface="Calibri" pitchFamily="34" charset="-120"/>
              </a:rPr>
              <a:t>3</a:t>
            </a:r>
            <a:endParaRPr lang="en-US" sz="1400" dirty="0"/>
          </a:p>
        </p:txBody>
      </p:sp>
      <p:sp>
        <p:nvSpPr>
          <p:cNvPr id="17" name="Text 13"/>
          <p:cNvSpPr txBox="1"/>
          <p:nvPr/>
        </p:nvSpPr>
        <p:spPr>
          <a:xfrm>
            <a:off x="731520" y="1993392"/>
            <a:ext cx="3703320" cy="475488"/>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Convert DOCX to PDF so every citation opens a real page</a:t>
            </a:r>
            <a:endParaRPr lang="en-US" sz="1000" dirty="0"/>
          </a:p>
        </p:txBody>
      </p:sp>
      <p:sp>
        <p:nvSpPr>
          <p:cNvPr id="18" name="Shape 14"/>
          <p:cNvSpPr/>
          <p:nvPr/>
        </p:nvSpPr>
        <p:spPr>
          <a:xfrm>
            <a:off x="274320" y="2542032"/>
            <a:ext cx="4251960" cy="475488"/>
          </a:xfrm>
          <a:prstGeom prst="rect">
            <a:avLst/>
          </a:prstGeom>
          <a:solidFill>
            <a:srgbClr val="F3F4F6"/>
          </a:solidFill>
          <a:ln w="12700">
            <a:solidFill>
              <a:srgbClr val="F3F4F6"/>
            </a:solidFill>
            <a:prstDash val="solid"/>
          </a:ln>
        </p:spPr>
      </p:sp>
      <p:sp>
        <p:nvSpPr>
          <p:cNvPr id="19" name="Text 15"/>
          <p:cNvSpPr txBox="1"/>
          <p:nvPr/>
        </p:nvSpPr>
        <p:spPr>
          <a:xfrm>
            <a:off x="365760" y="2542032"/>
            <a:ext cx="274320" cy="475488"/>
          </a:xfrm>
          <a:prstGeom prst="rect">
            <a:avLst/>
          </a:prstGeom>
          <a:noFill/>
          <a:ln/>
        </p:spPr>
        <p:txBody>
          <a:bodyPr wrap="square" lIns="0" tIns="0" rIns="0" bIns="0" rtlCol="0" anchor="ctr"/>
          <a:lstStyle/>
          <a:p>
            <a:pPr algn="ctr" indent="0" marL="0">
              <a:buNone/>
            </a:pPr>
            <a:r>
              <a:rPr lang="en-US" sz="1400" b="1" dirty="0">
                <a:solidFill>
                  <a:srgbClr val="0D2349"/>
                </a:solidFill>
                <a:latin typeface="Calibri" pitchFamily="34" charset="0"/>
                <a:ea typeface="Calibri" pitchFamily="34" charset="-122"/>
                <a:cs typeface="Calibri" pitchFamily="34" charset="-120"/>
              </a:rPr>
              <a:t>4</a:t>
            </a:r>
            <a:endParaRPr lang="en-US" sz="1400" dirty="0"/>
          </a:p>
        </p:txBody>
      </p:sp>
      <p:sp>
        <p:nvSpPr>
          <p:cNvPr id="20" name="Text 16"/>
          <p:cNvSpPr txBox="1"/>
          <p:nvPr/>
        </p:nvSpPr>
        <p:spPr>
          <a:xfrm>
            <a:off x="731520" y="2542032"/>
            <a:ext cx="3703320" cy="475488"/>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IndicLID script + language per block (not langdetect)</a:t>
            </a:r>
            <a:endParaRPr lang="en-US" sz="1000" dirty="0"/>
          </a:p>
        </p:txBody>
      </p:sp>
      <p:sp>
        <p:nvSpPr>
          <p:cNvPr id="21" name="Shape 17"/>
          <p:cNvSpPr/>
          <p:nvPr/>
        </p:nvSpPr>
        <p:spPr>
          <a:xfrm>
            <a:off x="274320" y="3090672"/>
            <a:ext cx="4251960" cy="475488"/>
          </a:xfrm>
          <a:prstGeom prst="rect">
            <a:avLst/>
          </a:prstGeom>
          <a:solidFill>
            <a:srgbClr val="DBEAFE"/>
          </a:solidFill>
          <a:ln w="12700">
            <a:solidFill>
              <a:srgbClr val="DBEAFE"/>
            </a:solidFill>
            <a:prstDash val="solid"/>
          </a:ln>
        </p:spPr>
      </p:sp>
      <p:sp>
        <p:nvSpPr>
          <p:cNvPr id="22" name="Text 18"/>
          <p:cNvSpPr txBox="1"/>
          <p:nvPr/>
        </p:nvSpPr>
        <p:spPr>
          <a:xfrm>
            <a:off x="365760" y="3090672"/>
            <a:ext cx="274320" cy="475488"/>
          </a:xfrm>
          <a:prstGeom prst="rect">
            <a:avLst/>
          </a:prstGeom>
          <a:noFill/>
          <a:ln/>
        </p:spPr>
        <p:txBody>
          <a:bodyPr wrap="square" lIns="0" tIns="0" rIns="0" bIns="0" rtlCol="0" anchor="ctr"/>
          <a:lstStyle/>
          <a:p>
            <a:pPr algn="ctr" indent="0" marL="0">
              <a:buNone/>
            </a:pPr>
            <a:r>
              <a:rPr lang="en-US" sz="1400" b="1" dirty="0">
                <a:solidFill>
                  <a:srgbClr val="0D2349"/>
                </a:solidFill>
                <a:latin typeface="Calibri" pitchFamily="34" charset="0"/>
                <a:ea typeface="Calibri" pitchFamily="34" charset="-122"/>
                <a:cs typeface="Calibri" pitchFamily="34" charset="-120"/>
              </a:rPr>
              <a:t>5</a:t>
            </a:r>
            <a:endParaRPr lang="en-US" sz="1400" dirty="0"/>
          </a:p>
        </p:txBody>
      </p:sp>
      <p:sp>
        <p:nvSpPr>
          <p:cNvPr id="23" name="Text 19"/>
          <p:cNvSpPr txBox="1"/>
          <p:nvPr/>
        </p:nvSpPr>
        <p:spPr>
          <a:xfrm>
            <a:off x="731520" y="3090672"/>
            <a:ext cx="3703320" cy="475488"/>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IndicNLP normalization; raw text kept for display</a:t>
            </a:r>
            <a:endParaRPr lang="en-US" sz="1000" dirty="0"/>
          </a:p>
        </p:txBody>
      </p:sp>
      <p:sp>
        <p:nvSpPr>
          <p:cNvPr id="24" name="Shape 20"/>
          <p:cNvSpPr/>
          <p:nvPr/>
        </p:nvSpPr>
        <p:spPr>
          <a:xfrm>
            <a:off x="274320" y="3639312"/>
            <a:ext cx="4251960" cy="475488"/>
          </a:xfrm>
          <a:prstGeom prst="rect">
            <a:avLst/>
          </a:prstGeom>
          <a:solidFill>
            <a:srgbClr val="F3F4F6"/>
          </a:solidFill>
          <a:ln w="12700">
            <a:solidFill>
              <a:srgbClr val="F3F4F6"/>
            </a:solidFill>
            <a:prstDash val="solid"/>
          </a:ln>
        </p:spPr>
      </p:sp>
      <p:sp>
        <p:nvSpPr>
          <p:cNvPr id="25" name="Text 21"/>
          <p:cNvSpPr txBox="1"/>
          <p:nvPr/>
        </p:nvSpPr>
        <p:spPr>
          <a:xfrm>
            <a:off x="365760" y="3639312"/>
            <a:ext cx="274320" cy="475488"/>
          </a:xfrm>
          <a:prstGeom prst="rect">
            <a:avLst/>
          </a:prstGeom>
          <a:noFill/>
          <a:ln/>
        </p:spPr>
        <p:txBody>
          <a:bodyPr wrap="square" lIns="0" tIns="0" rIns="0" bIns="0" rtlCol="0" anchor="ctr"/>
          <a:lstStyle/>
          <a:p>
            <a:pPr algn="ctr" indent="0" marL="0">
              <a:buNone/>
            </a:pPr>
            <a:r>
              <a:rPr lang="en-US" sz="1400" b="1" dirty="0">
                <a:solidFill>
                  <a:srgbClr val="0D2349"/>
                </a:solidFill>
                <a:latin typeface="Calibri" pitchFamily="34" charset="0"/>
                <a:ea typeface="Calibri" pitchFamily="34" charset="-122"/>
                <a:cs typeface="Calibri" pitchFamily="34" charset="-120"/>
              </a:rPr>
              <a:t>6</a:t>
            </a:r>
            <a:endParaRPr lang="en-US" sz="1400" dirty="0"/>
          </a:p>
        </p:txBody>
      </p:sp>
      <p:sp>
        <p:nvSpPr>
          <p:cNvPr id="26" name="Text 22"/>
          <p:cNvSpPr txBox="1"/>
          <p:nvPr/>
        </p:nvSpPr>
        <p:spPr>
          <a:xfrm>
            <a:off x="731520" y="3639312"/>
            <a:ext cx="3703320" cy="475488"/>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~200-350-token chunks inside one page, never across pages</a:t>
            </a:r>
            <a:endParaRPr lang="en-US" sz="1000" dirty="0"/>
          </a:p>
        </p:txBody>
      </p:sp>
      <p:sp>
        <p:nvSpPr>
          <p:cNvPr id="27" name="Shape 23"/>
          <p:cNvSpPr/>
          <p:nvPr/>
        </p:nvSpPr>
        <p:spPr>
          <a:xfrm>
            <a:off x="274320" y="4187952"/>
            <a:ext cx="4251960" cy="475488"/>
          </a:xfrm>
          <a:prstGeom prst="rect">
            <a:avLst/>
          </a:prstGeom>
          <a:solidFill>
            <a:srgbClr val="DBEAFE"/>
          </a:solidFill>
          <a:ln w="12700">
            <a:solidFill>
              <a:srgbClr val="DBEAFE"/>
            </a:solidFill>
            <a:prstDash val="solid"/>
          </a:ln>
        </p:spPr>
      </p:sp>
      <p:sp>
        <p:nvSpPr>
          <p:cNvPr id="28" name="Text 24"/>
          <p:cNvSpPr txBox="1"/>
          <p:nvPr/>
        </p:nvSpPr>
        <p:spPr>
          <a:xfrm>
            <a:off x="365760" y="4187952"/>
            <a:ext cx="274320" cy="475488"/>
          </a:xfrm>
          <a:prstGeom prst="rect">
            <a:avLst/>
          </a:prstGeom>
          <a:noFill/>
          <a:ln/>
        </p:spPr>
        <p:txBody>
          <a:bodyPr wrap="square" lIns="0" tIns="0" rIns="0" bIns="0" rtlCol="0" anchor="ctr"/>
          <a:lstStyle/>
          <a:p>
            <a:pPr algn="ctr" indent="0" marL="0">
              <a:buNone/>
            </a:pPr>
            <a:r>
              <a:rPr lang="en-US" sz="1400" b="1" dirty="0">
                <a:solidFill>
                  <a:srgbClr val="0D2349"/>
                </a:solidFill>
                <a:latin typeface="Calibri" pitchFamily="34" charset="0"/>
                <a:ea typeface="Calibri" pitchFamily="34" charset="-122"/>
                <a:cs typeface="Calibri" pitchFamily="34" charset="-120"/>
              </a:rPr>
              <a:t>7</a:t>
            </a:r>
            <a:endParaRPr lang="en-US" sz="1400" dirty="0"/>
          </a:p>
        </p:txBody>
      </p:sp>
      <p:sp>
        <p:nvSpPr>
          <p:cNvPr id="29" name="Text 25"/>
          <p:cNvSpPr txBox="1"/>
          <p:nvPr/>
        </p:nvSpPr>
        <p:spPr>
          <a:xfrm>
            <a:off x="731520" y="4187952"/>
            <a:ext cx="3703320" cy="475488"/>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Index: E5 → pgvector HNSW · BM25 + char n-grams · English shadow</a:t>
            </a:r>
            <a:endParaRPr lang="en-US" sz="1000" dirty="0"/>
          </a:p>
        </p:txBody>
      </p:sp>
      <p:sp>
        <p:nvSpPr>
          <p:cNvPr id="30" name="Text 26"/>
          <p:cNvSpPr txBox="1"/>
          <p:nvPr/>
        </p:nvSpPr>
        <p:spPr>
          <a:xfrm>
            <a:off x="4617720" y="585216"/>
            <a:ext cx="4251960" cy="237744"/>
          </a:xfrm>
          <a:prstGeom prst="rect">
            <a:avLst/>
          </a:prstGeom>
          <a:noFill/>
          <a:ln/>
        </p:spPr>
        <p:txBody>
          <a:bodyPr wrap="square" lIns="0" tIns="0" rIns="0" bIns="0" rtlCol="0" anchor="ctr"/>
          <a:lstStyle/>
          <a:p>
            <a:pPr indent="0" marL="0">
              <a:buNone/>
            </a:pPr>
            <a:r>
              <a:rPr lang="en-US" sz="1100" b="1" dirty="0">
                <a:solidFill>
                  <a:srgbClr val="0E7490"/>
                </a:solidFill>
                <a:latin typeface="Calibri" pitchFamily="34" charset="0"/>
                <a:ea typeface="Calibri" pitchFamily="34" charset="-122"/>
                <a:cs typeface="Calibri" pitchFamily="34" charset="-120"/>
              </a:rPr>
              <a:t>Query &amp; answer pipeline</a:t>
            </a:r>
            <a:endParaRPr lang="en-US" sz="1100" dirty="0"/>
          </a:p>
        </p:txBody>
      </p:sp>
      <p:sp>
        <p:nvSpPr>
          <p:cNvPr id="31" name="Shape 27"/>
          <p:cNvSpPr/>
          <p:nvPr/>
        </p:nvSpPr>
        <p:spPr>
          <a:xfrm>
            <a:off x="4617720" y="896112"/>
            <a:ext cx="4251960" cy="475488"/>
          </a:xfrm>
          <a:prstGeom prst="rect">
            <a:avLst/>
          </a:prstGeom>
          <a:solidFill>
            <a:srgbClr val="DBEAFE"/>
          </a:solidFill>
          <a:ln w="12700">
            <a:solidFill>
              <a:srgbClr val="DBEAFE"/>
            </a:solidFill>
            <a:prstDash val="solid"/>
          </a:ln>
        </p:spPr>
      </p:sp>
      <p:sp>
        <p:nvSpPr>
          <p:cNvPr id="32" name="Text 28"/>
          <p:cNvSpPr txBox="1"/>
          <p:nvPr/>
        </p:nvSpPr>
        <p:spPr>
          <a:xfrm>
            <a:off x="4709160" y="896112"/>
            <a:ext cx="274320" cy="475488"/>
          </a:xfrm>
          <a:prstGeom prst="rect">
            <a:avLst/>
          </a:prstGeom>
          <a:noFill/>
          <a:ln/>
        </p:spPr>
        <p:txBody>
          <a:bodyPr wrap="square" lIns="0" tIns="0" rIns="0" bIns="0" rtlCol="0" anchor="ctr"/>
          <a:lstStyle/>
          <a:p>
            <a:pPr algn="ctr" indent="0" marL="0">
              <a:buNone/>
            </a:pPr>
            <a:r>
              <a:rPr lang="en-US" sz="1400" b="1" dirty="0">
                <a:solidFill>
                  <a:srgbClr val="0D2349"/>
                </a:solidFill>
                <a:latin typeface="Calibri" pitchFamily="34" charset="0"/>
                <a:ea typeface="Calibri" pitchFamily="34" charset="-122"/>
                <a:cs typeface="Calibri" pitchFamily="34" charset="-120"/>
              </a:rPr>
              <a:t>1</a:t>
            </a:r>
            <a:endParaRPr lang="en-US" sz="1400" dirty="0"/>
          </a:p>
        </p:txBody>
      </p:sp>
      <p:sp>
        <p:nvSpPr>
          <p:cNvPr id="33" name="Text 29"/>
          <p:cNvSpPr txBox="1"/>
          <p:nvPr/>
        </p:nvSpPr>
        <p:spPr>
          <a:xfrm>
            <a:off x="5074920" y="896112"/>
            <a:ext cx="3703320" cy="475488"/>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Build views: as typed, transliterated, translated; normalize digits</a:t>
            </a:r>
            <a:endParaRPr lang="en-US" sz="1000" dirty="0"/>
          </a:p>
        </p:txBody>
      </p:sp>
      <p:sp>
        <p:nvSpPr>
          <p:cNvPr id="34" name="Shape 30"/>
          <p:cNvSpPr/>
          <p:nvPr/>
        </p:nvSpPr>
        <p:spPr>
          <a:xfrm>
            <a:off x="4617720" y="1444752"/>
            <a:ext cx="4251960" cy="475488"/>
          </a:xfrm>
          <a:prstGeom prst="rect">
            <a:avLst/>
          </a:prstGeom>
          <a:solidFill>
            <a:srgbClr val="F3F4F6"/>
          </a:solidFill>
          <a:ln w="12700">
            <a:solidFill>
              <a:srgbClr val="F3F4F6"/>
            </a:solidFill>
            <a:prstDash val="solid"/>
          </a:ln>
        </p:spPr>
      </p:sp>
      <p:sp>
        <p:nvSpPr>
          <p:cNvPr id="35" name="Text 31"/>
          <p:cNvSpPr txBox="1"/>
          <p:nvPr/>
        </p:nvSpPr>
        <p:spPr>
          <a:xfrm>
            <a:off x="4709160" y="1444752"/>
            <a:ext cx="274320" cy="475488"/>
          </a:xfrm>
          <a:prstGeom prst="rect">
            <a:avLst/>
          </a:prstGeom>
          <a:noFill/>
          <a:ln/>
        </p:spPr>
        <p:txBody>
          <a:bodyPr wrap="square" lIns="0" tIns="0" rIns="0" bIns="0" rtlCol="0" anchor="ctr"/>
          <a:lstStyle/>
          <a:p>
            <a:pPr algn="ctr" indent="0" marL="0">
              <a:buNone/>
            </a:pPr>
            <a:r>
              <a:rPr lang="en-US" sz="1400" b="1" dirty="0">
                <a:solidFill>
                  <a:srgbClr val="0D2349"/>
                </a:solidFill>
                <a:latin typeface="Calibri" pitchFamily="34" charset="0"/>
                <a:ea typeface="Calibri" pitchFamily="34" charset="-122"/>
                <a:cs typeface="Calibri" pitchFamily="34" charset="-120"/>
              </a:rPr>
              <a:t>2</a:t>
            </a:r>
            <a:endParaRPr lang="en-US" sz="1400" dirty="0"/>
          </a:p>
        </p:txBody>
      </p:sp>
      <p:sp>
        <p:nvSpPr>
          <p:cNvPr id="36" name="Text 32"/>
          <p:cNvSpPr txBox="1"/>
          <p:nvPr/>
        </p:nvSpPr>
        <p:spPr>
          <a:xfrm>
            <a:off x="5074920" y="1444752"/>
            <a:ext cx="3703320" cy="475488"/>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Router picks direct, translate or hybrid (+ fusion weights)</a:t>
            </a:r>
            <a:endParaRPr lang="en-US" sz="1000" dirty="0"/>
          </a:p>
        </p:txBody>
      </p:sp>
      <p:sp>
        <p:nvSpPr>
          <p:cNvPr id="37" name="Shape 33"/>
          <p:cNvSpPr/>
          <p:nvPr/>
        </p:nvSpPr>
        <p:spPr>
          <a:xfrm>
            <a:off x="4617720" y="1993392"/>
            <a:ext cx="4251960" cy="475488"/>
          </a:xfrm>
          <a:prstGeom prst="rect">
            <a:avLst/>
          </a:prstGeom>
          <a:solidFill>
            <a:srgbClr val="DBEAFE"/>
          </a:solidFill>
          <a:ln w="12700">
            <a:solidFill>
              <a:srgbClr val="DBEAFE"/>
            </a:solidFill>
            <a:prstDash val="solid"/>
          </a:ln>
        </p:spPr>
      </p:sp>
      <p:sp>
        <p:nvSpPr>
          <p:cNvPr id="38" name="Text 34"/>
          <p:cNvSpPr txBox="1"/>
          <p:nvPr/>
        </p:nvSpPr>
        <p:spPr>
          <a:xfrm>
            <a:off x="4709160" y="1993392"/>
            <a:ext cx="274320" cy="475488"/>
          </a:xfrm>
          <a:prstGeom prst="rect">
            <a:avLst/>
          </a:prstGeom>
          <a:noFill/>
          <a:ln/>
        </p:spPr>
        <p:txBody>
          <a:bodyPr wrap="square" lIns="0" tIns="0" rIns="0" bIns="0" rtlCol="0" anchor="ctr"/>
          <a:lstStyle/>
          <a:p>
            <a:pPr algn="ctr" indent="0" marL="0">
              <a:buNone/>
            </a:pPr>
            <a:r>
              <a:rPr lang="en-US" sz="1400" b="1" dirty="0">
                <a:solidFill>
                  <a:srgbClr val="0D2349"/>
                </a:solidFill>
                <a:latin typeface="Calibri" pitchFamily="34" charset="0"/>
                <a:ea typeface="Calibri" pitchFamily="34" charset="-122"/>
                <a:cs typeface="Calibri" pitchFamily="34" charset="-120"/>
              </a:rPr>
              <a:t>3</a:t>
            </a:r>
            <a:endParaRPr lang="en-US" sz="1400" dirty="0"/>
          </a:p>
        </p:txBody>
      </p:sp>
      <p:sp>
        <p:nvSpPr>
          <p:cNvPr id="39" name="Text 35"/>
          <p:cNvSpPr txBox="1"/>
          <p:nvPr/>
        </p:nvSpPr>
        <p:spPr>
          <a:xfrm>
            <a:off x="5074920" y="1993392"/>
            <a:ext cx="3703320" cy="475488"/>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Retrieve top-40 → fine-tuned cross-encoder → top-6</a:t>
            </a:r>
            <a:endParaRPr lang="en-US" sz="1000" dirty="0"/>
          </a:p>
        </p:txBody>
      </p:sp>
      <p:sp>
        <p:nvSpPr>
          <p:cNvPr id="40" name="Shape 36"/>
          <p:cNvSpPr/>
          <p:nvPr/>
        </p:nvSpPr>
        <p:spPr>
          <a:xfrm>
            <a:off x="4617720" y="2542032"/>
            <a:ext cx="4251960" cy="475488"/>
          </a:xfrm>
          <a:prstGeom prst="rect">
            <a:avLst/>
          </a:prstGeom>
          <a:solidFill>
            <a:srgbClr val="F3F4F6"/>
          </a:solidFill>
          <a:ln w="12700">
            <a:solidFill>
              <a:srgbClr val="F3F4F6"/>
            </a:solidFill>
            <a:prstDash val="solid"/>
          </a:ln>
        </p:spPr>
      </p:sp>
      <p:sp>
        <p:nvSpPr>
          <p:cNvPr id="41" name="Text 37"/>
          <p:cNvSpPr txBox="1"/>
          <p:nvPr/>
        </p:nvSpPr>
        <p:spPr>
          <a:xfrm>
            <a:off x="4709160" y="2542032"/>
            <a:ext cx="274320" cy="475488"/>
          </a:xfrm>
          <a:prstGeom prst="rect">
            <a:avLst/>
          </a:prstGeom>
          <a:noFill/>
          <a:ln/>
        </p:spPr>
        <p:txBody>
          <a:bodyPr wrap="square" lIns="0" tIns="0" rIns="0" bIns="0" rtlCol="0" anchor="ctr"/>
          <a:lstStyle/>
          <a:p>
            <a:pPr algn="ctr" indent="0" marL="0">
              <a:buNone/>
            </a:pPr>
            <a:r>
              <a:rPr lang="en-US" sz="1400" b="1" dirty="0">
                <a:solidFill>
                  <a:srgbClr val="0D2349"/>
                </a:solidFill>
                <a:latin typeface="Calibri" pitchFamily="34" charset="0"/>
                <a:ea typeface="Calibri" pitchFamily="34" charset="-122"/>
                <a:cs typeface="Calibri" pitchFamily="34" charset="-120"/>
              </a:rPr>
              <a:t>4</a:t>
            </a:r>
            <a:endParaRPr lang="en-US" sz="1400" dirty="0"/>
          </a:p>
        </p:txBody>
      </p:sp>
      <p:sp>
        <p:nvSpPr>
          <p:cNvPr id="42" name="Text 38"/>
          <p:cNvSpPr txBox="1"/>
          <p:nvPr/>
        </p:nvSpPr>
        <p:spPr>
          <a:xfrm>
            <a:off x="5074920" y="2542032"/>
            <a:ext cx="3703320" cy="475488"/>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Evidence gate: score ≥ τ, otherwise abstain</a:t>
            </a:r>
            <a:endParaRPr lang="en-US" sz="1000" dirty="0"/>
          </a:p>
        </p:txBody>
      </p:sp>
      <p:sp>
        <p:nvSpPr>
          <p:cNvPr id="43" name="Shape 39"/>
          <p:cNvSpPr/>
          <p:nvPr/>
        </p:nvSpPr>
        <p:spPr>
          <a:xfrm>
            <a:off x="4617720" y="3090672"/>
            <a:ext cx="4251960" cy="475488"/>
          </a:xfrm>
          <a:prstGeom prst="rect">
            <a:avLst/>
          </a:prstGeom>
          <a:solidFill>
            <a:srgbClr val="DBEAFE"/>
          </a:solidFill>
          <a:ln w="12700">
            <a:solidFill>
              <a:srgbClr val="DBEAFE"/>
            </a:solidFill>
            <a:prstDash val="solid"/>
          </a:ln>
        </p:spPr>
      </p:sp>
      <p:sp>
        <p:nvSpPr>
          <p:cNvPr id="44" name="Text 40"/>
          <p:cNvSpPr txBox="1"/>
          <p:nvPr/>
        </p:nvSpPr>
        <p:spPr>
          <a:xfrm>
            <a:off x="4709160" y="3090672"/>
            <a:ext cx="274320" cy="475488"/>
          </a:xfrm>
          <a:prstGeom prst="rect">
            <a:avLst/>
          </a:prstGeom>
          <a:noFill/>
          <a:ln/>
        </p:spPr>
        <p:txBody>
          <a:bodyPr wrap="square" lIns="0" tIns="0" rIns="0" bIns="0" rtlCol="0" anchor="ctr"/>
          <a:lstStyle/>
          <a:p>
            <a:pPr algn="ctr" indent="0" marL="0">
              <a:buNone/>
            </a:pPr>
            <a:r>
              <a:rPr lang="en-US" sz="1400" b="1" dirty="0">
                <a:solidFill>
                  <a:srgbClr val="0D2349"/>
                </a:solidFill>
                <a:latin typeface="Calibri" pitchFamily="34" charset="0"/>
                <a:ea typeface="Calibri" pitchFamily="34" charset="-122"/>
                <a:cs typeface="Calibri" pitchFamily="34" charset="-120"/>
              </a:rPr>
              <a:t>5</a:t>
            </a:r>
            <a:endParaRPr lang="en-US" sz="1400" dirty="0"/>
          </a:p>
        </p:txBody>
      </p:sp>
      <p:sp>
        <p:nvSpPr>
          <p:cNvPr id="45" name="Text 41"/>
          <p:cNvSpPr txBox="1"/>
          <p:nvPr/>
        </p:nvSpPr>
        <p:spPr>
          <a:xfrm>
            <a:off x="5074920" y="3090672"/>
            <a:ext cx="3703320" cy="475488"/>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Local 4-bit LLM writes one citation per sentence</a:t>
            </a:r>
            <a:endParaRPr lang="en-US" sz="1000" dirty="0"/>
          </a:p>
        </p:txBody>
      </p:sp>
      <p:sp>
        <p:nvSpPr>
          <p:cNvPr id="46" name="Shape 42"/>
          <p:cNvSpPr/>
          <p:nvPr/>
        </p:nvSpPr>
        <p:spPr>
          <a:xfrm>
            <a:off x="4617720" y="3639312"/>
            <a:ext cx="4251960" cy="475488"/>
          </a:xfrm>
          <a:prstGeom prst="rect">
            <a:avLst/>
          </a:prstGeom>
          <a:solidFill>
            <a:srgbClr val="F3F4F6"/>
          </a:solidFill>
          <a:ln w="12700">
            <a:solidFill>
              <a:srgbClr val="F3F4F6"/>
            </a:solidFill>
            <a:prstDash val="solid"/>
          </a:ln>
        </p:spPr>
      </p:sp>
      <p:sp>
        <p:nvSpPr>
          <p:cNvPr id="47" name="Text 43"/>
          <p:cNvSpPr txBox="1"/>
          <p:nvPr/>
        </p:nvSpPr>
        <p:spPr>
          <a:xfrm>
            <a:off x="4709160" y="3639312"/>
            <a:ext cx="274320" cy="475488"/>
          </a:xfrm>
          <a:prstGeom prst="rect">
            <a:avLst/>
          </a:prstGeom>
          <a:noFill/>
          <a:ln/>
        </p:spPr>
        <p:txBody>
          <a:bodyPr wrap="square" lIns="0" tIns="0" rIns="0" bIns="0" rtlCol="0" anchor="ctr"/>
          <a:lstStyle/>
          <a:p>
            <a:pPr algn="ctr" indent="0" marL="0">
              <a:buNone/>
            </a:pPr>
            <a:r>
              <a:rPr lang="en-US" sz="1400" b="1" dirty="0">
                <a:solidFill>
                  <a:srgbClr val="0D2349"/>
                </a:solidFill>
                <a:latin typeface="Calibri" pitchFamily="34" charset="0"/>
                <a:ea typeface="Calibri" pitchFamily="34" charset="-122"/>
                <a:cs typeface="Calibri" pitchFamily="34" charset="-120"/>
              </a:rPr>
              <a:t>6</a:t>
            </a:r>
            <a:endParaRPr lang="en-US" sz="1400" dirty="0"/>
          </a:p>
        </p:txBody>
      </p:sp>
      <p:sp>
        <p:nvSpPr>
          <p:cNvPr id="48" name="Text 44"/>
          <p:cNvSpPr txBox="1"/>
          <p:nvPr/>
        </p:nvSpPr>
        <p:spPr>
          <a:xfrm>
            <a:off x="5074920" y="3639312"/>
            <a:ext cx="3703320" cy="475488"/>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NLI check per sentence; script and language repair</a:t>
            </a:r>
            <a:endParaRPr lang="en-US" sz="1000" dirty="0"/>
          </a:p>
        </p:txBody>
      </p:sp>
      <p:sp>
        <p:nvSpPr>
          <p:cNvPr id="49" name="Shape 45"/>
          <p:cNvSpPr/>
          <p:nvPr/>
        </p:nvSpPr>
        <p:spPr>
          <a:xfrm>
            <a:off x="4617720" y="4187952"/>
            <a:ext cx="4251960" cy="475488"/>
          </a:xfrm>
          <a:prstGeom prst="rect">
            <a:avLst/>
          </a:prstGeom>
          <a:solidFill>
            <a:srgbClr val="DBEAFE"/>
          </a:solidFill>
          <a:ln w="12700">
            <a:solidFill>
              <a:srgbClr val="DBEAFE"/>
            </a:solidFill>
            <a:prstDash val="solid"/>
          </a:ln>
        </p:spPr>
      </p:sp>
      <p:sp>
        <p:nvSpPr>
          <p:cNvPr id="50" name="Text 46"/>
          <p:cNvSpPr txBox="1"/>
          <p:nvPr/>
        </p:nvSpPr>
        <p:spPr>
          <a:xfrm>
            <a:off x="4709160" y="4187952"/>
            <a:ext cx="274320" cy="475488"/>
          </a:xfrm>
          <a:prstGeom prst="rect">
            <a:avLst/>
          </a:prstGeom>
          <a:noFill/>
          <a:ln/>
        </p:spPr>
        <p:txBody>
          <a:bodyPr wrap="square" lIns="0" tIns="0" rIns="0" bIns="0" rtlCol="0" anchor="ctr"/>
          <a:lstStyle/>
          <a:p>
            <a:pPr algn="ctr" indent="0" marL="0">
              <a:buNone/>
            </a:pPr>
            <a:r>
              <a:rPr lang="en-US" sz="1400" b="1" dirty="0">
                <a:solidFill>
                  <a:srgbClr val="0D2349"/>
                </a:solidFill>
                <a:latin typeface="Calibri" pitchFamily="34" charset="0"/>
                <a:ea typeface="Calibri" pitchFamily="34" charset="-122"/>
                <a:cs typeface="Calibri" pitchFamily="34" charset="-120"/>
              </a:rPr>
              <a:t>7</a:t>
            </a:r>
            <a:endParaRPr lang="en-US" sz="1400" dirty="0"/>
          </a:p>
        </p:txBody>
      </p:sp>
      <p:sp>
        <p:nvSpPr>
          <p:cNvPr id="51" name="Text 47"/>
          <p:cNvSpPr txBox="1"/>
          <p:nvPr/>
        </p:nvSpPr>
        <p:spPr>
          <a:xfrm>
            <a:off x="5074920" y="4187952"/>
            <a:ext cx="3703320" cy="475488"/>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Show the answer with the PDF page highlighted, or abstain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D2349"/>
          </a:solidFill>
          <a:ln w="12700">
            <a:solidFill>
              <a:srgbClr val="0D2349"/>
            </a:solidFill>
            <a:prstDash val="solid"/>
          </a:ln>
        </p:spPr>
      </p:sp>
      <p:sp>
        <p:nvSpPr>
          <p:cNvPr id="3" name="Text 1"/>
          <p:cNvSpPr txBox="1"/>
          <p:nvPr/>
        </p:nvSpPr>
        <p:spPr>
          <a:xfrm>
            <a:off x="274320" y="0"/>
            <a:ext cx="7863840"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Technology Stack</a:t>
            </a:r>
            <a:endParaRPr lang="en-US" sz="1900" dirty="0"/>
          </a:p>
        </p:txBody>
      </p:sp>
      <p:pic>
        <p:nvPicPr>
          <p:cNvPr id="4" name="Image 0" descr="MMCOE logo">    </p:cNvPr>
          <p:cNvPicPr>
            <a:picLocks noChangeAspect="1"/>
          </p:cNvPicPr>
          <p:nvPr/>
        </p:nvPicPr>
        <p:blipFill>
          <a:blip r:embed="rId1"/>
          <a:stretch>
            <a:fillRect/>
          </a:stretch>
        </p:blipFill>
        <p:spPr>
          <a:xfrm>
            <a:off x="8531352" y="36576"/>
            <a:ext cx="320040" cy="384048"/>
          </a:xfrm>
          <a:prstGeom prst="rect">
            <a:avLst/>
          </a:prstGeom>
        </p:spPr>
      </p:pic>
      <p:sp>
        <p:nvSpPr>
          <p:cNvPr id="5" name="Text 2"/>
          <p:cNvSpPr txBox="1"/>
          <p:nvPr/>
        </p:nvSpPr>
        <p:spPr>
          <a:xfrm>
            <a:off x="274320" y="4882896"/>
            <a:ext cx="7680960" cy="201168"/>
          </a:xfrm>
          <a:prstGeom prst="rect">
            <a:avLst/>
          </a:prstGeom>
          <a:noFill/>
          <a:ln/>
        </p:spPr>
        <p:txBody>
          <a:bodyPr wrap="square" lIns="0" tIns="0" rIns="0" bIns="0" rtlCol="0" anchor="ctr"/>
          <a:lstStyle/>
          <a:p>
            <a:pPr indent="0" marL="0">
              <a:buNone/>
            </a:pPr>
            <a:r>
              <a:rPr lang="en-US" sz="700" dirty="0">
                <a:solidFill>
                  <a:srgbClr val="9CA3AF"/>
                </a:solidFill>
                <a:latin typeface="Calibri" pitchFamily="34" charset="0"/>
                <a:ea typeface="Calibri" pitchFamily="34" charset="-122"/>
                <a:cs typeface="Calibri" pitchFamily="34" charset="-120"/>
              </a:rPr>
              <a:t>Sakshya · Multilingual Document Intelligence (RAG)  |  BE Project Review 2  |  MMCOE Pune</a:t>
            </a:r>
            <a:endParaRPr lang="en-US" sz="700" dirty="0"/>
          </a:p>
        </p:txBody>
      </p:sp>
      <p:sp>
        <p:nvSpPr>
          <p:cNvPr id="6" name="Text 3"/>
          <p:cNvSpPr txBox="1"/>
          <p:nvPr/>
        </p:nvSpPr>
        <p:spPr>
          <a:xfrm>
            <a:off x="8412480" y="4882896"/>
            <a:ext cx="457200" cy="201168"/>
          </a:xfrm>
          <a:prstGeom prst="rect">
            <a:avLst/>
          </a:prstGeom>
          <a:noFill/>
          <a:ln/>
        </p:spPr>
        <p:txBody>
          <a:bodyPr wrap="square" lIns="0" tIns="0" rIns="0" bIns="0" rtlCol="0" anchor="ctr"/>
          <a:lstStyle/>
          <a:p>
            <a:pPr algn="r" indent="0" marL="0">
              <a:buNone/>
            </a:pPr>
            <a:r>
              <a:rPr lang="en-US" sz="700" dirty="0">
                <a:solidFill>
                  <a:srgbClr val="9CA3AF"/>
                </a:solidFill>
                <a:latin typeface="Calibri" pitchFamily="34" charset="0"/>
                <a:ea typeface="Calibri" pitchFamily="34" charset="-122"/>
                <a:cs typeface="Calibri" pitchFamily="34" charset="-120"/>
              </a:rPr>
              <a:t>10</a:t>
            </a:r>
            <a:endParaRPr lang="en-US" sz="700" dirty="0"/>
          </a:p>
        </p:txBody>
      </p:sp>
      <p:sp>
        <p:nvSpPr>
          <p:cNvPr id="8" name="Shape 4"/>
          <p:cNvSpPr/>
          <p:nvPr/>
        </p:nvSpPr>
        <p:spPr>
          <a:xfrm>
            <a:off x="274320" y="585216"/>
            <a:ext cx="4251960" cy="1901952"/>
          </a:xfrm>
          <a:prstGeom prst="rect">
            <a:avLst/>
          </a:prstGeom>
          <a:solidFill>
            <a:srgbClr val="F3F4F6"/>
          </a:solidFill>
          <a:ln w="12700">
            <a:solidFill>
              <a:srgbClr val="F3F4F6"/>
            </a:solidFill>
            <a:prstDash val="solid"/>
          </a:ln>
        </p:spPr>
      </p:sp>
      <p:sp>
        <p:nvSpPr>
          <p:cNvPr id="9" name="Shape 5"/>
          <p:cNvSpPr/>
          <p:nvPr/>
        </p:nvSpPr>
        <p:spPr>
          <a:xfrm>
            <a:off x="274320" y="585216"/>
            <a:ext cx="4251960" cy="292608"/>
          </a:xfrm>
          <a:prstGeom prst="rect">
            <a:avLst/>
          </a:prstGeom>
          <a:solidFill>
            <a:srgbClr val="0D2349"/>
          </a:solidFill>
          <a:ln w="12700">
            <a:solidFill>
              <a:srgbClr val="0D2349"/>
            </a:solidFill>
            <a:prstDash val="solid"/>
          </a:ln>
        </p:spPr>
      </p:sp>
      <p:sp>
        <p:nvSpPr>
          <p:cNvPr id="10" name="Text 6"/>
          <p:cNvSpPr txBox="1"/>
          <p:nvPr/>
        </p:nvSpPr>
        <p:spPr>
          <a:xfrm>
            <a:off x="365760" y="585216"/>
            <a:ext cx="406908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Backend &amp; data</a:t>
            </a:r>
            <a:endParaRPr lang="en-US" sz="1100" dirty="0"/>
          </a:p>
        </p:txBody>
      </p:sp>
      <p:sp>
        <p:nvSpPr>
          <p:cNvPr id="11" name="Text 7"/>
          <p:cNvSpPr txBox="1"/>
          <p:nvPr/>
        </p:nvSpPr>
        <p:spPr>
          <a:xfrm>
            <a:off x="384048" y="950976"/>
            <a:ext cx="4032504" cy="365760"/>
          </a:xfrm>
          <a:prstGeom prst="rect">
            <a:avLst/>
          </a:prstGeom>
          <a:noFill/>
          <a:ln/>
        </p:spPr>
        <p:txBody>
          <a:bodyPr wrap="square" lIns="0" tIns="0" rIns="0" bIns="0" rtlCol="0" anchor="t"/>
          <a:lstStyle/>
          <a:p>
            <a:pPr indent="0" marL="0">
              <a:buNone/>
            </a:pPr>
            <a:r>
              <a:rPr lang="en-US" sz="1000" b="1" dirty="0">
                <a:solidFill>
                  <a:srgbClr val="0D2349"/>
                </a:solidFill>
                <a:latin typeface="Calibri" pitchFamily="34" charset="0"/>
                <a:ea typeface="Calibri" pitchFamily="34" charset="-122"/>
                <a:cs typeface="Calibri" pitchFamily="34" charset="-120"/>
              </a:rPr>
              <a:t>FastAPI (Python 3.11)</a:t>
            </a:r>
            <a:endParaRPr lang="en-US" sz="1100" dirty="0"/>
          </a:p>
          <a:p>
            <a:pPr indent="0" marL="0">
              <a:buNone/>
            </a:pPr>
            <a:r>
              <a:rPr lang="en-US" sz="850" dirty="0">
                <a:solidFill>
                  <a:srgbClr val="4B5563"/>
                </a:solidFill>
                <a:latin typeface="Calibri" pitchFamily="34" charset="0"/>
                <a:ea typeface="Calibri" pitchFamily="34" charset="-122"/>
                <a:cs typeface="Calibri" pitchFamily="34" charset="-120"/>
              </a:rPr>
              <a:t>REST API + background ingestion</a:t>
            </a:r>
            <a:endParaRPr lang="en-US" sz="1100" dirty="0"/>
          </a:p>
        </p:txBody>
      </p:sp>
      <p:sp>
        <p:nvSpPr>
          <p:cNvPr id="12" name="Text 8"/>
          <p:cNvSpPr txBox="1"/>
          <p:nvPr/>
        </p:nvSpPr>
        <p:spPr>
          <a:xfrm>
            <a:off x="384048" y="1335024"/>
            <a:ext cx="4032504" cy="365760"/>
          </a:xfrm>
          <a:prstGeom prst="rect">
            <a:avLst/>
          </a:prstGeom>
          <a:noFill/>
          <a:ln/>
        </p:spPr>
        <p:txBody>
          <a:bodyPr wrap="square" lIns="0" tIns="0" rIns="0" bIns="0" rtlCol="0" anchor="t"/>
          <a:lstStyle/>
          <a:p>
            <a:pPr indent="0" marL="0">
              <a:buNone/>
            </a:pPr>
            <a:r>
              <a:rPr lang="en-US" sz="1000" b="1" dirty="0">
                <a:solidFill>
                  <a:srgbClr val="0D2349"/>
                </a:solidFill>
                <a:latin typeface="Calibri" pitchFamily="34" charset="0"/>
                <a:ea typeface="Calibri" pitchFamily="34" charset="-122"/>
                <a:cs typeface="Calibri" pitchFamily="34" charset="-120"/>
              </a:rPr>
              <a:t>PostgreSQL + pgvector</a:t>
            </a:r>
            <a:endParaRPr lang="en-US" sz="1100" dirty="0"/>
          </a:p>
          <a:p>
            <a:pPr indent="0" marL="0">
              <a:buNone/>
            </a:pPr>
            <a:r>
              <a:rPr lang="en-US" sz="850" dirty="0">
                <a:solidFill>
                  <a:srgbClr val="4B5563"/>
                </a:solidFill>
                <a:latin typeface="Calibri" pitchFamily="34" charset="0"/>
                <a:ea typeface="Calibri" pitchFamily="34" charset="-122"/>
                <a:cs typeface="Calibri" pitchFamily="34" charset="-120"/>
              </a:rPr>
              <a:t>Chunk store and HNSW index</a:t>
            </a:r>
            <a:endParaRPr lang="en-US" sz="1100" dirty="0"/>
          </a:p>
        </p:txBody>
      </p:sp>
      <p:sp>
        <p:nvSpPr>
          <p:cNvPr id="13" name="Text 9"/>
          <p:cNvSpPr txBox="1"/>
          <p:nvPr/>
        </p:nvSpPr>
        <p:spPr>
          <a:xfrm>
            <a:off x="384048" y="1719072"/>
            <a:ext cx="4032504" cy="365760"/>
          </a:xfrm>
          <a:prstGeom prst="rect">
            <a:avLst/>
          </a:prstGeom>
          <a:noFill/>
          <a:ln/>
        </p:spPr>
        <p:txBody>
          <a:bodyPr wrap="square" lIns="0" tIns="0" rIns="0" bIns="0" rtlCol="0" anchor="t"/>
          <a:lstStyle/>
          <a:p>
            <a:pPr indent="0" marL="0">
              <a:buNone/>
            </a:pPr>
            <a:r>
              <a:rPr lang="en-US" sz="1000" b="1" dirty="0">
                <a:solidFill>
                  <a:srgbClr val="0D2349"/>
                </a:solidFill>
                <a:latin typeface="Calibri" pitchFamily="34" charset="0"/>
                <a:ea typeface="Calibri" pitchFamily="34" charset="-122"/>
                <a:cs typeface="Calibri" pitchFamily="34" charset="-120"/>
              </a:rPr>
              <a:t>bm25s</a:t>
            </a:r>
            <a:endParaRPr lang="en-US" sz="1100" dirty="0"/>
          </a:p>
          <a:p>
            <a:pPr indent="0" marL="0">
              <a:buNone/>
            </a:pPr>
            <a:r>
              <a:rPr lang="en-US" sz="850" dirty="0">
                <a:solidFill>
                  <a:srgbClr val="4B5563"/>
                </a:solidFill>
                <a:latin typeface="Calibri" pitchFamily="34" charset="0"/>
                <a:ea typeface="Calibri" pitchFamily="34" charset="-122"/>
                <a:cs typeface="Calibri" pitchFamily="34" charset="-120"/>
              </a:rPr>
              <a:t>BM25 + character n-grams</a:t>
            </a:r>
            <a:endParaRPr lang="en-US" sz="1100" dirty="0"/>
          </a:p>
        </p:txBody>
      </p:sp>
      <p:sp>
        <p:nvSpPr>
          <p:cNvPr id="14" name="Text 10"/>
          <p:cNvSpPr txBox="1"/>
          <p:nvPr/>
        </p:nvSpPr>
        <p:spPr>
          <a:xfrm>
            <a:off x="384048" y="2103120"/>
            <a:ext cx="4032504" cy="365760"/>
          </a:xfrm>
          <a:prstGeom prst="rect">
            <a:avLst/>
          </a:prstGeom>
          <a:noFill/>
          <a:ln/>
        </p:spPr>
        <p:txBody>
          <a:bodyPr wrap="square" lIns="0" tIns="0" rIns="0" bIns="0" rtlCol="0" anchor="t"/>
          <a:lstStyle/>
          <a:p>
            <a:pPr indent="0" marL="0">
              <a:buNone/>
            </a:pPr>
            <a:r>
              <a:rPr lang="en-US" sz="1000" b="1" dirty="0">
                <a:solidFill>
                  <a:srgbClr val="0D2349"/>
                </a:solidFill>
                <a:latin typeface="Calibri" pitchFamily="34" charset="0"/>
                <a:ea typeface="Calibri" pitchFamily="34" charset="-122"/>
                <a:cs typeface="Calibri" pitchFamily="34" charset="-120"/>
              </a:rPr>
              <a:t>Docker Compose</a:t>
            </a:r>
            <a:endParaRPr lang="en-US" sz="1100" dirty="0"/>
          </a:p>
          <a:p>
            <a:pPr indent="0" marL="0">
              <a:buNone/>
            </a:pPr>
            <a:r>
              <a:rPr lang="en-US" sz="850" dirty="0">
                <a:solidFill>
                  <a:srgbClr val="4B5563"/>
                </a:solidFill>
                <a:latin typeface="Calibri" pitchFamily="34" charset="0"/>
                <a:ea typeface="Calibri" pitchFamily="34" charset="-122"/>
                <a:cs typeface="Calibri" pitchFamily="34" charset="-120"/>
              </a:rPr>
              <a:t>One-command local run</a:t>
            </a:r>
            <a:endParaRPr lang="en-US" sz="1100" dirty="0"/>
          </a:p>
        </p:txBody>
      </p:sp>
      <p:sp>
        <p:nvSpPr>
          <p:cNvPr id="15" name="Shape 11"/>
          <p:cNvSpPr/>
          <p:nvPr/>
        </p:nvSpPr>
        <p:spPr>
          <a:xfrm>
            <a:off x="4617720" y="585216"/>
            <a:ext cx="4251960" cy="1901952"/>
          </a:xfrm>
          <a:prstGeom prst="rect">
            <a:avLst/>
          </a:prstGeom>
          <a:solidFill>
            <a:srgbClr val="F3F4F6"/>
          </a:solidFill>
          <a:ln w="12700">
            <a:solidFill>
              <a:srgbClr val="F3F4F6"/>
            </a:solidFill>
            <a:prstDash val="solid"/>
          </a:ln>
        </p:spPr>
      </p:sp>
      <p:sp>
        <p:nvSpPr>
          <p:cNvPr id="16" name="Shape 12"/>
          <p:cNvSpPr/>
          <p:nvPr/>
        </p:nvSpPr>
        <p:spPr>
          <a:xfrm>
            <a:off x="4617720" y="585216"/>
            <a:ext cx="4251960" cy="292608"/>
          </a:xfrm>
          <a:prstGeom prst="rect">
            <a:avLst/>
          </a:prstGeom>
          <a:solidFill>
            <a:srgbClr val="0E7490"/>
          </a:solidFill>
          <a:ln w="12700">
            <a:solidFill>
              <a:srgbClr val="0E7490"/>
            </a:solidFill>
            <a:prstDash val="solid"/>
          </a:ln>
        </p:spPr>
      </p:sp>
      <p:sp>
        <p:nvSpPr>
          <p:cNvPr id="17" name="Text 13"/>
          <p:cNvSpPr txBox="1"/>
          <p:nvPr/>
        </p:nvSpPr>
        <p:spPr>
          <a:xfrm>
            <a:off x="4709160" y="585216"/>
            <a:ext cx="406908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Documents &amp; Indic NLP</a:t>
            </a:r>
            <a:endParaRPr lang="en-US" sz="1100" dirty="0"/>
          </a:p>
        </p:txBody>
      </p:sp>
      <p:sp>
        <p:nvSpPr>
          <p:cNvPr id="18" name="Text 14"/>
          <p:cNvSpPr txBox="1"/>
          <p:nvPr/>
        </p:nvSpPr>
        <p:spPr>
          <a:xfrm>
            <a:off x="4727448" y="950976"/>
            <a:ext cx="4032504" cy="365760"/>
          </a:xfrm>
          <a:prstGeom prst="rect">
            <a:avLst/>
          </a:prstGeom>
          <a:noFill/>
          <a:ln/>
        </p:spPr>
        <p:txBody>
          <a:bodyPr wrap="square" lIns="0" tIns="0" rIns="0" bIns="0" rtlCol="0" anchor="t"/>
          <a:lstStyle/>
          <a:p>
            <a:pPr indent="0" marL="0">
              <a:buNone/>
            </a:pPr>
            <a:r>
              <a:rPr lang="en-US" sz="1000" b="1" dirty="0">
                <a:solidFill>
                  <a:srgbClr val="0D2349"/>
                </a:solidFill>
                <a:latin typeface="Calibri" pitchFamily="34" charset="0"/>
                <a:ea typeface="Calibri" pitchFamily="34" charset="-122"/>
                <a:cs typeface="Calibri" pitchFamily="34" charset="-120"/>
              </a:rPr>
              <a:t>Tesseract 5 (hin, mar, eng)</a:t>
            </a:r>
            <a:endParaRPr lang="en-US" sz="1100" dirty="0"/>
          </a:p>
          <a:p>
            <a:pPr indent="0" marL="0">
              <a:buNone/>
            </a:pPr>
            <a:r>
              <a:rPr lang="en-US" sz="850" dirty="0">
                <a:solidFill>
                  <a:srgbClr val="4B5563"/>
                </a:solidFill>
                <a:latin typeface="Calibri" pitchFamily="34" charset="0"/>
                <a:ea typeface="Calibri" pitchFamily="34" charset="-122"/>
                <a:cs typeface="Calibri" pitchFamily="34" charset="-120"/>
              </a:rPr>
              <a:t>OCR with word confidence</a:t>
            </a:r>
            <a:endParaRPr lang="en-US" sz="1100" dirty="0"/>
          </a:p>
        </p:txBody>
      </p:sp>
      <p:sp>
        <p:nvSpPr>
          <p:cNvPr id="19" name="Text 15"/>
          <p:cNvSpPr txBox="1"/>
          <p:nvPr/>
        </p:nvSpPr>
        <p:spPr>
          <a:xfrm>
            <a:off x="4727448" y="1335024"/>
            <a:ext cx="4032504" cy="365760"/>
          </a:xfrm>
          <a:prstGeom prst="rect">
            <a:avLst/>
          </a:prstGeom>
          <a:noFill/>
          <a:ln/>
        </p:spPr>
        <p:txBody>
          <a:bodyPr wrap="square" lIns="0" tIns="0" rIns="0" bIns="0" rtlCol="0" anchor="t"/>
          <a:lstStyle/>
          <a:p>
            <a:pPr indent="0" marL="0">
              <a:buNone/>
            </a:pPr>
            <a:r>
              <a:rPr lang="en-US" sz="1000" b="1" dirty="0">
                <a:solidFill>
                  <a:srgbClr val="0D2349"/>
                </a:solidFill>
                <a:latin typeface="Calibri" pitchFamily="34" charset="0"/>
                <a:ea typeface="Calibri" pitchFamily="34" charset="-122"/>
                <a:cs typeface="Calibri" pitchFamily="34" charset="-120"/>
              </a:rPr>
              <a:t>pdfplumber / PyMuPDF, python-docx</a:t>
            </a:r>
            <a:endParaRPr lang="en-US" sz="1100" dirty="0"/>
          </a:p>
          <a:p>
            <a:pPr indent="0" marL="0">
              <a:buNone/>
            </a:pPr>
            <a:r>
              <a:rPr lang="en-US" sz="850" dirty="0">
                <a:solidFill>
                  <a:srgbClr val="4B5563"/>
                </a:solidFill>
                <a:latin typeface="Calibri" pitchFamily="34" charset="0"/>
                <a:ea typeface="Calibri" pitchFamily="34" charset="-122"/>
                <a:cs typeface="Calibri" pitchFamily="34" charset="-120"/>
              </a:rPr>
              <a:t>Parsing</a:t>
            </a:r>
            <a:endParaRPr lang="en-US" sz="1100" dirty="0"/>
          </a:p>
        </p:txBody>
      </p:sp>
      <p:sp>
        <p:nvSpPr>
          <p:cNvPr id="20" name="Text 16"/>
          <p:cNvSpPr txBox="1"/>
          <p:nvPr/>
        </p:nvSpPr>
        <p:spPr>
          <a:xfrm>
            <a:off x="4727448" y="1719072"/>
            <a:ext cx="4032504" cy="365760"/>
          </a:xfrm>
          <a:prstGeom prst="rect">
            <a:avLst/>
          </a:prstGeom>
          <a:noFill/>
          <a:ln/>
        </p:spPr>
        <p:txBody>
          <a:bodyPr wrap="square" lIns="0" tIns="0" rIns="0" bIns="0" rtlCol="0" anchor="t"/>
          <a:lstStyle/>
          <a:p>
            <a:pPr indent="0" marL="0">
              <a:buNone/>
            </a:pPr>
            <a:r>
              <a:rPr lang="en-US" sz="1000" b="1" dirty="0">
                <a:solidFill>
                  <a:srgbClr val="0D2349"/>
                </a:solidFill>
                <a:latin typeface="Calibri" pitchFamily="34" charset="0"/>
                <a:ea typeface="Calibri" pitchFamily="34" charset="-122"/>
                <a:cs typeface="Calibri" pitchFamily="34" charset="-120"/>
              </a:rPr>
              <a:t>IndicLID · IndicXlit · IndicTrans2</a:t>
            </a:r>
            <a:endParaRPr lang="en-US" sz="1100" dirty="0"/>
          </a:p>
          <a:p>
            <a:pPr indent="0" marL="0">
              <a:buNone/>
            </a:pPr>
            <a:r>
              <a:rPr lang="en-US" sz="850" dirty="0">
                <a:solidFill>
                  <a:srgbClr val="4B5563"/>
                </a:solidFill>
                <a:latin typeface="Calibri" pitchFamily="34" charset="0"/>
                <a:ea typeface="Calibri" pitchFamily="34" charset="-122"/>
                <a:cs typeface="Calibri" pitchFamily="34" charset="-120"/>
              </a:rPr>
              <a:t>Language ID, transliteration, translation</a:t>
            </a:r>
            <a:endParaRPr lang="en-US" sz="1100" dirty="0"/>
          </a:p>
        </p:txBody>
      </p:sp>
      <p:sp>
        <p:nvSpPr>
          <p:cNvPr id="21" name="Text 17"/>
          <p:cNvSpPr txBox="1"/>
          <p:nvPr/>
        </p:nvSpPr>
        <p:spPr>
          <a:xfrm>
            <a:off x="4727448" y="2103120"/>
            <a:ext cx="4032504" cy="365760"/>
          </a:xfrm>
          <a:prstGeom prst="rect">
            <a:avLst/>
          </a:prstGeom>
          <a:noFill/>
          <a:ln/>
        </p:spPr>
        <p:txBody>
          <a:bodyPr wrap="square" lIns="0" tIns="0" rIns="0" bIns="0" rtlCol="0" anchor="t"/>
          <a:lstStyle/>
          <a:p>
            <a:pPr indent="0" marL="0">
              <a:buNone/>
            </a:pPr>
            <a:r>
              <a:rPr lang="en-US" sz="1000" b="1" dirty="0">
                <a:solidFill>
                  <a:srgbClr val="0D2349"/>
                </a:solidFill>
                <a:latin typeface="Calibri" pitchFamily="34" charset="0"/>
                <a:ea typeface="Calibri" pitchFamily="34" charset="-122"/>
                <a:cs typeface="Calibri" pitchFamily="34" charset="-120"/>
              </a:rPr>
              <a:t>IndicNLP library</a:t>
            </a:r>
            <a:endParaRPr lang="en-US" sz="1100" dirty="0"/>
          </a:p>
          <a:p>
            <a:pPr indent="0" marL="0">
              <a:buNone/>
            </a:pPr>
            <a:r>
              <a:rPr lang="en-US" sz="850" dirty="0">
                <a:solidFill>
                  <a:srgbClr val="4B5563"/>
                </a:solidFill>
                <a:latin typeface="Calibri" pitchFamily="34" charset="0"/>
                <a:ea typeface="Calibri" pitchFamily="34" charset="-122"/>
                <a:cs typeface="Calibri" pitchFamily="34" charset="-120"/>
              </a:rPr>
              <a:t>Normalization and tokens</a:t>
            </a:r>
            <a:endParaRPr lang="en-US" sz="1100" dirty="0"/>
          </a:p>
        </p:txBody>
      </p:sp>
      <p:sp>
        <p:nvSpPr>
          <p:cNvPr id="22" name="Shape 18"/>
          <p:cNvSpPr/>
          <p:nvPr/>
        </p:nvSpPr>
        <p:spPr>
          <a:xfrm>
            <a:off x="274320" y="2596896"/>
            <a:ext cx="4251960" cy="1901952"/>
          </a:xfrm>
          <a:prstGeom prst="rect">
            <a:avLst/>
          </a:prstGeom>
          <a:solidFill>
            <a:srgbClr val="F3F4F6"/>
          </a:solidFill>
          <a:ln w="12700">
            <a:solidFill>
              <a:srgbClr val="F3F4F6"/>
            </a:solidFill>
            <a:prstDash val="solid"/>
          </a:ln>
        </p:spPr>
      </p:sp>
      <p:sp>
        <p:nvSpPr>
          <p:cNvPr id="23" name="Shape 19"/>
          <p:cNvSpPr/>
          <p:nvPr/>
        </p:nvSpPr>
        <p:spPr>
          <a:xfrm>
            <a:off x="274320" y="2596896"/>
            <a:ext cx="4251960" cy="292608"/>
          </a:xfrm>
          <a:prstGeom prst="rect">
            <a:avLst/>
          </a:prstGeom>
          <a:solidFill>
            <a:srgbClr val="1D4ED8"/>
          </a:solidFill>
          <a:ln w="12700">
            <a:solidFill>
              <a:srgbClr val="1D4ED8"/>
            </a:solidFill>
            <a:prstDash val="solid"/>
          </a:ln>
        </p:spPr>
      </p:sp>
      <p:sp>
        <p:nvSpPr>
          <p:cNvPr id="24" name="Text 20"/>
          <p:cNvSpPr txBox="1"/>
          <p:nvPr/>
        </p:nvSpPr>
        <p:spPr>
          <a:xfrm>
            <a:off x="365760" y="2596896"/>
            <a:ext cx="406908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Models</a:t>
            </a:r>
            <a:endParaRPr lang="en-US" sz="1100" dirty="0"/>
          </a:p>
        </p:txBody>
      </p:sp>
      <p:sp>
        <p:nvSpPr>
          <p:cNvPr id="25" name="Text 21"/>
          <p:cNvSpPr txBox="1"/>
          <p:nvPr/>
        </p:nvSpPr>
        <p:spPr>
          <a:xfrm>
            <a:off x="384048" y="2962656"/>
            <a:ext cx="4032504" cy="365760"/>
          </a:xfrm>
          <a:prstGeom prst="rect">
            <a:avLst/>
          </a:prstGeom>
          <a:noFill/>
          <a:ln/>
        </p:spPr>
        <p:txBody>
          <a:bodyPr wrap="square" lIns="0" tIns="0" rIns="0" bIns="0" rtlCol="0" anchor="t"/>
          <a:lstStyle/>
          <a:p>
            <a:pPr indent="0" marL="0">
              <a:buNone/>
            </a:pPr>
            <a:r>
              <a:rPr lang="en-US" sz="1000" b="1" dirty="0">
                <a:solidFill>
                  <a:srgbClr val="0D2349"/>
                </a:solidFill>
                <a:latin typeface="Calibri" pitchFamily="34" charset="0"/>
                <a:ea typeface="Calibri" pitchFamily="34" charset="-122"/>
                <a:cs typeface="Calibri" pitchFamily="34" charset="-120"/>
              </a:rPr>
              <a:t>multilingual-E5 (base / large)</a:t>
            </a:r>
            <a:endParaRPr lang="en-US" sz="1100" dirty="0"/>
          </a:p>
          <a:p>
            <a:pPr indent="0" marL="0">
              <a:buNone/>
            </a:pPr>
            <a:r>
              <a:rPr lang="en-US" sz="850" dirty="0">
                <a:solidFill>
                  <a:srgbClr val="4B5563"/>
                </a:solidFill>
                <a:latin typeface="Calibri" pitchFamily="34" charset="0"/>
                <a:ea typeface="Calibri" pitchFamily="34" charset="-122"/>
                <a:cs typeface="Calibri" pitchFamily="34" charset="-120"/>
              </a:rPr>
              <a:t>Embeddings, used as-is</a:t>
            </a:r>
            <a:endParaRPr lang="en-US" sz="1100" dirty="0"/>
          </a:p>
        </p:txBody>
      </p:sp>
      <p:sp>
        <p:nvSpPr>
          <p:cNvPr id="26" name="Text 22"/>
          <p:cNvSpPr txBox="1"/>
          <p:nvPr/>
        </p:nvSpPr>
        <p:spPr>
          <a:xfrm>
            <a:off x="384048" y="3346704"/>
            <a:ext cx="4032504" cy="365760"/>
          </a:xfrm>
          <a:prstGeom prst="rect">
            <a:avLst/>
          </a:prstGeom>
          <a:noFill/>
          <a:ln/>
        </p:spPr>
        <p:txBody>
          <a:bodyPr wrap="square" lIns="0" tIns="0" rIns="0" bIns="0" rtlCol="0" anchor="t"/>
          <a:lstStyle/>
          <a:p>
            <a:pPr indent="0" marL="0">
              <a:buNone/>
            </a:pPr>
            <a:r>
              <a:rPr lang="en-US" sz="1000" b="1" dirty="0">
                <a:solidFill>
                  <a:srgbClr val="0D2349"/>
                </a:solidFill>
                <a:latin typeface="Calibri" pitchFamily="34" charset="0"/>
                <a:ea typeface="Calibri" pitchFamily="34" charset="-122"/>
                <a:cs typeface="Calibri" pitchFamily="34" charset="-120"/>
              </a:rPr>
              <a:t>Multilingual cross-encoder</a:t>
            </a:r>
            <a:endParaRPr lang="en-US" sz="1100" dirty="0"/>
          </a:p>
          <a:p>
            <a:pPr indent="0" marL="0">
              <a:buNone/>
            </a:pPr>
            <a:r>
              <a:rPr lang="en-US" sz="850" dirty="0">
                <a:solidFill>
                  <a:srgbClr val="4B5563"/>
                </a:solidFill>
                <a:latin typeface="Calibri" pitchFamily="34" charset="0"/>
                <a:ea typeface="Calibri" pitchFamily="34" charset="-122"/>
                <a:cs typeface="Calibri" pitchFamily="34" charset="-120"/>
              </a:rPr>
              <a:t>Reranker, fine-tuned by us</a:t>
            </a:r>
            <a:endParaRPr lang="en-US" sz="1100" dirty="0"/>
          </a:p>
        </p:txBody>
      </p:sp>
      <p:sp>
        <p:nvSpPr>
          <p:cNvPr id="27" name="Text 23"/>
          <p:cNvSpPr txBox="1"/>
          <p:nvPr/>
        </p:nvSpPr>
        <p:spPr>
          <a:xfrm>
            <a:off x="384048" y="3730752"/>
            <a:ext cx="4032504" cy="365760"/>
          </a:xfrm>
          <a:prstGeom prst="rect">
            <a:avLst/>
          </a:prstGeom>
          <a:noFill/>
          <a:ln/>
        </p:spPr>
        <p:txBody>
          <a:bodyPr wrap="square" lIns="0" tIns="0" rIns="0" bIns="0" rtlCol="0" anchor="t"/>
          <a:lstStyle/>
          <a:p>
            <a:pPr indent="0" marL="0">
              <a:buNone/>
            </a:pPr>
            <a:r>
              <a:rPr lang="en-US" sz="1000" b="1" dirty="0">
                <a:solidFill>
                  <a:srgbClr val="0D2349"/>
                </a:solidFill>
                <a:latin typeface="Calibri" pitchFamily="34" charset="0"/>
                <a:ea typeface="Calibri" pitchFamily="34" charset="-122"/>
                <a:cs typeface="Calibri" pitchFamily="34" charset="-120"/>
              </a:rPr>
              <a:t>LightGBM · logistic regression</a:t>
            </a:r>
            <a:endParaRPr lang="en-US" sz="1100" dirty="0"/>
          </a:p>
          <a:p>
            <a:pPr indent="0" marL="0">
              <a:buNone/>
            </a:pPr>
            <a:r>
              <a:rPr lang="en-US" sz="850" dirty="0">
                <a:solidFill>
                  <a:srgbClr val="4B5563"/>
                </a:solidFill>
                <a:latin typeface="Calibri" pitchFamily="34" charset="0"/>
                <a:ea typeface="Calibri" pitchFamily="34" charset="-122"/>
                <a:cs typeface="Calibri" pitchFamily="34" charset="-120"/>
              </a:rPr>
              <a:t>Router and evidence gate, trained by us</a:t>
            </a:r>
            <a:endParaRPr lang="en-US" sz="1100" dirty="0"/>
          </a:p>
        </p:txBody>
      </p:sp>
      <p:sp>
        <p:nvSpPr>
          <p:cNvPr id="28" name="Text 24"/>
          <p:cNvSpPr txBox="1"/>
          <p:nvPr/>
        </p:nvSpPr>
        <p:spPr>
          <a:xfrm>
            <a:off x="384048" y="4114800"/>
            <a:ext cx="4032504" cy="365760"/>
          </a:xfrm>
          <a:prstGeom prst="rect">
            <a:avLst/>
          </a:prstGeom>
          <a:noFill/>
          <a:ln/>
        </p:spPr>
        <p:txBody>
          <a:bodyPr wrap="square" lIns="0" tIns="0" rIns="0" bIns="0" rtlCol="0" anchor="t"/>
          <a:lstStyle/>
          <a:p>
            <a:pPr indent="0" marL="0">
              <a:buNone/>
            </a:pPr>
            <a:r>
              <a:rPr lang="en-US" sz="1000" b="1" dirty="0">
                <a:solidFill>
                  <a:srgbClr val="0D2349"/>
                </a:solidFill>
                <a:latin typeface="Calibri" pitchFamily="34" charset="0"/>
                <a:ea typeface="Calibri" pitchFamily="34" charset="-122"/>
                <a:cs typeface="Calibri" pitchFamily="34" charset="-120"/>
              </a:rPr>
              <a:t>mDeBERTa-v3 XNLI · 2-4B LLM (4-bit GGUF)</a:t>
            </a:r>
            <a:endParaRPr lang="en-US" sz="1100" dirty="0"/>
          </a:p>
          <a:p>
            <a:pPr indent="0" marL="0">
              <a:buNone/>
            </a:pPr>
            <a:r>
              <a:rPr lang="en-US" sz="850" dirty="0">
                <a:solidFill>
                  <a:srgbClr val="4B5563"/>
                </a:solidFill>
                <a:latin typeface="Calibri" pitchFamily="34" charset="0"/>
                <a:ea typeface="Calibri" pitchFamily="34" charset="-122"/>
                <a:cs typeface="Calibri" pitchFamily="34" charset="-120"/>
              </a:rPr>
              <a:t>Verifier · generator via llama.cpp / Ollama</a:t>
            </a:r>
            <a:endParaRPr lang="en-US" sz="1100" dirty="0"/>
          </a:p>
        </p:txBody>
      </p:sp>
      <p:sp>
        <p:nvSpPr>
          <p:cNvPr id="29" name="Shape 25"/>
          <p:cNvSpPr/>
          <p:nvPr/>
        </p:nvSpPr>
        <p:spPr>
          <a:xfrm>
            <a:off x="4617720" y="2596896"/>
            <a:ext cx="4251960" cy="1901952"/>
          </a:xfrm>
          <a:prstGeom prst="rect">
            <a:avLst/>
          </a:prstGeom>
          <a:solidFill>
            <a:srgbClr val="F3F4F6"/>
          </a:solidFill>
          <a:ln w="12700">
            <a:solidFill>
              <a:srgbClr val="F3F4F6"/>
            </a:solidFill>
            <a:prstDash val="solid"/>
          </a:ln>
        </p:spPr>
      </p:sp>
      <p:sp>
        <p:nvSpPr>
          <p:cNvPr id="30" name="Shape 26"/>
          <p:cNvSpPr/>
          <p:nvPr/>
        </p:nvSpPr>
        <p:spPr>
          <a:xfrm>
            <a:off x="4617720" y="2596896"/>
            <a:ext cx="4251960" cy="292608"/>
          </a:xfrm>
          <a:prstGeom prst="rect">
            <a:avLst/>
          </a:prstGeom>
          <a:solidFill>
            <a:srgbClr val="7C3AED"/>
          </a:solidFill>
          <a:ln w="12700">
            <a:solidFill>
              <a:srgbClr val="7C3AED"/>
            </a:solidFill>
            <a:prstDash val="solid"/>
          </a:ln>
        </p:spPr>
      </p:sp>
      <p:sp>
        <p:nvSpPr>
          <p:cNvPr id="31" name="Text 27"/>
          <p:cNvSpPr txBox="1"/>
          <p:nvPr/>
        </p:nvSpPr>
        <p:spPr>
          <a:xfrm>
            <a:off x="4709160" y="2596896"/>
            <a:ext cx="406908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Frontend &amp; compute</a:t>
            </a:r>
            <a:endParaRPr lang="en-US" sz="1100" dirty="0"/>
          </a:p>
        </p:txBody>
      </p:sp>
      <p:sp>
        <p:nvSpPr>
          <p:cNvPr id="32" name="Text 28"/>
          <p:cNvSpPr txBox="1"/>
          <p:nvPr/>
        </p:nvSpPr>
        <p:spPr>
          <a:xfrm>
            <a:off x="4727448" y="2962656"/>
            <a:ext cx="4032504" cy="365760"/>
          </a:xfrm>
          <a:prstGeom prst="rect">
            <a:avLst/>
          </a:prstGeom>
          <a:noFill/>
          <a:ln/>
        </p:spPr>
        <p:txBody>
          <a:bodyPr wrap="square" lIns="0" tIns="0" rIns="0" bIns="0" rtlCol="0" anchor="t"/>
          <a:lstStyle/>
          <a:p>
            <a:pPr indent="0" marL="0">
              <a:buNone/>
            </a:pPr>
            <a:r>
              <a:rPr lang="en-US" sz="1000" b="1" dirty="0">
                <a:solidFill>
                  <a:srgbClr val="0D2349"/>
                </a:solidFill>
                <a:latin typeface="Calibri" pitchFamily="34" charset="0"/>
                <a:ea typeface="Calibri" pitchFamily="34" charset="-122"/>
                <a:cs typeface="Calibri" pitchFamily="34" charset="-120"/>
              </a:rPr>
              <a:t>Next.js + TypeScript</a:t>
            </a:r>
            <a:endParaRPr lang="en-US" sz="1100" dirty="0"/>
          </a:p>
          <a:p>
            <a:pPr indent="0" marL="0">
              <a:buNone/>
            </a:pPr>
            <a:r>
              <a:rPr lang="en-US" sz="850" dirty="0">
                <a:solidFill>
                  <a:srgbClr val="4B5563"/>
                </a:solidFill>
                <a:latin typeface="Calibri" pitchFamily="34" charset="0"/>
                <a:ea typeface="Calibri" pitchFamily="34" charset="-122"/>
                <a:cs typeface="Calibri" pitchFamily="34" charset="-120"/>
              </a:rPr>
              <a:t>Upload, ask, PDF viewer with highlight</a:t>
            </a:r>
            <a:endParaRPr lang="en-US" sz="1100" dirty="0"/>
          </a:p>
        </p:txBody>
      </p:sp>
      <p:sp>
        <p:nvSpPr>
          <p:cNvPr id="33" name="Text 29"/>
          <p:cNvSpPr txBox="1"/>
          <p:nvPr/>
        </p:nvSpPr>
        <p:spPr>
          <a:xfrm>
            <a:off x="4727448" y="3346704"/>
            <a:ext cx="4032504" cy="365760"/>
          </a:xfrm>
          <a:prstGeom prst="rect">
            <a:avLst/>
          </a:prstGeom>
          <a:noFill/>
          <a:ln/>
        </p:spPr>
        <p:txBody>
          <a:bodyPr wrap="square" lIns="0" tIns="0" rIns="0" bIns="0" rtlCol="0" anchor="t"/>
          <a:lstStyle/>
          <a:p>
            <a:pPr indent="0" marL="0">
              <a:buNone/>
            </a:pPr>
            <a:r>
              <a:rPr lang="en-US" sz="1000" b="1" dirty="0">
                <a:solidFill>
                  <a:srgbClr val="0D2349"/>
                </a:solidFill>
                <a:latin typeface="Calibri" pitchFamily="34" charset="0"/>
                <a:ea typeface="Calibri" pitchFamily="34" charset="-122"/>
                <a:cs typeface="Calibri" pitchFamily="34" charset="-120"/>
              </a:rPr>
              <a:t>"Why this route" panel</a:t>
            </a:r>
            <a:endParaRPr lang="en-US" sz="1100" dirty="0"/>
          </a:p>
          <a:p>
            <a:pPr indent="0" marL="0">
              <a:buNone/>
            </a:pPr>
            <a:r>
              <a:rPr lang="en-US" sz="850" dirty="0">
                <a:solidFill>
                  <a:srgbClr val="4B5563"/>
                </a:solidFill>
                <a:latin typeface="Calibri" pitchFamily="34" charset="0"/>
                <a:ea typeface="Calibri" pitchFamily="34" charset="-122"/>
                <a:cs typeface="Calibri" pitchFamily="34" charset="-120"/>
              </a:rPr>
              <a:t>Router explanation for each answer</a:t>
            </a:r>
            <a:endParaRPr lang="en-US" sz="1100" dirty="0"/>
          </a:p>
        </p:txBody>
      </p:sp>
      <p:sp>
        <p:nvSpPr>
          <p:cNvPr id="34" name="Text 30"/>
          <p:cNvSpPr txBox="1"/>
          <p:nvPr/>
        </p:nvSpPr>
        <p:spPr>
          <a:xfrm>
            <a:off x="4727448" y="3730752"/>
            <a:ext cx="4032504" cy="365760"/>
          </a:xfrm>
          <a:prstGeom prst="rect">
            <a:avLst/>
          </a:prstGeom>
          <a:noFill/>
          <a:ln/>
        </p:spPr>
        <p:txBody>
          <a:bodyPr wrap="square" lIns="0" tIns="0" rIns="0" bIns="0" rtlCol="0" anchor="t"/>
          <a:lstStyle/>
          <a:p>
            <a:pPr indent="0" marL="0">
              <a:buNone/>
            </a:pPr>
            <a:r>
              <a:rPr lang="en-US" sz="1000" b="1" dirty="0">
                <a:solidFill>
                  <a:srgbClr val="0D2349"/>
                </a:solidFill>
                <a:latin typeface="Calibri" pitchFamily="34" charset="0"/>
                <a:ea typeface="Calibri" pitchFamily="34" charset="-122"/>
                <a:cs typeface="Calibri" pitchFamily="34" charset="-120"/>
              </a:rPr>
              <a:t>Google Colab (T4 GPU)</a:t>
            </a:r>
            <a:endParaRPr lang="en-US" sz="1100" dirty="0"/>
          </a:p>
          <a:p>
            <a:pPr indent="0" marL="0">
              <a:buNone/>
            </a:pPr>
            <a:r>
              <a:rPr lang="en-US" sz="850" dirty="0">
                <a:solidFill>
                  <a:srgbClr val="4B5563"/>
                </a:solidFill>
                <a:latin typeface="Calibri" pitchFamily="34" charset="0"/>
                <a:ea typeface="Calibri" pitchFamily="34" charset="-122"/>
                <a:cs typeface="Calibri" pitchFamily="34" charset="-120"/>
              </a:rPr>
              <a:t>Training and experiments</a:t>
            </a:r>
            <a:endParaRPr lang="en-US" sz="1100" dirty="0"/>
          </a:p>
        </p:txBody>
      </p:sp>
      <p:sp>
        <p:nvSpPr>
          <p:cNvPr id="35" name="Text 31"/>
          <p:cNvSpPr txBox="1"/>
          <p:nvPr/>
        </p:nvSpPr>
        <p:spPr>
          <a:xfrm>
            <a:off x="4727448" y="4114800"/>
            <a:ext cx="4032504" cy="365760"/>
          </a:xfrm>
          <a:prstGeom prst="rect">
            <a:avLst/>
          </a:prstGeom>
          <a:noFill/>
          <a:ln/>
        </p:spPr>
        <p:txBody>
          <a:bodyPr wrap="square" lIns="0" tIns="0" rIns="0" bIns="0" rtlCol="0" anchor="t"/>
          <a:lstStyle/>
          <a:p>
            <a:pPr indent="0" marL="0">
              <a:buNone/>
            </a:pPr>
            <a:r>
              <a:rPr lang="en-US" sz="1000" b="1" dirty="0">
                <a:solidFill>
                  <a:srgbClr val="0D2349"/>
                </a:solidFill>
                <a:latin typeface="Calibri" pitchFamily="34" charset="0"/>
                <a:ea typeface="Calibri" pitchFamily="34" charset="-122"/>
                <a:cs typeface="Calibri" pitchFamily="34" charset="-120"/>
              </a:rPr>
              <a:t>16 GB CPU laptop</a:t>
            </a:r>
            <a:endParaRPr lang="en-US" sz="1100" dirty="0"/>
          </a:p>
          <a:p>
            <a:pPr indent="0" marL="0">
              <a:buNone/>
            </a:pPr>
            <a:r>
              <a:rPr lang="en-US" sz="850" dirty="0">
                <a:solidFill>
                  <a:srgbClr val="4B5563"/>
                </a:solidFill>
                <a:latin typeface="Calibri" pitchFamily="34" charset="0"/>
                <a:ea typeface="Calibri" pitchFamily="34" charset="-122"/>
                <a:cs typeface="Calibri" pitchFamily="34" charset="-120"/>
              </a:rPr>
              <a:t>Deployment and latency target</a:t>
            </a:r>
            <a:endParaRPr lang="en-US" sz="1100" dirty="0"/>
          </a:p>
        </p:txBody>
      </p:sp>
      <p:sp>
        <p:nvSpPr>
          <p:cNvPr id="36" name="Text 32"/>
          <p:cNvSpPr txBox="1"/>
          <p:nvPr/>
        </p:nvSpPr>
        <p:spPr>
          <a:xfrm>
            <a:off x="274320" y="4626864"/>
            <a:ext cx="8595360" cy="219456"/>
          </a:xfrm>
          <a:prstGeom prst="rect">
            <a:avLst/>
          </a:prstGeom>
          <a:noFill/>
          <a:ln/>
        </p:spPr>
        <p:txBody>
          <a:bodyPr wrap="square" lIns="0" tIns="0" rIns="0" bIns="0" rtlCol="0" anchor="ctr"/>
          <a:lstStyle/>
          <a:p>
            <a:pPr indent="0" marL="0">
              <a:buNone/>
            </a:pPr>
            <a:r>
              <a:rPr lang="en-US" sz="850" i="1" dirty="0">
                <a:solidFill>
                  <a:srgbClr val="4B5563"/>
                </a:solidFill>
                <a:latin typeface="Calibri" pitchFamily="34" charset="0"/>
                <a:ea typeface="Calibri" pitchFamily="34" charset="-122"/>
                <a:cs typeface="Calibri" pitchFamily="34" charset="-120"/>
              </a:rPr>
              <a:t>Dropped from Review 1: AWS S3 · Celery + Redis · LangChain · multi-tenant SaaS and JWT · Claude API · QLoRA as a core deliverable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D2349"/>
          </a:solidFill>
          <a:ln w="12700">
            <a:solidFill>
              <a:srgbClr val="0D2349"/>
            </a:solidFill>
            <a:prstDash val="solid"/>
          </a:ln>
        </p:spPr>
      </p:sp>
      <p:sp>
        <p:nvSpPr>
          <p:cNvPr id="3" name="Text 1"/>
          <p:cNvSpPr txBox="1"/>
          <p:nvPr/>
        </p:nvSpPr>
        <p:spPr>
          <a:xfrm>
            <a:off x="274320" y="0"/>
            <a:ext cx="7863840"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Dataset: Sakshya-Bench</a:t>
            </a:r>
            <a:endParaRPr lang="en-US" sz="1900" dirty="0"/>
          </a:p>
        </p:txBody>
      </p:sp>
      <p:pic>
        <p:nvPicPr>
          <p:cNvPr id="4" name="Image 0" descr="MMCOE logo">    </p:cNvPr>
          <p:cNvPicPr>
            <a:picLocks noChangeAspect="1"/>
          </p:cNvPicPr>
          <p:nvPr/>
        </p:nvPicPr>
        <p:blipFill>
          <a:blip r:embed="rId1"/>
          <a:stretch>
            <a:fillRect/>
          </a:stretch>
        </p:blipFill>
        <p:spPr>
          <a:xfrm>
            <a:off x="8531352" y="36576"/>
            <a:ext cx="320040" cy="384048"/>
          </a:xfrm>
          <a:prstGeom prst="rect">
            <a:avLst/>
          </a:prstGeom>
        </p:spPr>
      </p:pic>
      <p:sp>
        <p:nvSpPr>
          <p:cNvPr id="5" name="Text 2"/>
          <p:cNvSpPr txBox="1"/>
          <p:nvPr/>
        </p:nvSpPr>
        <p:spPr>
          <a:xfrm>
            <a:off x="274320" y="4882896"/>
            <a:ext cx="7680960" cy="201168"/>
          </a:xfrm>
          <a:prstGeom prst="rect">
            <a:avLst/>
          </a:prstGeom>
          <a:noFill/>
          <a:ln/>
        </p:spPr>
        <p:txBody>
          <a:bodyPr wrap="square" lIns="0" tIns="0" rIns="0" bIns="0" rtlCol="0" anchor="ctr"/>
          <a:lstStyle/>
          <a:p>
            <a:pPr indent="0" marL="0">
              <a:buNone/>
            </a:pPr>
            <a:r>
              <a:rPr lang="en-US" sz="700" dirty="0">
                <a:solidFill>
                  <a:srgbClr val="9CA3AF"/>
                </a:solidFill>
                <a:latin typeface="Calibri" pitchFamily="34" charset="0"/>
                <a:ea typeface="Calibri" pitchFamily="34" charset="-122"/>
                <a:cs typeface="Calibri" pitchFamily="34" charset="-120"/>
              </a:rPr>
              <a:t>Sakshya · Multilingual Document Intelligence (RAG)  |  BE Project Review 2  |  MMCOE Pune</a:t>
            </a:r>
            <a:endParaRPr lang="en-US" sz="700" dirty="0"/>
          </a:p>
        </p:txBody>
      </p:sp>
      <p:sp>
        <p:nvSpPr>
          <p:cNvPr id="6" name="Text 3"/>
          <p:cNvSpPr txBox="1"/>
          <p:nvPr/>
        </p:nvSpPr>
        <p:spPr>
          <a:xfrm>
            <a:off x="8412480" y="4882896"/>
            <a:ext cx="457200" cy="201168"/>
          </a:xfrm>
          <a:prstGeom prst="rect">
            <a:avLst/>
          </a:prstGeom>
          <a:noFill/>
          <a:ln/>
        </p:spPr>
        <p:txBody>
          <a:bodyPr wrap="square" lIns="0" tIns="0" rIns="0" bIns="0" rtlCol="0" anchor="ctr"/>
          <a:lstStyle/>
          <a:p>
            <a:pPr algn="r" indent="0" marL="0">
              <a:buNone/>
            </a:pPr>
            <a:r>
              <a:rPr lang="en-US" sz="700" dirty="0">
                <a:solidFill>
                  <a:srgbClr val="9CA3AF"/>
                </a:solidFill>
                <a:latin typeface="Calibri" pitchFamily="34" charset="0"/>
                <a:ea typeface="Calibri" pitchFamily="34" charset="-122"/>
                <a:cs typeface="Calibri" pitchFamily="34" charset="-120"/>
              </a:rPr>
              <a:t>11</a:t>
            </a:r>
            <a:endParaRPr lang="en-US" sz="700" dirty="0"/>
          </a:p>
        </p:txBody>
      </p:sp>
      <p:sp>
        <p:nvSpPr>
          <p:cNvPr id="8" name="Shape 4"/>
          <p:cNvSpPr/>
          <p:nvPr/>
        </p:nvSpPr>
        <p:spPr>
          <a:xfrm>
            <a:off x="274320" y="585216"/>
            <a:ext cx="2075688" cy="914400"/>
          </a:xfrm>
          <a:prstGeom prst="roundRect">
            <a:avLst>
              <a:gd name="adj" fmla="val 6000"/>
            </a:avLst>
          </a:prstGeom>
          <a:solidFill>
            <a:srgbClr val="DBEAFE"/>
          </a:solidFill>
          <a:ln w="12700">
            <a:solidFill>
              <a:srgbClr val="DBEAFE"/>
            </a:solidFill>
            <a:prstDash val="solid"/>
          </a:ln>
        </p:spPr>
      </p:sp>
      <p:sp>
        <p:nvSpPr>
          <p:cNvPr id="9" name="Text 5"/>
          <p:cNvSpPr txBox="1"/>
          <p:nvPr/>
        </p:nvSpPr>
        <p:spPr>
          <a:xfrm>
            <a:off x="274320" y="621792"/>
            <a:ext cx="2075688" cy="512064"/>
          </a:xfrm>
          <a:prstGeom prst="rect">
            <a:avLst/>
          </a:prstGeom>
          <a:noFill/>
          <a:ln/>
        </p:spPr>
        <p:txBody>
          <a:bodyPr wrap="square" lIns="0" tIns="0" rIns="0" bIns="0" rtlCol="0" anchor="ctr"/>
          <a:lstStyle/>
          <a:p>
            <a:pPr algn="ctr" indent="0" marL="0">
              <a:buNone/>
            </a:pPr>
            <a:r>
              <a:rPr lang="en-US" sz="2800" b="1" dirty="0">
                <a:solidFill>
                  <a:srgbClr val="0D2349"/>
                </a:solidFill>
                <a:latin typeface="Calibri" pitchFamily="34" charset="0"/>
                <a:ea typeface="Calibri" pitchFamily="34" charset="-122"/>
                <a:cs typeface="Calibri" pitchFamily="34" charset="-120"/>
              </a:rPr>
              <a:t>~60</a:t>
            </a:r>
            <a:endParaRPr lang="en-US" sz="2800" dirty="0"/>
          </a:p>
        </p:txBody>
      </p:sp>
      <p:sp>
        <p:nvSpPr>
          <p:cNvPr id="10" name="Text 6"/>
          <p:cNvSpPr txBox="1"/>
          <p:nvPr/>
        </p:nvSpPr>
        <p:spPr>
          <a:xfrm>
            <a:off x="274320" y="1133856"/>
            <a:ext cx="2075688" cy="292608"/>
          </a:xfrm>
          <a:prstGeom prst="rect">
            <a:avLst/>
          </a:prstGeom>
          <a:noFill/>
          <a:ln/>
        </p:spPr>
        <p:txBody>
          <a:bodyPr wrap="square" lIns="0" tIns="0" rIns="0" bIns="0" rtlCol="0" anchor="ctr"/>
          <a:lstStyle/>
          <a:p>
            <a:pPr algn="ctr" indent="0" marL="0">
              <a:buNone/>
            </a:pPr>
            <a:r>
              <a:rPr lang="en-US" sz="1000" dirty="0">
                <a:solidFill>
                  <a:srgbClr val="111827"/>
                </a:solidFill>
                <a:latin typeface="Calibri" pitchFamily="34" charset="0"/>
                <a:ea typeface="Calibri" pitchFamily="34" charset="-122"/>
                <a:cs typeface="Calibri" pitchFamily="34" charset="-120"/>
              </a:rPr>
              <a:t>public documents</a:t>
            </a:r>
            <a:endParaRPr lang="en-US" sz="1000" dirty="0"/>
          </a:p>
        </p:txBody>
      </p:sp>
      <p:sp>
        <p:nvSpPr>
          <p:cNvPr id="11" name="Shape 7"/>
          <p:cNvSpPr/>
          <p:nvPr/>
        </p:nvSpPr>
        <p:spPr>
          <a:xfrm>
            <a:off x="2441448" y="585216"/>
            <a:ext cx="2075688" cy="914400"/>
          </a:xfrm>
          <a:prstGeom prst="roundRect">
            <a:avLst>
              <a:gd name="adj" fmla="val 6000"/>
            </a:avLst>
          </a:prstGeom>
          <a:solidFill>
            <a:srgbClr val="DCFCE7"/>
          </a:solidFill>
          <a:ln w="12700">
            <a:solidFill>
              <a:srgbClr val="DCFCE7"/>
            </a:solidFill>
            <a:prstDash val="solid"/>
          </a:ln>
        </p:spPr>
      </p:sp>
      <p:sp>
        <p:nvSpPr>
          <p:cNvPr id="12" name="Text 8"/>
          <p:cNvSpPr txBox="1"/>
          <p:nvPr/>
        </p:nvSpPr>
        <p:spPr>
          <a:xfrm>
            <a:off x="2441448" y="621792"/>
            <a:ext cx="2075688" cy="512064"/>
          </a:xfrm>
          <a:prstGeom prst="rect">
            <a:avLst/>
          </a:prstGeom>
          <a:noFill/>
          <a:ln/>
        </p:spPr>
        <p:txBody>
          <a:bodyPr wrap="square" lIns="0" tIns="0" rIns="0" bIns="0" rtlCol="0" anchor="ctr"/>
          <a:lstStyle/>
          <a:p>
            <a:pPr algn="ctr" indent="0" marL="0">
              <a:buNone/>
            </a:pPr>
            <a:r>
              <a:rPr lang="en-US" sz="2800" b="1" dirty="0">
                <a:solidFill>
                  <a:srgbClr val="0D2349"/>
                </a:solidFill>
                <a:latin typeface="Calibri" pitchFamily="34" charset="0"/>
                <a:ea typeface="Calibri" pitchFamily="34" charset="-122"/>
                <a:cs typeface="Calibri" pitchFamily="34" charset="-120"/>
              </a:rPr>
              <a:t>~40%</a:t>
            </a:r>
            <a:endParaRPr lang="en-US" sz="2800" dirty="0"/>
          </a:p>
        </p:txBody>
      </p:sp>
      <p:sp>
        <p:nvSpPr>
          <p:cNvPr id="13" name="Text 9"/>
          <p:cNvSpPr txBox="1"/>
          <p:nvPr/>
        </p:nvSpPr>
        <p:spPr>
          <a:xfrm>
            <a:off x="2441448" y="1133856"/>
            <a:ext cx="2075688" cy="292608"/>
          </a:xfrm>
          <a:prstGeom prst="rect">
            <a:avLst/>
          </a:prstGeom>
          <a:noFill/>
          <a:ln/>
        </p:spPr>
        <p:txBody>
          <a:bodyPr wrap="square" lIns="0" tIns="0" rIns="0" bIns="0" rtlCol="0" anchor="ctr"/>
          <a:lstStyle/>
          <a:p>
            <a:pPr algn="ctr" indent="0" marL="0">
              <a:buNone/>
            </a:pPr>
            <a:r>
              <a:rPr lang="en-US" sz="1000" dirty="0">
                <a:solidFill>
                  <a:srgbClr val="111827"/>
                </a:solidFill>
                <a:latin typeface="Calibri" pitchFamily="34" charset="0"/>
                <a:ea typeface="Calibri" pitchFamily="34" charset="-122"/>
                <a:cs typeface="Calibri" pitchFamily="34" charset="-120"/>
              </a:rPr>
              <a:t>scanned pages</a:t>
            </a:r>
            <a:endParaRPr lang="en-US" sz="1000" dirty="0"/>
          </a:p>
        </p:txBody>
      </p:sp>
      <p:sp>
        <p:nvSpPr>
          <p:cNvPr id="14" name="Shape 10"/>
          <p:cNvSpPr/>
          <p:nvPr/>
        </p:nvSpPr>
        <p:spPr>
          <a:xfrm>
            <a:off x="4608576" y="585216"/>
            <a:ext cx="2075688" cy="914400"/>
          </a:xfrm>
          <a:prstGeom prst="roundRect">
            <a:avLst>
              <a:gd name="adj" fmla="val 6000"/>
            </a:avLst>
          </a:prstGeom>
          <a:solidFill>
            <a:srgbClr val="FEF3C7"/>
          </a:solidFill>
          <a:ln w="12700">
            <a:solidFill>
              <a:srgbClr val="FEF3C7"/>
            </a:solidFill>
            <a:prstDash val="solid"/>
          </a:ln>
        </p:spPr>
      </p:sp>
      <p:sp>
        <p:nvSpPr>
          <p:cNvPr id="15" name="Text 11"/>
          <p:cNvSpPr txBox="1"/>
          <p:nvPr/>
        </p:nvSpPr>
        <p:spPr>
          <a:xfrm>
            <a:off x="4608576" y="621792"/>
            <a:ext cx="2075688" cy="512064"/>
          </a:xfrm>
          <a:prstGeom prst="rect">
            <a:avLst/>
          </a:prstGeom>
          <a:noFill/>
          <a:ln/>
        </p:spPr>
        <p:txBody>
          <a:bodyPr wrap="square" lIns="0" tIns="0" rIns="0" bIns="0" rtlCol="0" anchor="ctr"/>
          <a:lstStyle/>
          <a:p>
            <a:pPr algn="ctr" indent="0" marL="0">
              <a:buNone/>
            </a:pPr>
            <a:r>
              <a:rPr lang="en-US" sz="2800" b="1" dirty="0">
                <a:solidFill>
                  <a:srgbClr val="0D2349"/>
                </a:solidFill>
                <a:latin typeface="Calibri" pitchFamily="34" charset="0"/>
                <a:ea typeface="Calibri" pitchFamily="34" charset="-122"/>
                <a:cs typeface="Calibri" pitchFamily="34" charset="-120"/>
              </a:rPr>
              <a:t>~400</a:t>
            </a:r>
            <a:endParaRPr lang="en-US" sz="2800" dirty="0"/>
          </a:p>
        </p:txBody>
      </p:sp>
      <p:sp>
        <p:nvSpPr>
          <p:cNvPr id="16" name="Text 12"/>
          <p:cNvSpPr txBox="1"/>
          <p:nvPr/>
        </p:nvSpPr>
        <p:spPr>
          <a:xfrm>
            <a:off x="4608576" y="1133856"/>
            <a:ext cx="2075688" cy="292608"/>
          </a:xfrm>
          <a:prstGeom prst="rect">
            <a:avLst/>
          </a:prstGeom>
          <a:noFill/>
          <a:ln/>
        </p:spPr>
        <p:txBody>
          <a:bodyPr wrap="square" lIns="0" tIns="0" rIns="0" bIns="0" rtlCol="0" anchor="ctr"/>
          <a:lstStyle/>
          <a:p>
            <a:pPr algn="ctr" indent="0" marL="0">
              <a:buNone/>
            </a:pPr>
            <a:r>
              <a:rPr lang="en-US" sz="1000" dirty="0">
                <a:solidFill>
                  <a:srgbClr val="111827"/>
                </a:solidFill>
                <a:latin typeface="Calibri" pitchFamily="34" charset="0"/>
                <a:ea typeface="Calibri" pitchFamily="34" charset="-122"/>
                <a:cs typeface="Calibri" pitchFamily="34" charset="-120"/>
              </a:rPr>
              <a:t>human-checked questions</a:t>
            </a:r>
            <a:endParaRPr lang="en-US" sz="1000" dirty="0"/>
          </a:p>
        </p:txBody>
      </p:sp>
      <p:sp>
        <p:nvSpPr>
          <p:cNvPr id="17" name="Shape 13"/>
          <p:cNvSpPr/>
          <p:nvPr/>
        </p:nvSpPr>
        <p:spPr>
          <a:xfrm>
            <a:off x="6775704" y="585216"/>
            <a:ext cx="2075688" cy="914400"/>
          </a:xfrm>
          <a:prstGeom prst="roundRect">
            <a:avLst>
              <a:gd name="adj" fmla="val 6000"/>
            </a:avLst>
          </a:prstGeom>
          <a:solidFill>
            <a:srgbClr val="F3F4F6"/>
          </a:solidFill>
          <a:ln w="12700">
            <a:solidFill>
              <a:srgbClr val="F3F4F6"/>
            </a:solidFill>
            <a:prstDash val="solid"/>
          </a:ln>
        </p:spPr>
      </p:sp>
      <p:sp>
        <p:nvSpPr>
          <p:cNvPr id="18" name="Text 14"/>
          <p:cNvSpPr txBox="1"/>
          <p:nvPr/>
        </p:nvSpPr>
        <p:spPr>
          <a:xfrm>
            <a:off x="6775704" y="621792"/>
            <a:ext cx="2075688" cy="512064"/>
          </a:xfrm>
          <a:prstGeom prst="rect">
            <a:avLst/>
          </a:prstGeom>
          <a:noFill/>
          <a:ln/>
        </p:spPr>
        <p:txBody>
          <a:bodyPr wrap="square" lIns="0" tIns="0" rIns="0" bIns="0" rtlCol="0" anchor="ctr"/>
          <a:lstStyle/>
          <a:p>
            <a:pPr algn="ctr" indent="0" marL="0">
              <a:buNone/>
            </a:pPr>
            <a:r>
              <a:rPr lang="en-US" sz="2800" b="1" dirty="0">
                <a:solidFill>
                  <a:srgbClr val="0D2349"/>
                </a:solidFill>
                <a:latin typeface="Calibri" pitchFamily="34" charset="0"/>
                <a:ea typeface="Calibri" pitchFamily="34" charset="-122"/>
                <a:cs typeface="Calibri" pitchFamily="34" charset="-120"/>
              </a:rPr>
              <a:t>15%</a:t>
            </a:r>
            <a:endParaRPr lang="en-US" sz="2800" dirty="0"/>
          </a:p>
        </p:txBody>
      </p:sp>
      <p:sp>
        <p:nvSpPr>
          <p:cNvPr id="19" name="Text 15"/>
          <p:cNvSpPr txBox="1"/>
          <p:nvPr/>
        </p:nvSpPr>
        <p:spPr>
          <a:xfrm>
            <a:off x="6775704" y="1133856"/>
            <a:ext cx="2075688" cy="292608"/>
          </a:xfrm>
          <a:prstGeom prst="rect">
            <a:avLst/>
          </a:prstGeom>
          <a:noFill/>
          <a:ln/>
        </p:spPr>
        <p:txBody>
          <a:bodyPr wrap="square" lIns="0" tIns="0" rIns="0" bIns="0" rtlCol="0" anchor="ctr"/>
          <a:lstStyle/>
          <a:p>
            <a:pPr algn="ctr" indent="0" marL="0">
              <a:buNone/>
            </a:pPr>
            <a:r>
              <a:rPr lang="en-US" sz="1000" dirty="0">
                <a:solidFill>
                  <a:srgbClr val="111827"/>
                </a:solidFill>
                <a:latin typeface="Calibri" pitchFamily="34" charset="0"/>
                <a:ea typeface="Calibri" pitchFamily="34" charset="-122"/>
                <a:cs typeface="Calibri" pitchFamily="34" charset="-120"/>
              </a:rPr>
              <a:t>double-annotated</a:t>
            </a:r>
            <a:endParaRPr lang="en-US" sz="1000" dirty="0"/>
          </a:p>
        </p:txBody>
      </p:sp>
      <p:sp>
        <p:nvSpPr>
          <p:cNvPr id="20" name="Text 16"/>
          <p:cNvSpPr txBox="1"/>
          <p:nvPr/>
        </p:nvSpPr>
        <p:spPr>
          <a:xfrm>
            <a:off x="274320" y="1627632"/>
            <a:ext cx="4572000" cy="237744"/>
          </a:xfrm>
          <a:prstGeom prst="rect">
            <a:avLst/>
          </a:prstGeom>
          <a:noFill/>
          <a:ln/>
        </p:spPr>
        <p:txBody>
          <a:bodyPr wrap="square" lIns="0" tIns="0" rIns="0" bIns="0" rtlCol="0" anchor="ctr"/>
          <a:lstStyle/>
          <a:p>
            <a:pPr indent="0" marL="0">
              <a:buNone/>
            </a:pPr>
            <a:r>
              <a:rPr lang="en-US" sz="1100" b="1" dirty="0">
                <a:solidFill>
                  <a:srgbClr val="0E7490"/>
                </a:solidFill>
                <a:latin typeface="Calibri" pitchFamily="34" charset="0"/>
                <a:ea typeface="Calibri" pitchFamily="34" charset="-122"/>
                <a:cs typeface="Calibri" pitchFamily="34" charset="-120"/>
              </a:rPr>
              <a:t>Question mix</a:t>
            </a:r>
            <a:endParaRPr lang="en-US" sz="1100" dirty="0"/>
          </a:p>
        </p:txBody>
      </p:sp>
      <p:graphicFrame>
        <p:nvGraphicFramePr>
          <p:cNvPr id="21" name="Chart 0" descr=""/>
          <p:cNvGraphicFramePr/>
          <p:nvPr/>
        </p:nvGraphicFramePr>
        <p:xfrm>
          <a:off x="274320" y="1865376"/>
          <a:ext cx="8595360" cy="1325880"/>
        </p:xfrm>
        <a:graphic xmlns:a="http://schemas.openxmlformats.org/drawingml/2006/main">
          <a:graphicData uri="http://schemas.openxmlformats.org/drawingml/2006/chart">
            <c:chart xmlns:c="http://schemas.openxmlformats.org/drawingml/2006/chart" r:id="rId2"/>
          </a:graphicData>
        </a:graphic>
      </p:graphicFrame>
      <p:sp>
        <p:nvSpPr>
          <p:cNvPr id="22" name="Text 17"/>
          <p:cNvSpPr txBox="1"/>
          <p:nvPr/>
        </p:nvSpPr>
        <p:spPr>
          <a:xfrm>
            <a:off x="274320" y="3291840"/>
            <a:ext cx="2779776" cy="237744"/>
          </a:xfrm>
          <a:prstGeom prst="rect">
            <a:avLst/>
          </a:prstGeom>
          <a:noFill/>
          <a:ln/>
        </p:spPr>
        <p:txBody>
          <a:bodyPr wrap="square" lIns="0" tIns="0" rIns="0" bIns="0" rtlCol="0" anchor="ctr"/>
          <a:lstStyle/>
          <a:p>
            <a:pPr indent="0" marL="0">
              <a:buNone/>
            </a:pPr>
            <a:r>
              <a:rPr lang="en-US" sz="1150" b="1" dirty="0">
                <a:solidFill>
                  <a:srgbClr val="0E7490"/>
                </a:solidFill>
                <a:latin typeface="Calibri" pitchFamily="34" charset="0"/>
                <a:ea typeface="Calibri" pitchFamily="34" charset="-122"/>
                <a:cs typeface="Calibri" pitchFamily="34" charset="-120"/>
              </a:rPr>
              <a:t>Documents</a:t>
            </a:r>
            <a:endParaRPr lang="en-US" sz="1150" dirty="0"/>
          </a:p>
        </p:txBody>
      </p:sp>
      <p:sp>
        <p:nvSpPr>
          <p:cNvPr id="23" name="Text 18"/>
          <p:cNvSpPr txBox="1"/>
          <p:nvPr/>
        </p:nvSpPr>
        <p:spPr>
          <a:xfrm>
            <a:off x="274320" y="3566160"/>
            <a:ext cx="2779776" cy="1243584"/>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111827"/>
                </a:solidFill>
                <a:latin typeface="Calibri" pitchFamily="34" charset="0"/>
                <a:ea typeface="Calibri" pitchFamily="34" charset="-122"/>
                <a:cs typeface="Calibri" pitchFamily="34" charset="-120"/>
              </a:rPr>
              <a:t>Maharashtra GRs, university circulars, gazette notifications, NPTEL notes</a:t>
            </a:r>
            <a:endParaRPr lang="en-US" sz="1050" dirty="0"/>
          </a:p>
          <a:p>
            <a:pPr marL="127000" indent="-127000">
              <a:spcAft>
                <a:spcPts val="600"/>
              </a:spcAft>
              <a:buSzPct val="100000"/>
              <a:buChar char="•"/>
            </a:pPr>
            <a:r>
              <a:rPr lang="en-US" sz="1050" dirty="0">
                <a:solidFill>
                  <a:srgbClr val="111827"/>
                </a:solidFill>
                <a:latin typeface="Calibri" pitchFamily="34" charset="0"/>
                <a:ea typeface="Calibri" pitchFamily="34" charset="-122"/>
                <a:cs typeface="Calibri" pitchFamily="34" charset="-120"/>
              </a:rPr>
              <a:t>English, Hindi, Marathi and bilingual files</a:t>
            </a:r>
            <a:endParaRPr lang="en-US" sz="1050" dirty="0"/>
          </a:p>
          <a:p>
            <a:pPr marL="127000" indent="-127000">
              <a:spcAft>
                <a:spcPts val="600"/>
              </a:spcAft>
              <a:buSzPct val="100000"/>
              <a:buChar char="•"/>
            </a:pPr>
            <a:r>
              <a:rPr lang="en-US" sz="1050" dirty="0">
                <a:solidFill>
                  <a:srgbClr val="111827"/>
                </a:solidFill>
                <a:latin typeface="Calibri" pitchFamily="34" charset="0"/>
                <a:ea typeface="Calibri" pitchFamily="34" charset="-122"/>
                <a:cs typeface="Calibri" pitchFamily="34" charset="-120"/>
              </a:rPr>
              <a:t>Source URL and licence recorded for each</a:t>
            </a:r>
            <a:endParaRPr lang="en-US" sz="1050" dirty="0"/>
          </a:p>
        </p:txBody>
      </p:sp>
      <p:sp>
        <p:nvSpPr>
          <p:cNvPr id="24" name="Text 19"/>
          <p:cNvSpPr txBox="1"/>
          <p:nvPr/>
        </p:nvSpPr>
        <p:spPr>
          <a:xfrm>
            <a:off x="3182112" y="3291840"/>
            <a:ext cx="2779776" cy="237744"/>
          </a:xfrm>
          <a:prstGeom prst="rect">
            <a:avLst/>
          </a:prstGeom>
          <a:noFill/>
          <a:ln/>
        </p:spPr>
        <p:txBody>
          <a:bodyPr wrap="square" lIns="0" tIns="0" rIns="0" bIns="0" rtlCol="0" anchor="ctr"/>
          <a:lstStyle/>
          <a:p>
            <a:pPr indent="0" marL="0">
              <a:buNone/>
            </a:pPr>
            <a:r>
              <a:rPr lang="en-US" sz="1150" b="1" dirty="0">
                <a:solidFill>
                  <a:srgbClr val="0E7490"/>
                </a:solidFill>
                <a:latin typeface="Calibri" pitchFamily="34" charset="0"/>
                <a:ea typeface="Calibri" pitchFamily="34" charset="-122"/>
                <a:cs typeface="Calibri" pitchFamily="34" charset="-120"/>
              </a:rPr>
              <a:t>Annotation</a:t>
            </a:r>
            <a:endParaRPr lang="en-US" sz="1150" dirty="0"/>
          </a:p>
        </p:txBody>
      </p:sp>
      <p:sp>
        <p:nvSpPr>
          <p:cNvPr id="25" name="Text 20"/>
          <p:cNvSpPr txBox="1"/>
          <p:nvPr/>
        </p:nvSpPr>
        <p:spPr>
          <a:xfrm>
            <a:off x="3182112" y="3566160"/>
            <a:ext cx="2779776" cy="1243584"/>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111827"/>
                </a:solidFill>
                <a:latin typeface="Calibri" pitchFamily="34" charset="0"/>
                <a:ea typeface="Calibri" pitchFamily="34" charset="-122"/>
                <a:cs typeface="Calibri" pitchFamily="34" charset="-120"/>
              </a:rPr>
              <a:t>LLM may draft; a human writes, edits and verifies every question and gold span</a:t>
            </a:r>
            <a:endParaRPr lang="en-US" sz="1050" dirty="0"/>
          </a:p>
          <a:p>
            <a:pPr marL="127000" indent="-127000">
              <a:spcAft>
                <a:spcPts val="600"/>
              </a:spcAft>
              <a:buSzPct val="100000"/>
              <a:buChar char="•"/>
            </a:pPr>
            <a:r>
              <a:rPr lang="en-US" sz="1050" dirty="0">
                <a:solidFill>
                  <a:srgbClr val="111827"/>
                </a:solidFill>
                <a:latin typeface="Calibri" pitchFamily="34" charset="0"/>
                <a:ea typeface="Calibri" pitchFamily="34" charset="-122"/>
                <a:cs typeface="Calibri" pitchFamily="34" charset="-120"/>
              </a:rPr>
              <a:t>Gold document, page and evidence span per question</a:t>
            </a:r>
            <a:endParaRPr lang="en-US" sz="1050" dirty="0"/>
          </a:p>
          <a:p>
            <a:pPr marL="127000" indent="-127000">
              <a:spcAft>
                <a:spcPts val="600"/>
              </a:spcAft>
              <a:buSzPct val="100000"/>
              <a:buChar char="•"/>
            </a:pPr>
            <a:r>
              <a:rPr lang="en-US" sz="1050" dirty="0">
                <a:solidFill>
                  <a:srgbClr val="111827"/>
                </a:solidFill>
                <a:latin typeface="Calibri" pitchFamily="34" charset="0"/>
                <a:ea typeface="Calibri" pitchFamily="34" charset="-122"/>
                <a:cs typeface="Calibri" pitchFamily="34" charset="-120"/>
              </a:rPr>
              <a:t>Agreement: Cohen's κ on page, token-F1 on span</a:t>
            </a:r>
            <a:endParaRPr lang="en-US" sz="1050" dirty="0"/>
          </a:p>
        </p:txBody>
      </p:sp>
      <p:sp>
        <p:nvSpPr>
          <p:cNvPr id="26" name="Text 21"/>
          <p:cNvSpPr txBox="1"/>
          <p:nvPr/>
        </p:nvSpPr>
        <p:spPr>
          <a:xfrm>
            <a:off x="6089904" y="3291840"/>
            <a:ext cx="2779776" cy="237744"/>
          </a:xfrm>
          <a:prstGeom prst="rect">
            <a:avLst/>
          </a:prstGeom>
          <a:noFill/>
          <a:ln/>
        </p:spPr>
        <p:txBody>
          <a:bodyPr wrap="square" lIns="0" tIns="0" rIns="0" bIns="0" rtlCol="0" anchor="ctr"/>
          <a:lstStyle/>
          <a:p>
            <a:pPr indent="0" marL="0">
              <a:buNone/>
            </a:pPr>
            <a:r>
              <a:rPr lang="en-US" sz="1150" b="1" dirty="0">
                <a:solidFill>
                  <a:srgbClr val="0E7490"/>
                </a:solidFill>
                <a:latin typeface="Calibri" pitchFamily="34" charset="0"/>
                <a:ea typeface="Calibri" pitchFamily="34" charset="-122"/>
                <a:cs typeface="Calibri" pitchFamily="34" charset="-120"/>
              </a:rPr>
              <a:t>Splits &amp; checks</a:t>
            </a:r>
            <a:endParaRPr lang="en-US" sz="1150" dirty="0"/>
          </a:p>
        </p:txBody>
      </p:sp>
      <p:sp>
        <p:nvSpPr>
          <p:cNvPr id="27" name="Text 22"/>
          <p:cNvSpPr txBox="1"/>
          <p:nvPr/>
        </p:nvSpPr>
        <p:spPr>
          <a:xfrm>
            <a:off x="6089904" y="3566160"/>
            <a:ext cx="2779776" cy="1243584"/>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111827"/>
                </a:solidFill>
                <a:latin typeface="Calibri" pitchFamily="34" charset="0"/>
                <a:ea typeface="Calibri" pitchFamily="34" charset="-122"/>
                <a:cs typeface="Calibri" pitchFamily="34" charset="-120"/>
              </a:rPr>
              <a:t>Split by document: ~50 / 15 / 35% train / dev / test</a:t>
            </a:r>
            <a:endParaRPr lang="en-US" sz="1050" dirty="0"/>
          </a:p>
          <a:p>
            <a:pPr marL="127000" indent="-127000">
              <a:spcAft>
                <a:spcPts val="600"/>
              </a:spcAft>
              <a:buSzPct val="100000"/>
              <a:buChar char="•"/>
            </a:pPr>
            <a:r>
              <a:rPr lang="en-US" sz="1050" dirty="0">
                <a:solidFill>
                  <a:srgbClr val="111827"/>
                </a:solidFill>
                <a:latin typeface="Calibri" pitchFamily="34" charset="0"/>
                <a:ea typeface="Calibri" pitchFamily="34" charset="-122"/>
                <a:cs typeface="Calibri" pitchFamily="34" charset="-120"/>
              </a:rPr>
              <a:t>Test split frozen before any tuning</a:t>
            </a:r>
            <a:endParaRPr lang="en-US" sz="1050" dirty="0"/>
          </a:p>
          <a:p>
            <a:pPr marL="127000" indent="-127000">
              <a:spcAft>
                <a:spcPts val="600"/>
              </a:spcAft>
              <a:buSzPct val="100000"/>
              <a:buChar char="•"/>
            </a:pPr>
            <a:r>
              <a:rPr lang="en-US" sz="1050" dirty="0">
                <a:solidFill>
                  <a:srgbClr val="111827"/>
                </a:solidFill>
                <a:latin typeface="Calibri" pitchFamily="34" charset="0"/>
                <a:ea typeface="Calibri" pitchFamily="34" charset="-122"/>
                <a:cs typeface="Calibri" pitchFamily="34" charset="-120"/>
              </a:rPr>
              <a:t>Sanity checks on IndicQA (Marathi) and MIRACL-Hindi</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D2349"/>
          </a:solidFill>
          <a:ln w="12700">
            <a:solidFill>
              <a:srgbClr val="0D2349"/>
            </a:solidFill>
            <a:prstDash val="solid"/>
          </a:ln>
        </p:spPr>
      </p:sp>
      <p:sp>
        <p:nvSpPr>
          <p:cNvPr id="3" name="Text 1"/>
          <p:cNvSpPr txBox="1"/>
          <p:nvPr/>
        </p:nvSpPr>
        <p:spPr>
          <a:xfrm>
            <a:off x="274320" y="0"/>
            <a:ext cx="7863840"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Evaluation &amp; Review 2 Results</a:t>
            </a:r>
            <a:endParaRPr lang="en-US" sz="1900" dirty="0"/>
          </a:p>
        </p:txBody>
      </p:sp>
      <p:pic>
        <p:nvPicPr>
          <p:cNvPr id="4" name="Image 0" descr="MMCOE logo">    </p:cNvPr>
          <p:cNvPicPr>
            <a:picLocks noChangeAspect="1"/>
          </p:cNvPicPr>
          <p:nvPr/>
        </p:nvPicPr>
        <p:blipFill>
          <a:blip r:embed="rId1"/>
          <a:stretch>
            <a:fillRect/>
          </a:stretch>
        </p:blipFill>
        <p:spPr>
          <a:xfrm>
            <a:off x="8531352" y="36576"/>
            <a:ext cx="320040" cy="384048"/>
          </a:xfrm>
          <a:prstGeom prst="rect">
            <a:avLst/>
          </a:prstGeom>
        </p:spPr>
      </p:pic>
      <p:sp>
        <p:nvSpPr>
          <p:cNvPr id="5" name="Text 2"/>
          <p:cNvSpPr txBox="1"/>
          <p:nvPr/>
        </p:nvSpPr>
        <p:spPr>
          <a:xfrm>
            <a:off x="274320" y="4882896"/>
            <a:ext cx="7680960" cy="201168"/>
          </a:xfrm>
          <a:prstGeom prst="rect">
            <a:avLst/>
          </a:prstGeom>
          <a:noFill/>
          <a:ln/>
        </p:spPr>
        <p:txBody>
          <a:bodyPr wrap="square" lIns="0" tIns="0" rIns="0" bIns="0" rtlCol="0" anchor="ctr"/>
          <a:lstStyle/>
          <a:p>
            <a:pPr indent="0" marL="0">
              <a:buNone/>
            </a:pPr>
            <a:r>
              <a:rPr lang="en-US" sz="700" dirty="0">
                <a:solidFill>
                  <a:srgbClr val="9CA3AF"/>
                </a:solidFill>
                <a:latin typeface="Calibri" pitchFamily="34" charset="0"/>
                <a:ea typeface="Calibri" pitchFamily="34" charset="-122"/>
                <a:cs typeface="Calibri" pitchFamily="34" charset="-120"/>
              </a:rPr>
              <a:t>Sakshya · Multilingual Document Intelligence (RAG)  |  BE Project Review 2  |  MMCOE Pune</a:t>
            </a:r>
            <a:endParaRPr lang="en-US" sz="700" dirty="0"/>
          </a:p>
        </p:txBody>
      </p:sp>
      <p:sp>
        <p:nvSpPr>
          <p:cNvPr id="6" name="Text 3"/>
          <p:cNvSpPr txBox="1"/>
          <p:nvPr/>
        </p:nvSpPr>
        <p:spPr>
          <a:xfrm>
            <a:off x="8412480" y="4882896"/>
            <a:ext cx="457200" cy="201168"/>
          </a:xfrm>
          <a:prstGeom prst="rect">
            <a:avLst/>
          </a:prstGeom>
          <a:noFill/>
          <a:ln/>
        </p:spPr>
        <p:txBody>
          <a:bodyPr wrap="square" lIns="0" tIns="0" rIns="0" bIns="0" rtlCol="0" anchor="ctr"/>
          <a:lstStyle/>
          <a:p>
            <a:pPr algn="r" indent="0" marL="0">
              <a:buNone/>
            </a:pPr>
            <a:r>
              <a:rPr lang="en-US" sz="700" dirty="0">
                <a:solidFill>
                  <a:srgbClr val="9CA3AF"/>
                </a:solidFill>
                <a:latin typeface="Calibri" pitchFamily="34" charset="0"/>
                <a:ea typeface="Calibri" pitchFamily="34" charset="-122"/>
                <a:cs typeface="Calibri" pitchFamily="34" charset="-120"/>
              </a:rPr>
              <a:t>12</a:t>
            </a:r>
            <a:endParaRPr lang="en-US" sz="700" dirty="0"/>
          </a:p>
        </p:txBody>
      </p:sp>
      <p:sp>
        <p:nvSpPr>
          <p:cNvPr id="8" name="Text 4"/>
          <p:cNvSpPr txBox="1"/>
          <p:nvPr/>
        </p:nvSpPr>
        <p:spPr>
          <a:xfrm>
            <a:off x="274320" y="585216"/>
            <a:ext cx="3931920" cy="237744"/>
          </a:xfrm>
          <a:prstGeom prst="rect">
            <a:avLst/>
          </a:prstGeom>
          <a:noFill/>
          <a:ln/>
        </p:spPr>
        <p:txBody>
          <a:bodyPr wrap="square" lIns="0" tIns="0" rIns="0" bIns="0" rtlCol="0" anchor="ctr"/>
          <a:lstStyle/>
          <a:p>
            <a:pPr indent="0" marL="0">
              <a:buNone/>
            </a:pPr>
            <a:r>
              <a:rPr lang="en-US" sz="1100" b="1" dirty="0">
                <a:solidFill>
                  <a:srgbClr val="0E7490"/>
                </a:solidFill>
                <a:latin typeface="Calibri" pitchFamily="34" charset="0"/>
                <a:ea typeface="Calibri" pitchFamily="34" charset="-122"/>
                <a:cs typeface="Calibri" pitchFamily="34" charset="-120"/>
              </a:rPr>
              <a:t>What we measure</a:t>
            </a:r>
            <a:endParaRPr lang="en-US" sz="1100" dirty="0"/>
          </a:p>
        </p:txBody>
      </p:sp>
      <p:sp>
        <p:nvSpPr>
          <p:cNvPr id="9" name="Text 5"/>
          <p:cNvSpPr txBox="1"/>
          <p:nvPr/>
        </p:nvSpPr>
        <p:spPr>
          <a:xfrm>
            <a:off x="274320" y="877824"/>
            <a:ext cx="3931920" cy="2651760"/>
          </a:xfrm>
          <a:prstGeom prst="rect">
            <a:avLst/>
          </a:prstGeom>
          <a:noFill/>
          <a:ln/>
        </p:spPr>
        <p:txBody>
          <a:bodyPr wrap="square" lIns="0" tIns="0" rIns="0" bIns="0" rtlCol="0" anchor="t"/>
          <a:lstStyle/>
          <a:p>
            <a:pPr indent="0" marL="0">
              <a:buNone/>
            </a:pPr>
            <a:r>
              <a:rPr lang="en-US" sz="1050" b="1" dirty="0">
                <a:solidFill>
                  <a:srgbClr val="0D2349"/>
                </a:solidFill>
                <a:latin typeface="Calibri" pitchFamily="34" charset="0"/>
                <a:ea typeface="Calibri" pitchFamily="34" charset="-122"/>
                <a:cs typeface="Calibri" pitchFamily="34" charset="-120"/>
              </a:rPr>
              <a:t>Retrieval: </a:t>
            </a:r>
            <a:pPr indent="0" marL="0">
              <a:spcAft>
                <a:spcPts val="500"/>
              </a:spcAft>
              <a:buNone/>
            </a:pPr>
            <a:r>
              <a:rPr lang="en-US" sz="1050" dirty="0">
                <a:solidFill>
                  <a:srgbClr val="111827"/>
                </a:solidFill>
                <a:latin typeface="Calibri" pitchFamily="34" charset="0"/>
                <a:ea typeface="Calibri" pitchFamily="34" charset="-122"/>
                <a:cs typeface="Calibri" pitchFamily="34" charset="-120"/>
              </a:rPr>
              <a:t>Recall@5/20, MRR@10, nDCG@10 per language, document type and query type</a:t>
            </a:r>
            <a:endParaRPr lang="en-US" sz="1050" dirty="0"/>
          </a:p>
          <a:p>
            <a:pPr indent="0" marL="0">
              <a:buNone/>
            </a:pPr>
            <a:r>
              <a:rPr lang="en-US" sz="1050" b="1" dirty="0">
                <a:solidFill>
                  <a:srgbClr val="0D2349"/>
                </a:solidFill>
                <a:latin typeface="Calibri" pitchFamily="34" charset="0"/>
                <a:ea typeface="Calibri" pitchFamily="34" charset="-122"/>
                <a:cs typeface="Calibri" pitchFamily="34" charset="-120"/>
              </a:rPr>
              <a:t>Answers: </a:t>
            </a:r>
            <a:pPr indent="0" marL="0">
              <a:spcAft>
                <a:spcPts val="500"/>
              </a:spcAft>
              <a:buNone/>
            </a:pPr>
            <a:r>
              <a:rPr lang="en-US" sz="1050" dirty="0">
                <a:solidFill>
                  <a:srgbClr val="111827"/>
                </a:solidFill>
                <a:latin typeface="Calibri" pitchFamily="34" charset="0"/>
                <a:ea typeface="Calibri" pitchFamily="34" charset="-122"/>
                <a:cs typeface="Calibri" pitchFamily="34" charset="-120"/>
              </a:rPr>
              <a:t>Citation precision/recall, unsupported-claim rate, human correctness</a:t>
            </a:r>
            <a:endParaRPr lang="en-US" sz="1050" dirty="0"/>
          </a:p>
          <a:p>
            <a:pPr indent="0" marL="0">
              <a:buNone/>
            </a:pPr>
            <a:r>
              <a:rPr lang="en-US" sz="1050" b="1" dirty="0">
                <a:solidFill>
                  <a:srgbClr val="0D2349"/>
                </a:solidFill>
                <a:latin typeface="Calibri" pitchFamily="34" charset="0"/>
                <a:ea typeface="Calibri" pitchFamily="34" charset="-122"/>
                <a:cs typeface="Calibri" pitchFamily="34" charset="-120"/>
              </a:rPr>
              <a:t>Abstention: </a:t>
            </a:r>
            <a:pPr indent="0" marL="0">
              <a:spcAft>
                <a:spcPts val="500"/>
              </a:spcAft>
              <a:buNone/>
            </a:pPr>
            <a:r>
              <a:rPr lang="en-US" sz="1050" dirty="0">
                <a:solidFill>
                  <a:srgbClr val="111827"/>
                </a:solidFill>
                <a:latin typeface="Calibri" pitchFamily="34" charset="0"/>
                <a:ea typeface="Calibri" pitchFamily="34" charset="-122"/>
                <a:cs typeface="Calibri" pitchFamily="34" charset="-120"/>
              </a:rPr>
              <a:t>Precision/recall on unanswerable questions; risk-coverage, AURC</a:t>
            </a:r>
            <a:endParaRPr lang="en-US" sz="1050" dirty="0"/>
          </a:p>
          <a:p>
            <a:pPr indent="0" marL="0">
              <a:buNone/>
            </a:pPr>
            <a:r>
              <a:rPr lang="en-US" sz="1050" b="1" dirty="0">
                <a:solidFill>
                  <a:srgbClr val="0D2349"/>
                </a:solidFill>
                <a:latin typeface="Calibri" pitchFamily="34" charset="0"/>
                <a:ea typeface="Calibri" pitchFamily="34" charset="-122"/>
                <a:cs typeface="Calibri" pitchFamily="34" charset="-120"/>
              </a:rPr>
              <a:t>Fidelity: </a:t>
            </a:r>
            <a:pPr indent="0" marL="0">
              <a:spcAft>
                <a:spcPts val="500"/>
              </a:spcAft>
              <a:buNone/>
            </a:pPr>
            <a:r>
              <a:rPr lang="en-US" sz="1050" dirty="0">
                <a:solidFill>
                  <a:srgbClr val="111827"/>
                </a:solidFill>
                <a:latin typeface="Calibri" pitchFamily="34" charset="0"/>
                <a:ea typeface="Calibri" pitchFamily="34" charset="-122"/>
                <a:cs typeface="Calibri" pitchFamily="34" charset="-120"/>
              </a:rPr>
              <a:t>Language and script match by query script; human fluency</a:t>
            </a:r>
            <a:endParaRPr lang="en-US" sz="1050" dirty="0"/>
          </a:p>
          <a:p>
            <a:pPr indent="0" marL="0">
              <a:buNone/>
            </a:pPr>
            <a:r>
              <a:rPr lang="en-US" sz="1050" b="1" dirty="0">
                <a:solidFill>
                  <a:srgbClr val="0D2349"/>
                </a:solidFill>
                <a:latin typeface="Calibri" pitchFamily="34" charset="0"/>
                <a:ea typeface="Calibri" pitchFamily="34" charset="-122"/>
                <a:cs typeface="Calibri" pitchFamily="34" charset="-120"/>
              </a:rPr>
              <a:t>Robustness: </a:t>
            </a:r>
            <a:pPr indent="0" marL="0">
              <a:spcAft>
                <a:spcPts val="500"/>
              </a:spcAft>
              <a:buNone/>
            </a:pPr>
            <a:r>
              <a:rPr lang="en-US" sz="1050" dirty="0">
                <a:solidFill>
                  <a:srgbClr val="111827"/>
                </a:solidFill>
                <a:latin typeface="Calibri" pitchFamily="34" charset="0"/>
                <a:ea typeface="Calibri" pitchFamily="34" charset="-122"/>
                <a:cs typeface="Calibri" pitchFamily="34" charset="-120"/>
              </a:rPr>
              <a:t>Recall by OCR-confidence bucket; synthetic 5-30% character error rate</a:t>
            </a:r>
            <a:endParaRPr lang="en-US" sz="1050" dirty="0"/>
          </a:p>
          <a:p>
            <a:pPr indent="0" marL="0">
              <a:buNone/>
            </a:pPr>
            <a:r>
              <a:rPr lang="en-US" sz="1050" b="1" dirty="0">
                <a:solidFill>
                  <a:srgbClr val="0D2349"/>
                </a:solidFill>
                <a:latin typeface="Calibri" pitchFamily="34" charset="0"/>
                <a:ea typeface="Calibri" pitchFamily="34" charset="-122"/>
                <a:cs typeface="Calibri" pitchFamily="34" charset="-120"/>
              </a:rPr>
              <a:t>Cost: </a:t>
            </a:r>
            <a:pPr indent="0" marL="0">
              <a:spcAft>
                <a:spcPts val="500"/>
              </a:spcAft>
              <a:buNone/>
            </a:pPr>
            <a:r>
              <a:rPr lang="en-US" sz="1050" dirty="0">
                <a:solidFill>
                  <a:srgbClr val="111827"/>
                </a:solidFill>
                <a:latin typeface="Calibri" pitchFamily="34" charset="0"/>
                <a:ea typeface="Calibri" pitchFamily="34" charset="-122"/>
                <a:cs typeface="Calibri" pitchFamily="34" charset="-120"/>
              </a:rPr>
              <a:t>p50/p95 latency, peak RAM/VRAM on a T4 and a CPU laptop</a:t>
            </a:r>
            <a:endParaRPr lang="en-US" sz="1050" dirty="0"/>
          </a:p>
        </p:txBody>
      </p:sp>
      <p:sp>
        <p:nvSpPr>
          <p:cNvPr id="10" name="Shape 6"/>
          <p:cNvSpPr/>
          <p:nvPr/>
        </p:nvSpPr>
        <p:spPr>
          <a:xfrm>
            <a:off x="274320" y="3401568"/>
            <a:ext cx="3931920" cy="1371600"/>
          </a:xfrm>
          <a:prstGeom prst="roundRect">
            <a:avLst>
              <a:gd name="adj" fmla="val 4000"/>
            </a:avLst>
          </a:prstGeom>
          <a:solidFill>
            <a:srgbClr val="F3F4F6"/>
          </a:solidFill>
          <a:ln w="9525">
            <a:solidFill>
              <a:srgbClr val="D1D5DB"/>
            </a:solidFill>
            <a:prstDash val="solid"/>
          </a:ln>
        </p:spPr>
      </p:sp>
      <p:sp>
        <p:nvSpPr>
          <p:cNvPr id="11" name="Text 7"/>
          <p:cNvSpPr txBox="1"/>
          <p:nvPr/>
        </p:nvSpPr>
        <p:spPr>
          <a:xfrm>
            <a:off x="384048" y="3438144"/>
            <a:ext cx="3712464" cy="1298448"/>
          </a:xfrm>
          <a:prstGeom prst="rect">
            <a:avLst/>
          </a:prstGeom>
          <a:noFill/>
          <a:ln/>
        </p:spPr>
        <p:txBody>
          <a:bodyPr wrap="square" lIns="0" tIns="0" rIns="0" bIns="0" rtlCol="0" anchor="ctr"/>
          <a:lstStyle/>
          <a:p>
            <a:pPr indent="0" marL="0">
              <a:buNone/>
            </a:pPr>
            <a:r>
              <a:rPr lang="en-US" sz="1000" b="1" dirty="0">
                <a:solidFill>
                  <a:srgbClr val="0D2349"/>
                </a:solidFill>
                <a:latin typeface="Calibri" pitchFamily="34" charset="0"/>
                <a:ea typeface="Calibri" pitchFamily="34" charset="-122"/>
                <a:cs typeface="Calibri" pitchFamily="34" charset="-120"/>
              </a:rPr>
              <a:t>Baselines: </a:t>
            </a:r>
            <a:pPr indent="0" marL="0">
              <a:spcAft>
                <a:spcPts val="500"/>
              </a:spcAft>
              <a:buNone/>
            </a:pPr>
            <a:r>
              <a:rPr lang="en-US" sz="1000" dirty="0">
                <a:solidFill>
                  <a:srgbClr val="111827"/>
                </a:solidFill>
                <a:latin typeface="Calibri" pitchFamily="34" charset="0"/>
                <a:ea typeface="Calibri" pitchFamily="34" charset="-122"/>
                <a:cs typeface="Calibri" pitchFamily="34" charset="-120"/>
              </a:rPr>
              <a:t>vanilla dense RAG (E5 only, prompt-only guard) · translate-only · hybrid without reranker or gate · each fixed route with the full answer stack.</a:t>
            </a:r>
            <a:endParaRPr lang="en-US" sz="1000" dirty="0"/>
          </a:p>
          <a:p>
            <a:pPr indent="0" marL="0">
              <a:buNone/>
            </a:pPr>
            <a:r>
              <a:rPr lang="en-US" sz="1000" b="1" dirty="0">
                <a:solidFill>
                  <a:srgbClr val="0D2349"/>
                </a:solidFill>
                <a:latin typeface="Calibri" pitchFamily="34" charset="0"/>
                <a:ea typeface="Calibri" pitchFamily="34" charset="-122"/>
                <a:cs typeface="Calibri" pitchFamily="34" charset="-120"/>
              </a:rPr>
              <a:t>Ablations: </a:t>
            </a:r>
            <a:pPr indent="0" marL="0">
              <a:buNone/>
            </a:pPr>
            <a:r>
              <a:rPr lang="en-US" sz="1000" dirty="0">
                <a:solidFill>
                  <a:srgbClr val="111827"/>
                </a:solidFill>
                <a:latin typeface="Calibri" pitchFamily="34" charset="0"/>
                <a:ea typeface="Calibri" pitchFamily="34" charset="-122"/>
                <a:cs typeface="Calibri" pitchFamily="34" charset="-120"/>
              </a:rPr>
              <a:t>remove one component at a time; E5-base vs large.</a:t>
            </a:r>
            <a:endParaRPr lang="en-US" sz="1000" dirty="0"/>
          </a:p>
        </p:txBody>
      </p:sp>
      <p:sp>
        <p:nvSpPr>
          <p:cNvPr id="12" name="Text 8"/>
          <p:cNvSpPr txBox="1"/>
          <p:nvPr/>
        </p:nvSpPr>
        <p:spPr>
          <a:xfrm>
            <a:off x="4434840" y="585216"/>
            <a:ext cx="2926080" cy="237744"/>
          </a:xfrm>
          <a:prstGeom prst="rect">
            <a:avLst/>
          </a:prstGeom>
          <a:noFill/>
          <a:ln/>
        </p:spPr>
        <p:txBody>
          <a:bodyPr wrap="square" lIns="0" tIns="0" rIns="0" bIns="0" rtlCol="0" anchor="ctr"/>
          <a:lstStyle/>
          <a:p>
            <a:pPr indent="0" marL="0">
              <a:buNone/>
            </a:pPr>
            <a:r>
              <a:rPr lang="en-US" sz="1100" b="1" dirty="0">
                <a:solidFill>
                  <a:srgbClr val="0E7490"/>
                </a:solidFill>
                <a:latin typeface="Calibri" pitchFamily="34" charset="0"/>
                <a:ea typeface="Calibri" pitchFamily="34" charset="-122"/>
                <a:cs typeface="Calibri" pitchFamily="34" charset="-120"/>
              </a:rPr>
              <a:t>RQ1 on the dev split</a:t>
            </a:r>
            <a:endParaRPr lang="en-US" sz="1100" dirty="0"/>
          </a:p>
        </p:txBody>
      </p:sp>
      <p:sp>
        <p:nvSpPr>
          <p:cNvPr id="13" name="Shape 9"/>
          <p:cNvSpPr/>
          <p:nvPr/>
        </p:nvSpPr>
        <p:spPr>
          <a:xfrm>
            <a:off x="7498080" y="603504"/>
            <a:ext cx="1371600" cy="219456"/>
          </a:xfrm>
          <a:prstGeom prst="roundRect">
            <a:avLst>
              <a:gd name="adj" fmla="val 25000"/>
            </a:avLst>
          </a:prstGeom>
          <a:solidFill>
            <a:srgbClr val="FEF3C7"/>
          </a:solidFill>
          <a:ln w="9525">
            <a:solidFill>
              <a:srgbClr val="B45309"/>
            </a:solidFill>
            <a:prstDash val="solid"/>
          </a:ln>
        </p:spPr>
      </p:sp>
      <p:sp>
        <p:nvSpPr>
          <p:cNvPr id="14" name="Text 10"/>
          <p:cNvSpPr txBox="1"/>
          <p:nvPr/>
        </p:nvSpPr>
        <p:spPr>
          <a:xfrm>
            <a:off x="7498080" y="603504"/>
            <a:ext cx="1371600" cy="219456"/>
          </a:xfrm>
          <a:prstGeom prst="rect">
            <a:avLst/>
          </a:prstGeom>
          <a:noFill/>
          <a:ln/>
        </p:spPr>
        <p:txBody>
          <a:bodyPr wrap="square" lIns="0" tIns="0" rIns="0" bIns="0" rtlCol="0" anchor="ctr"/>
          <a:lstStyle/>
          <a:p>
            <a:pPr algn="ctr" indent="0" marL="0">
              <a:buNone/>
            </a:pPr>
            <a:r>
              <a:rPr lang="en-US" sz="850" b="1" dirty="0">
                <a:solidFill>
                  <a:srgbClr val="B45309"/>
                </a:solidFill>
                <a:latin typeface="Calibri" pitchFamily="34" charset="0"/>
                <a:ea typeface="Calibri" pitchFamily="34" charset="-122"/>
                <a:cs typeface="Calibri" pitchFamily="34" charset="-120"/>
              </a:rPr>
              <a:t>fill in week 6</a:t>
            </a:r>
            <a:endParaRPr lang="en-US" sz="8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434840" y="896112"/>
          <a:ext cx="4434840" cy="914400"/>
        </p:xfrm>
        <a:graphic>
          <a:graphicData uri="http://schemas.openxmlformats.org/drawingml/2006/table">
            <a:tbl>
              <a:tblPr/>
              <a:tblGrid>
                <a:gridCol w="1234440"/>
                <a:gridCol w="640080"/>
                <a:gridCol w="640080"/>
                <a:gridCol w="640080"/>
                <a:gridCol w="640080"/>
                <a:gridCol w="640080"/>
              </a:tblGrid>
              <a:tr h="274320">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nDCG@10</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2349"/>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English</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2349"/>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Hindi</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2349"/>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Marathi</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2349"/>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Scanned</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2349"/>
                    </a:solidFill>
                  </a:tcPr>
                </a:tc>
                <a:tc>
                  <a:txBody>
                    <a:bodyPr/>
                    <a:lstStyle/>
                    <a:p>
                      <a:pPr algn="ctr" indent="0" marL="0">
                        <a:buNone/>
                      </a:pPr>
                      <a:r>
                        <a:rPr lang="en-US" sz="850" b="1" dirty="0">
                          <a:solidFill>
                            <a:srgbClr val="FFFFFF"/>
                          </a:solidFill>
                          <a:latin typeface="Calibri" pitchFamily="34" charset="0"/>
                          <a:ea typeface="Calibri" pitchFamily="34" charset="-122"/>
                          <a:cs typeface="Calibri" pitchFamily="34" charset="-120"/>
                        </a:rPr>
                        <a:t>Romanized</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2349"/>
                    </a:solidFill>
                  </a:tcPr>
                </a:tc>
              </a:tr>
              <a:tr h="274320">
                <a:tc>
                  <a:txBody>
                    <a:bodyPr/>
                    <a:lstStyle/>
                    <a:p>
                      <a:pPr indent="0" marL="0">
                        <a:buNone/>
                      </a:pPr>
                      <a:r>
                        <a:rPr lang="en-US" sz="850" b="1" dirty="0">
                          <a:solidFill>
                            <a:srgbClr val="0D2349"/>
                          </a:solidFill>
                          <a:latin typeface="Calibri" pitchFamily="34" charset="0"/>
                          <a:ea typeface="Calibri" pitchFamily="34" charset="-122"/>
                          <a:cs typeface="Calibri" pitchFamily="34" charset="-120"/>
                        </a:rPr>
                        <a:t>Direct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274320">
                <a:tc>
                  <a:txBody>
                    <a:bodyPr/>
                    <a:lstStyle/>
                    <a:p>
                      <a:pPr indent="0" marL="0">
                        <a:buNone/>
                      </a:pPr>
                      <a:r>
                        <a:rPr lang="en-US" sz="850" b="1" dirty="0">
                          <a:solidFill>
                            <a:srgbClr val="0D2349"/>
                          </a:solidFill>
                          <a:latin typeface="Calibri" pitchFamily="34" charset="0"/>
                          <a:ea typeface="Calibri" pitchFamily="34" charset="-122"/>
                          <a:cs typeface="Calibri" pitchFamily="34" charset="-120"/>
                        </a:rPr>
                        <a:t>Translate</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D2349"/>
                          </a:solidFill>
                          <a:latin typeface="Calibri" pitchFamily="34" charset="0"/>
                          <a:ea typeface="Calibri" pitchFamily="34" charset="-122"/>
                          <a:cs typeface="Calibri" pitchFamily="34" charset="-120"/>
                        </a:rPr>
                        <a:t>Hybrid</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274320">
                <a:tc>
                  <a:txBody>
                    <a:bodyPr/>
                    <a:lstStyle/>
                    <a:p>
                      <a:pPr indent="0" marL="0">
                        <a:buNone/>
                      </a:pPr>
                      <a:r>
                        <a:rPr lang="en-US" sz="850" b="1" dirty="0">
                          <a:solidFill>
                            <a:srgbClr val="0D2349"/>
                          </a:solidFill>
                          <a:latin typeface="Calibri" pitchFamily="34" charset="0"/>
                          <a:ea typeface="Calibri" pitchFamily="34" charset="-122"/>
                          <a:cs typeface="Calibri" pitchFamily="34" charset="-120"/>
                        </a:rPr>
                        <a:t>Learned router</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D2349"/>
                          </a:solidFill>
                          <a:latin typeface="Calibri" pitchFamily="34" charset="0"/>
                          <a:ea typeface="Calibri" pitchFamily="34" charset="-122"/>
                          <a:cs typeface="Calibri" pitchFamily="34" charset="-120"/>
                        </a:rPr>
                        <a:t>Oracle (upper bound)</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ctr" indent="0" marL="0">
                        <a:buNone/>
                      </a:pPr>
                      <a:r>
                        <a:rPr lang="en-US" sz="850" dirty="0">
                          <a:solidFill>
                            <a:srgbClr val="9CA3A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8100" marR="38100" marT="25400" marB="254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bl>
          </a:graphicData>
        </a:graphic>
      </p:graphicFrame>
      <p:sp>
        <p:nvSpPr>
          <p:cNvPr id="16" name="Text 11"/>
          <p:cNvSpPr txBox="1"/>
          <p:nvPr/>
        </p:nvSpPr>
        <p:spPr>
          <a:xfrm>
            <a:off x="4434840" y="2688336"/>
            <a:ext cx="3017520" cy="237744"/>
          </a:xfrm>
          <a:prstGeom prst="rect">
            <a:avLst/>
          </a:prstGeom>
          <a:noFill/>
          <a:ln/>
        </p:spPr>
        <p:txBody>
          <a:bodyPr wrap="square" lIns="0" tIns="0" rIns="0" bIns="0" rtlCol="0" anchor="ctr"/>
          <a:lstStyle/>
          <a:p>
            <a:pPr indent="0" marL="0">
              <a:buNone/>
            </a:pPr>
            <a:r>
              <a:rPr lang="en-US" sz="1100" b="1" dirty="0">
                <a:solidFill>
                  <a:srgbClr val="0E7490"/>
                </a:solidFill>
                <a:latin typeface="Calibri" pitchFamily="34" charset="0"/>
                <a:ea typeface="Calibri" pitchFamily="34" charset="-122"/>
                <a:cs typeface="Calibri" pitchFamily="34" charset="-120"/>
              </a:rPr>
              <a:t>Evidence-gate risk-coverage curve</a:t>
            </a:r>
            <a:endParaRPr lang="en-US" sz="1100" dirty="0"/>
          </a:p>
        </p:txBody>
      </p:sp>
      <p:sp>
        <p:nvSpPr>
          <p:cNvPr id="17" name="Shape 12"/>
          <p:cNvSpPr/>
          <p:nvPr/>
        </p:nvSpPr>
        <p:spPr>
          <a:xfrm>
            <a:off x="7498080" y="2706624"/>
            <a:ext cx="1371600" cy="219456"/>
          </a:xfrm>
          <a:prstGeom prst="roundRect">
            <a:avLst>
              <a:gd name="adj" fmla="val 25000"/>
            </a:avLst>
          </a:prstGeom>
          <a:solidFill>
            <a:srgbClr val="FEF3C7"/>
          </a:solidFill>
          <a:ln w="9525">
            <a:solidFill>
              <a:srgbClr val="B45309"/>
            </a:solidFill>
            <a:prstDash val="solid"/>
          </a:ln>
        </p:spPr>
      </p:sp>
      <p:sp>
        <p:nvSpPr>
          <p:cNvPr id="18" name="Text 13"/>
          <p:cNvSpPr txBox="1"/>
          <p:nvPr/>
        </p:nvSpPr>
        <p:spPr>
          <a:xfrm>
            <a:off x="7498080" y="2706624"/>
            <a:ext cx="1371600" cy="219456"/>
          </a:xfrm>
          <a:prstGeom prst="rect">
            <a:avLst/>
          </a:prstGeom>
          <a:noFill/>
          <a:ln/>
        </p:spPr>
        <p:txBody>
          <a:bodyPr wrap="square" lIns="0" tIns="0" rIns="0" bIns="0" rtlCol="0" anchor="ctr"/>
          <a:lstStyle/>
          <a:p>
            <a:pPr algn="ctr" indent="0" marL="0">
              <a:buNone/>
            </a:pPr>
            <a:r>
              <a:rPr lang="en-US" sz="850" b="1" dirty="0">
                <a:solidFill>
                  <a:srgbClr val="B45309"/>
                </a:solidFill>
                <a:latin typeface="Calibri" pitchFamily="34" charset="0"/>
                <a:ea typeface="Calibri" pitchFamily="34" charset="-122"/>
                <a:cs typeface="Calibri" pitchFamily="34" charset="-120"/>
              </a:rPr>
              <a:t>fill in week 8</a:t>
            </a:r>
            <a:endParaRPr lang="en-US" sz="850" dirty="0"/>
          </a:p>
        </p:txBody>
      </p:sp>
      <p:sp>
        <p:nvSpPr>
          <p:cNvPr id="19" name="Shape 14"/>
          <p:cNvSpPr/>
          <p:nvPr/>
        </p:nvSpPr>
        <p:spPr>
          <a:xfrm>
            <a:off x="4434840" y="2999232"/>
            <a:ext cx="4434840" cy="1773936"/>
          </a:xfrm>
          <a:prstGeom prst="roundRect">
            <a:avLst>
              <a:gd name="adj" fmla="val 3093"/>
            </a:avLst>
          </a:prstGeom>
          <a:solidFill>
            <a:srgbClr val="FFFFFF"/>
          </a:solidFill>
          <a:ln w="9525">
            <a:solidFill>
              <a:srgbClr val="D1D5DB"/>
            </a:solidFill>
            <a:prstDash val="dash"/>
          </a:ln>
        </p:spPr>
      </p:sp>
      <p:sp>
        <p:nvSpPr>
          <p:cNvPr id="20" name="Shape 15"/>
          <p:cNvSpPr/>
          <p:nvPr/>
        </p:nvSpPr>
        <p:spPr>
          <a:xfrm>
            <a:off x="4800600" y="3154680"/>
            <a:ext cx="0" cy="1280160"/>
          </a:xfrm>
          <a:prstGeom prst="line">
            <a:avLst/>
          </a:prstGeom>
          <a:noFill/>
          <a:ln w="15875">
            <a:solidFill>
              <a:srgbClr val="6B7280"/>
            </a:solidFill>
            <a:prstDash val="solid"/>
          </a:ln>
        </p:spPr>
      </p:sp>
      <p:sp>
        <p:nvSpPr>
          <p:cNvPr id="21" name="Shape 16"/>
          <p:cNvSpPr/>
          <p:nvPr/>
        </p:nvSpPr>
        <p:spPr>
          <a:xfrm>
            <a:off x="4800600" y="4434840"/>
            <a:ext cx="3840480" cy="0"/>
          </a:xfrm>
          <a:prstGeom prst="line">
            <a:avLst/>
          </a:prstGeom>
          <a:noFill/>
          <a:ln w="15875">
            <a:solidFill>
              <a:srgbClr val="6B7280"/>
            </a:solidFill>
            <a:prstDash val="solid"/>
          </a:ln>
        </p:spPr>
      </p:sp>
      <p:sp>
        <p:nvSpPr>
          <p:cNvPr id="22" name="Text 17"/>
          <p:cNvSpPr txBox="1"/>
          <p:nvPr/>
        </p:nvSpPr>
        <p:spPr>
          <a:xfrm>
            <a:off x="4873752" y="3108960"/>
            <a:ext cx="2194560" cy="182880"/>
          </a:xfrm>
          <a:prstGeom prst="rect">
            <a:avLst/>
          </a:prstGeom>
          <a:noFill/>
          <a:ln/>
        </p:spPr>
        <p:txBody>
          <a:bodyPr wrap="square" lIns="0" tIns="0" rIns="0" bIns="0" rtlCol="0" anchor="t"/>
          <a:lstStyle/>
          <a:p>
            <a:pPr indent="0" marL="0">
              <a:buNone/>
            </a:pPr>
            <a:r>
              <a:rPr lang="en-US" sz="800" dirty="0">
                <a:solidFill>
                  <a:srgbClr val="4B5563"/>
                </a:solidFill>
                <a:latin typeface="Calibri" pitchFamily="34" charset="0"/>
                <a:ea typeface="Calibri" pitchFamily="34" charset="-122"/>
                <a:cs typeface="Calibri" pitchFamily="34" charset="-120"/>
              </a:rPr>
              <a:t>Risk (unsupported answers)</a:t>
            </a:r>
            <a:endParaRPr lang="en-US" sz="800" dirty="0"/>
          </a:p>
        </p:txBody>
      </p:sp>
      <p:sp>
        <p:nvSpPr>
          <p:cNvPr id="23" name="Text 18"/>
          <p:cNvSpPr txBox="1"/>
          <p:nvPr/>
        </p:nvSpPr>
        <p:spPr>
          <a:xfrm>
            <a:off x="6217920" y="4480560"/>
            <a:ext cx="2468880" cy="201168"/>
          </a:xfrm>
          <a:prstGeom prst="rect">
            <a:avLst/>
          </a:prstGeom>
          <a:noFill/>
          <a:ln/>
        </p:spPr>
        <p:txBody>
          <a:bodyPr wrap="square" lIns="0" tIns="0" rIns="0" bIns="0" rtlCol="0" anchor="t"/>
          <a:lstStyle/>
          <a:p>
            <a:pPr algn="r" indent="0" marL="0">
              <a:buNone/>
            </a:pPr>
            <a:r>
              <a:rPr lang="en-US" sz="800" dirty="0">
                <a:solidFill>
                  <a:srgbClr val="4B5563"/>
                </a:solidFill>
                <a:latin typeface="Calibri" pitchFamily="34" charset="0"/>
                <a:ea typeface="Calibri" pitchFamily="34" charset="-122"/>
                <a:cs typeface="Calibri" pitchFamily="34" charset="-120"/>
              </a:rPr>
              <a:t>Coverage (share of questions answered)</a:t>
            </a:r>
            <a:endParaRPr lang="en-US" sz="800" dirty="0"/>
          </a:p>
        </p:txBody>
      </p:sp>
      <p:sp>
        <p:nvSpPr>
          <p:cNvPr id="24" name="Text 19"/>
          <p:cNvSpPr txBox="1"/>
          <p:nvPr/>
        </p:nvSpPr>
        <p:spPr>
          <a:xfrm>
            <a:off x="4983480" y="3566160"/>
            <a:ext cx="3566160" cy="365760"/>
          </a:xfrm>
          <a:prstGeom prst="rect">
            <a:avLst/>
          </a:prstGeom>
          <a:noFill/>
          <a:ln/>
        </p:spPr>
        <p:txBody>
          <a:bodyPr wrap="square" lIns="0" tIns="0" rIns="0" bIns="0" rtlCol="0" anchor="ctr"/>
          <a:lstStyle/>
          <a:p>
            <a:pPr algn="ctr" indent="0" marL="0">
              <a:buNone/>
            </a:pPr>
            <a:r>
              <a:rPr lang="en-US" sz="900" i="1" dirty="0">
                <a:solidFill>
                  <a:srgbClr val="9CA3AF"/>
                </a:solidFill>
                <a:latin typeface="Calibri" pitchFamily="34" charset="0"/>
                <a:ea typeface="Calibri" pitchFamily="34" charset="-122"/>
                <a:cs typeface="Calibri" pitchFamily="34" charset="-120"/>
              </a:rPr>
              <a:t>Plotted from the dev split; τ is the point we operate at.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D2349"/>
          </a:solidFill>
          <a:ln w="12700">
            <a:solidFill>
              <a:srgbClr val="0D2349"/>
            </a:solidFill>
            <a:prstDash val="solid"/>
          </a:ln>
        </p:spPr>
      </p:sp>
      <p:sp>
        <p:nvSpPr>
          <p:cNvPr id="3" name="Text 1"/>
          <p:cNvSpPr txBox="1"/>
          <p:nvPr/>
        </p:nvSpPr>
        <p:spPr>
          <a:xfrm>
            <a:off x="274320" y="0"/>
            <a:ext cx="7863840"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Work Division &amp; Timeline</a:t>
            </a:r>
            <a:endParaRPr lang="en-US" sz="1900" dirty="0"/>
          </a:p>
        </p:txBody>
      </p:sp>
      <p:pic>
        <p:nvPicPr>
          <p:cNvPr id="4" name="Image 0" descr="MMCOE logo">    </p:cNvPr>
          <p:cNvPicPr>
            <a:picLocks noChangeAspect="1"/>
          </p:cNvPicPr>
          <p:nvPr/>
        </p:nvPicPr>
        <p:blipFill>
          <a:blip r:embed="rId1"/>
          <a:stretch>
            <a:fillRect/>
          </a:stretch>
        </p:blipFill>
        <p:spPr>
          <a:xfrm>
            <a:off x="8531352" y="36576"/>
            <a:ext cx="320040" cy="384048"/>
          </a:xfrm>
          <a:prstGeom prst="rect">
            <a:avLst/>
          </a:prstGeom>
        </p:spPr>
      </p:pic>
      <p:sp>
        <p:nvSpPr>
          <p:cNvPr id="5" name="Text 2"/>
          <p:cNvSpPr txBox="1"/>
          <p:nvPr/>
        </p:nvSpPr>
        <p:spPr>
          <a:xfrm>
            <a:off x="274320" y="4882896"/>
            <a:ext cx="7680960" cy="201168"/>
          </a:xfrm>
          <a:prstGeom prst="rect">
            <a:avLst/>
          </a:prstGeom>
          <a:noFill/>
          <a:ln/>
        </p:spPr>
        <p:txBody>
          <a:bodyPr wrap="square" lIns="0" tIns="0" rIns="0" bIns="0" rtlCol="0" anchor="ctr"/>
          <a:lstStyle/>
          <a:p>
            <a:pPr indent="0" marL="0">
              <a:buNone/>
            </a:pPr>
            <a:r>
              <a:rPr lang="en-US" sz="700" dirty="0">
                <a:solidFill>
                  <a:srgbClr val="9CA3AF"/>
                </a:solidFill>
                <a:latin typeface="Calibri" pitchFamily="34" charset="0"/>
                <a:ea typeface="Calibri" pitchFamily="34" charset="-122"/>
                <a:cs typeface="Calibri" pitchFamily="34" charset="-120"/>
              </a:rPr>
              <a:t>Sakshya · Multilingual Document Intelligence (RAG)  |  BE Project Review 2  |  MMCOE Pune</a:t>
            </a:r>
            <a:endParaRPr lang="en-US" sz="700" dirty="0"/>
          </a:p>
        </p:txBody>
      </p:sp>
      <p:sp>
        <p:nvSpPr>
          <p:cNvPr id="6" name="Text 3"/>
          <p:cNvSpPr txBox="1"/>
          <p:nvPr/>
        </p:nvSpPr>
        <p:spPr>
          <a:xfrm>
            <a:off x="8412480" y="4882896"/>
            <a:ext cx="457200" cy="201168"/>
          </a:xfrm>
          <a:prstGeom prst="rect">
            <a:avLst/>
          </a:prstGeom>
          <a:noFill/>
          <a:ln/>
        </p:spPr>
        <p:txBody>
          <a:bodyPr wrap="square" lIns="0" tIns="0" rIns="0" bIns="0" rtlCol="0" anchor="ctr"/>
          <a:lstStyle/>
          <a:p>
            <a:pPr algn="r" indent="0" marL="0">
              <a:buNone/>
            </a:pPr>
            <a:r>
              <a:rPr lang="en-US" sz="700" dirty="0">
                <a:solidFill>
                  <a:srgbClr val="9CA3AF"/>
                </a:solidFill>
                <a:latin typeface="Calibri" pitchFamily="34" charset="0"/>
                <a:ea typeface="Calibri" pitchFamily="34" charset="-122"/>
                <a:cs typeface="Calibri" pitchFamily="34" charset="-120"/>
              </a:rPr>
              <a:t>13</a:t>
            </a:r>
            <a:endParaRPr lang="en-US" sz="7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274320" y="603504"/>
          <a:ext cx="8595360" cy="914400"/>
        </p:xfrm>
        <a:graphic>
          <a:graphicData uri="http://schemas.openxmlformats.org/drawingml/2006/table">
            <a:tbl>
              <a:tblPr/>
              <a:tblGrid>
                <a:gridCol w="640080"/>
                <a:gridCol w="3108960"/>
                <a:gridCol w="3108960"/>
                <a:gridCol w="1737360"/>
              </a:tblGrid>
              <a:tr h="310896">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Weeks</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2349"/>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Member 1: retrieval &amp; models</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2349"/>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Member 2: data, generation &amp; UI</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2349"/>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Milestone</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D2349"/>
                    </a:solidFill>
                  </a:tcPr>
                </a:tc>
              </a:tr>
              <a:tr h="566928">
                <a:tc>
                  <a:txBody>
                    <a:bodyPr/>
                    <a:lstStyle/>
                    <a:p>
                      <a:pPr algn="ctr" indent="0" marL="0">
                        <a:buNone/>
                      </a:pPr>
                      <a:r>
                        <a:rPr lang="en-US" sz="950" b="1" dirty="0">
                          <a:solidFill>
                            <a:srgbClr val="0D2349"/>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l" indent="0" marL="0">
                        <a:buNone/>
                      </a:pPr>
                      <a:r>
                        <a:rPr lang="en-US" sz="950" dirty="0">
                          <a:solidFill>
                            <a:srgbClr val="111827"/>
                          </a:solidFill>
                          <a:latin typeface="Calibri" pitchFamily="34" charset="0"/>
                          <a:ea typeface="Calibri" pitchFamily="34" charset="-122"/>
                          <a:cs typeface="Calibri" pitchFamily="34" charset="-120"/>
                        </a:rPr>
                        <a:t>Page-anchored ingestion with OCR confidence and IndicLID; the 3 indexes</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l" indent="0" marL="0">
                        <a:buNone/>
                      </a:pPr>
                      <a:r>
                        <a:rPr lang="en-US" sz="950" dirty="0">
                          <a:solidFill>
                            <a:srgbClr val="111827"/>
                          </a:solidFill>
                          <a:latin typeface="Calibri" pitchFamily="34" charset="0"/>
                          <a:ea typeface="Calibri" pitchFamily="34" charset="-122"/>
                          <a:cs typeface="Calibri" pitchFamily="34" charset="-120"/>
                        </a:rPr>
                        <a:t>Collect ~60 documents; annotation guideline and tool; minimal UI</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l" indent="0" marL="0">
                        <a:buNone/>
                      </a:pPr>
                      <a:r>
                        <a:rPr lang="en-US" sz="950" dirty="0">
                          <a:solidFill>
                            <a:srgbClr val="111827"/>
                          </a:solidFill>
                          <a:latin typeface="Calibri" pitchFamily="34" charset="0"/>
                          <a:ea typeface="Calibri" pitchFamily="34" charset="-122"/>
                          <a:cs typeface="Calibri" pitchFamily="34" charset="-120"/>
                        </a:rPr>
                        <a:t>Scope frozen</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566928">
                <a:tc>
                  <a:txBody>
                    <a:bodyPr/>
                    <a:lstStyle/>
                    <a:p>
                      <a:pPr algn="ctr" indent="0" marL="0">
                        <a:buNone/>
                      </a:pPr>
                      <a:r>
                        <a:rPr lang="en-US" sz="950" b="1" dirty="0">
                          <a:solidFill>
                            <a:srgbClr val="0D2349"/>
                          </a:solidFill>
                          <a:latin typeface="Calibri" pitchFamily="34" charset="0"/>
                          <a:ea typeface="Calibri" pitchFamily="34" charset="-122"/>
                          <a:cs typeface="Calibri" pitchFamily="34" charset="-120"/>
                        </a:rPr>
                        <a:t>3-4</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827"/>
                          </a:solidFill>
                          <a:latin typeface="Calibri" pitchFamily="34" charset="0"/>
                          <a:ea typeface="Calibri" pitchFamily="34" charset="-122"/>
                          <a:cs typeface="Calibri" pitchFamily="34" charset="-120"/>
                        </a:rPr>
                        <a:t>The 3 fixed routes; evaluation harness; query understanding</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827"/>
                          </a:solidFill>
                          <a:latin typeface="Calibri" pitchFamily="34" charset="0"/>
                          <a:ea typeface="Calibri" pitchFamily="34" charset="-122"/>
                          <a:cs typeface="Calibri" pitchFamily="34" charset="-120"/>
                        </a:rPr>
                        <a:t>Annotate ~400 questions (M1 double-annotates 15%); PDF viewer with highlight</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950" dirty="0">
                          <a:solidFill>
                            <a:srgbClr val="111827"/>
                          </a:solidFill>
                          <a:latin typeface="Calibri" pitchFamily="34" charset="0"/>
                          <a:ea typeface="Calibri" pitchFamily="34" charset="-122"/>
                          <a:cs typeface="Calibri" pitchFamily="34" charset="-120"/>
                        </a:rPr>
                        <a:t>Sakshya-Bench v1; splits frozen</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66928">
                <a:tc>
                  <a:txBody>
                    <a:bodyPr/>
                    <a:lstStyle/>
                    <a:p>
                      <a:pPr algn="ctr" indent="0" marL="0">
                        <a:buNone/>
                      </a:pPr>
                      <a:r>
                        <a:rPr lang="en-US" sz="950" b="1" dirty="0">
                          <a:solidFill>
                            <a:srgbClr val="0D2349"/>
                          </a:solidFill>
                          <a:latin typeface="Calibri" pitchFamily="34" charset="0"/>
                          <a:ea typeface="Calibri" pitchFamily="34" charset="-122"/>
                          <a:cs typeface="Calibri" pitchFamily="34" charset="-120"/>
                        </a:rPr>
                        <a:t>5-6</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l" indent="0" marL="0">
                        <a:buNone/>
                      </a:pPr>
                      <a:r>
                        <a:rPr lang="en-US" sz="950" dirty="0">
                          <a:solidFill>
                            <a:srgbClr val="111827"/>
                          </a:solidFill>
                          <a:latin typeface="Calibri" pitchFamily="34" charset="0"/>
                          <a:ea typeface="Calibri" pitchFamily="34" charset="-122"/>
                          <a:cs typeface="Calibri" pitchFamily="34" charset="-120"/>
                        </a:rPr>
                        <a:t>RQ1 comparison; oracle labels; train router (grouped CV)</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l" indent="0" marL="0">
                        <a:buNone/>
                      </a:pPr>
                      <a:r>
                        <a:rPr lang="en-US" sz="950" dirty="0">
                          <a:solidFill>
                            <a:srgbClr val="111827"/>
                          </a:solidFill>
                          <a:latin typeface="Calibri" pitchFamily="34" charset="0"/>
                          <a:ea typeface="Calibri" pitchFamily="34" charset="-122"/>
                          <a:cs typeface="Calibri" pitchFamily="34" charset="-120"/>
                        </a:rPr>
                        <a:t>Fine-tune reranker; "why this route" panel</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l" indent="0" marL="0">
                        <a:buNone/>
                      </a:pPr>
                      <a:r>
                        <a:rPr lang="en-US" sz="950" dirty="0">
                          <a:solidFill>
                            <a:srgbClr val="111827"/>
                          </a:solidFill>
                          <a:latin typeface="Calibri" pitchFamily="34" charset="0"/>
                          <a:ea typeface="Calibri" pitchFamily="34" charset="-122"/>
                          <a:cs typeface="Calibri" pitchFamily="34" charset="-120"/>
                        </a:rPr>
                        <a:t>N1 + N2 done</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566928">
                <a:tc>
                  <a:txBody>
                    <a:bodyPr/>
                    <a:lstStyle/>
                    <a:p>
                      <a:pPr algn="ctr" indent="0" marL="0">
                        <a:buNone/>
                      </a:pPr>
                      <a:r>
                        <a:rPr lang="en-US" sz="950" b="1" dirty="0">
                          <a:solidFill>
                            <a:srgbClr val="0D2349"/>
                          </a:solidFill>
                          <a:latin typeface="Calibri" pitchFamily="34" charset="0"/>
                          <a:ea typeface="Calibri" pitchFamily="34" charset="-122"/>
                          <a:cs typeface="Calibri" pitchFamily="34" charset="-120"/>
                        </a:rPr>
                        <a:t>7-8</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DBEAFE"/>
                    </a:solidFill>
                  </a:tcPr>
                </a:tc>
                <a:tc>
                  <a:txBody>
                    <a:bodyPr/>
                    <a:lstStyle/>
                    <a:p>
                      <a:pPr algn="l" indent="0" marL="0">
                        <a:buNone/>
                      </a:pPr>
                      <a:r>
                        <a:rPr lang="en-US" sz="950" dirty="0">
                          <a:solidFill>
                            <a:srgbClr val="111827"/>
                          </a:solidFill>
                          <a:latin typeface="Calibri" pitchFamily="34" charset="0"/>
                          <a:ea typeface="Calibri" pitchFamily="34" charset="-122"/>
                          <a:cs typeface="Calibri" pitchFamily="34" charset="-120"/>
                        </a:rPr>
                        <a:t>Evidence gate; NLI verifier; risk-coverage calibration; OCR-aware fusion</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DBEAFE"/>
                    </a:solidFill>
                  </a:tcPr>
                </a:tc>
                <a:tc>
                  <a:txBody>
                    <a:bodyPr/>
                    <a:lstStyle/>
                    <a:p>
                      <a:pPr algn="l" indent="0" marL="0">
                        <a:buNone/>
                      </a:pPr>
                      <a:r>
                        <a:rPr lang="en-US" sz="950" dirty="0">
                          <a:solidFill>
                            <a:srgbClr val="111827"/>
                          </a:solidFill>
                          <a:latin typeface="Calibri" pitchFamily="34" charset="0"/>
                          <a:ea typeface="Calibri" pitchFamily="34" charset="-122"/>
                          <a:cs typeface="Calibri" pitchFamily="34" charset="-120"/>
                        </a:rPr>
                        <a:t>Generator pilot; script-faithful output; abstention UI</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DBEAFE"/>
                    </a:solidFill>
                  </a:tcPr>
                </a:tc>
                <a:tc>
                  <a:txBody>
                    <a:bodyPr/>
                    <a:lstStyle/>
                    <a:p>
                      <a:pPr algn="l" indent="0" marL="0">
                        <a:buNone/>
                      </a:pPr>
                      <a:r>
                        <a:rPr lang="en-US" sz="950" b="1" dirty="0">
                          <a:solidFill>
                            <a:srgbClr val="0D2349"/>
                          </a:solidFill>
                          <a:latin typeface="Calibri" pitchFamily="34" charset="0"/>
                          <a:ea typeface="Calibri" pitchFamily="34" charset="-122"/>
                          <a:cs typeface="Calibri" pitchFamily="34" charset="-120"/>
                        </a:rPr>
                        <a:t>Research core done: Review 2</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DBEAFE"/>
                    </a:solidFill>
                  </a:tcPr>
                </a:tc>
              </a:tr>
              <a:tr h="566928">
                <a:tc>
                  <a:txBody>
                    <a:bodyPr/>
                    <a:lstStyle/>
                    <a:p>
                      <a:pPr algn="ctr" indent="0" marL="0">
                        <a:buNone/>
                      </a:pPr>
                      <a:r>
                        <a:rPr lang="en-US" sz="950" b="1" dirty="0">
                          <a:solidFill>
                            <a:srgbClr val="0D2349"/>
                          </a:solidFill>
                          <a:latin typeface="Calibri" pitchFamily="34" charset="0"/>
                          <a:ea typeface="Calibri" pitchFamily="34" charset="-122"/>
                          <a:cs typeface="Calibri" pitchFamily="34" charset="-120"/>
                        </a:rPr>
                        <a:t>9-10</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l" indent="0" marL="0">
                        <a:buNone/>
                      </a:pPr>
                      <a:r>
                        <a:rPr lang="en-US" sz="950" dirty="0">
                          <a:solidFill>
                            <a:srgbClr val="111827"/>
                          </a:solidFill>
                          <a:latin typeface="Calibri" pitchFamily="34" charset="0"/>
                          <a:ea typeface="Calibri" pitchFamily="34" charset="-122"/>
                          <a:cs typeface="Calibri" pitchFamily="34" charset="-120"/>
                        </a:rPr>
                        <a:t>Ablations H1-H6; latency and memory on T4 and CPU; OCR-noise test</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l" indent="0" marL="0">
                        <a:buNone/>
                      </a:pPr>
                      <a:r>
                        <a:rPr lang="en-US" sz="950" dirty="0">
                          <a:solidFill>
                            <a:srgbClr val="111827"/>
                          </a:solidFill>
                          <a:latin typeface="Calibri" pitchFamily="34" charset="0"/>
                          <a:ea typeface="Calibri" pitchFamily="34" charset="-122"/>
                          <a:cs typeface="Calibri" pitchFamily="34" charset="-120"/>
                        </a:rPr>
                        <a:t>Human evaluation; error analysis</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algn="l" indent="0" marL="0">
                        <a:buNone/>
                      </a:pPr>
                      <a:r>
                        <a:rPr lang="en-US" sz="950" dirty="0">
                          <a:solidFill>
                            <a:srgbClr val="111827"/>
                          </a:solidFill>
                          <a:latin typeface="Calibri" pitchFamily="34" charset="0"/>
                          <a:ea typeface="Calibri" pitchFamily="34" charset="-122"/>
                          <a:cs typeface="Calibri" pitchFamily="34" charset="-120"/>
                        </a:rPr>
                        <a:t>All results in</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566928">
                <a:tc>
                  <a:txBody>
                    <a:bodyPr/>
                    <a:lstStyle/>
                    <a:p>
                      <a:pPr algn="ctr" indent="0" marL="0">
                        <a:buNone/>
                      </a:pPr>
                      <a:r>
                        <a:rPr lang="en-US" sz="950" b="1" dirty="0">
                          <a:solidFill>
                            <a:srgbClr val="0D2349"/>
                          </a:solidFill>
                          <a:latin typeface="Calibri" pitchFamily="34" charset="0"/>
                          <a:ea typeface="Calibri" pitchFamily="34" charset="-122"/>
                          <a:cs typeface="Calibri" pitchFamily="34" charset="-120"/>
                        </a:rPr>
                        <a:t>11-12</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DBEAFE"/>
                    </a:solidFill>
                  </a:tcPr>
                </a:tc>
                <a:tc>
                  <a:txBody>
                    <a:bodyPr/>
                    <a:lstStyle/>
                    <a:p>
                      <a:pPr algn="l" indent="0" marL="0">
                        <a:buNone/>
                      </a:pPr>
                      <a:r>
                        <a:rPr lang="en-US" sz="950" dirty="0">
                          <a:solidFill>
                            <a:srgbClr val="111827"/>
                          </a:solidFill>
                          <a:latin typeface="Calibri" pitchFamily="34" charset="0"/>
                          <a:ea typeface="Calibri" pitchFamily="34" charset="-122"/>
                          <a:cs typeface="Calibri" pitchFamily="34" charset="-120"/>
                        </a:rPr>
                        <a:t>Report and short paper draft; code release</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DBEAFE"/>
                    </a:solidFill>
                  </a:tcPr>
                </a:tc>
                <a:tc>
                  <a:txBody>
                    <a:bodyPr/>
                    <a:lstStyle/>
                    <a:p>
                      <a:pPr algn="l" indent="0" marL="0">
                        <a:buNone/>
                      </a:pPr>
                      <a:r>
                        <a:rPr lang="en-US" sz="950" dirty="0">
                          <a:solidFill>
                            <a:srgbClr val="111827"/>
                          </a:solidFill>
                          <a:latin typeface="Calibri" pitchFamily="34" charset="0"/>
                          <a:ea typeface="Calibri" pitchFamily="34" charset="-122"/>
                          <a:cs typeface="Calibri" pitchFamily="34" charset="-120"/>
                        </a:rPr>
                        <a:t>Demo with 4 scenarios; benchmark release</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DBEAFE"/>
                    </a:solidFill>
                  </a:tcPr>
                </a:tc>
                <a:tc>
                  <a:txBody>
                    <a:bodyPr/>
                    <a:lstStyle/>
                    <a:p>
                      <a:pPr algn="l" indent="0" marL="0">
                        <a:buNone/>
                      </a:pPr>
                      <a:r>
                        <a:rPr lang="en-US" sz="950" b="1" dirty="0">
                          <a:solidFill>
                            <a:srgbClr val="0D2349"/>
                          </a:solidFill>
                          <a:latin typeface="Calibri" pitchFamily="34" charset="0"/>
                          <a:ea typeface="Calibri" pitchFamily="34" charset="-122"/>
                          <a:cs typeface="Calibri" pitchFamily="34" charset="-120"/>
                        </a:rPr>
                        <a:t>Review 3</a:t>
                      </a:r>
                      <a:endParaRPr lang="en-US" sz="950" dirty="0">
                        <a:latin typeface="Calibri" charset="0"/>
                        <a:ea typeface="Calibri" charset="0"/>
                        <a:cs typeface="Calibri" charset="0"/>
                      </a:endParaRPr>
                    </a:p>
                  </a:txBody>
                  <a:tcPr marL="63500" marR="63500" marT="38100" marB="3810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DBEAFE"/>
                    </a:solidFill>
                  </a:tcPr>
                </a:tc>
              </a:tr>
            </a:tbl>
          </a:graphicData>
        </a:graphic>
      </p:graphicFrame>
      <p:sp>
        <p:nvSpPr>
          <p:cNvPr id="9" name="Text 4"/>
          <p:cNvSpPr txBox="1"/>
          <p:nvPr/>
        </p:nvSpPr>
        <p:spPr>
          <a:xfrm>
            <a:off x="274320" y="4526280"/>
            <a:ext cx="8595360" cy="274320"/>
          </a:xfrm>
          <a:prstGeom prst="rect">
            <a:avLst/>
          </a:prstGeom>
          <a:noFill/>
          <a:ln/>
        </p:spPr>
        <p:txBody>
          <a:bodyPr wrap="square" lIns="0" tIns="0" rIns="0" bIns="0" rtlCol="0" anchor="ctr"/>
          <a:lstStyle/>
          <a:p>
            <a:pPr indent="0" marL="0">
              <a:buNone/>
            </a:pPr>
            <a:r>
              <a:rPr lang="en-US" sz="950" i="1" dirty="0">
                <a:solidFill>
                  <a:srgbClr val="4B5563"/>
                </a:solidFill>
                <a:latin typeface="Calibri" pitchFamily="34" charset="0"/>
                <a:ea typeface="Calibri" pitchFamily="34" charset="-122"/>
                <a:cs typeface="Calibri" pitchFamily="34" charset="-120"/>
              </a:rPr>
              <a:t>Review 1: ideation  →  Review 2 (week 8): research core working on the dev split  →  Review 3 (week 12): final results, demo and release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D2349"/>
          </a:solidFill>
          <a:ln w="12700">
            <a:solidFill>
              <a:srgbClr val="0D2349"/>
            </a:solidFill>
            <a:prstDash val="solid"/>
          </a:ln>
        </p:spPr>
      </p:sp>
      <p:sp>
        <p:nvSpPr>
          <p:cNvPr id="3" name="Text 1"/>
          <p:cNvSpPr txBox="1"/>
          <p:nvPr/>
        </p:nvSpPr>
        <p:spPr>
          <a:xfrm>
            <a:off x="274320" y="0"/>
            <a:ext cx="7863840"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Conclusion &amp; References</a:t>
            </a:r>
            <a:endParaRPr lang="en-US" sz="1900" dirty="0"/>
          </a:p>
        </p:txBody>
      </p:sp>
      <p:pic>
        <p:nvPicPr>
          <p:cNvPr id="4" name="Image 0" descr="MMCOE logo">    </p:cNvPr>
          <p:cNvPicPr>
            <a:picLocks noChangeAspect="1"/>
          </p:cNvPicPr>
          <p:nvPr/>
        </p:nvPicPr>
        <p:blipFill>
          <a:blip r:embed="rId1"/>
          <a:stretch>
            <a:fillRect/>
          </a:stretch>
        </p:blipFill>
        <p:spPr>
          <a:xfrm>
            <a:off x="8531352" y="36576"/>
            <a:ext cx="320040" cy="384048"/>
          </a:xfrm>
          <a:prstGeom prst="rect">
            <a:avLst/>
          </a:prstGeom>
        </p:spPr>
      </p:pic>
      <p:sp>
        <p:nvSpPr>
          <p:cNvPr id="5" name="Text 2"/>
          <p:cNvSpPr txBox="1"/>
          <p:nvPr/>
        </p:nvSpPr>
        <p:spPr>
          <a:xfrm>
            <a:off x="274320" y="4882896"/>
            <a:ext cx="7680960" cy="201168"/>
          </a:xfrm>
          <a:prstGeom prst="rect">
            <a:avLst/>
          </a:prstGeom>
          <a:noFill/>
          <a:ln/>
        </p:spPr>
        <p:txBody>
          <a:bodyPr wrap="square" lIns="0" tIns="0" rIns="0" bIns="0" rtlCol="0" anchor="ctr"/>
          <a:lstStyle/>
          <a:p>
            <a:pPr indent="0" marL="0">
              <a:buNone/>
            </a:pPr>
            <a:r>
              <a:rPr lang="en-US" sz="700" dirty="0">
                <a:solidFill>
                  <a:srgbClr val="9CA3AF"/>
                </a:solidFill>
                <a:latin typeface="Calibri" pitchFamily="34" charset="0"/>
                <a:ea typeface="Calibri" pitchFamily="34" charset="-122"/>
                <a:cs typeface="Calibri" pitchFamily="34" charset="-120"/>
              </a:rPr>
              <a:t>Sakshya · Multilingual Document Intelligence (RAG)  |  BE Project Review 2  |  MMCOE Pune</a:t>
            </a:r>
            <a:endParaRPr lang="en-US" sz="700" dirty="0"/>
          </a:p>
        </p:txBody>
      </p:sp>
      <p:sp>
        <p:nvSpPr>
          <p:cNvPr id="6" name="Text 3"/>
          <p:cNvSpPr txBox="1"/>
          <p:nvPr/>
        </p:nvSpPr>
        <p:spPr>
          <a:xfrm>
            <a:off x="8412480" y="4882896"/>
            <a:ext cx="457200" cy="201168"/>
          </a:xfrm>
          <a:prstGeom prst="rect">
            <a:avLst/>
          </a:prstGeom>
          <a:noFill/>
          <a:ln/>
        </p:spPr>
        <p:txBody>
          <a:bodyPr wrap="square" lIns="0" tIns="0" rIns="0" bIns="0" rtlCol="0" anchor="ctr"/>
          <a:lstStyle/>
          <a:p>
            <a:pPr algn="r" indent="0" marL="0">
              <a:buNone/>
            </a:pPr>
            <a:r>
              <a:rPr lang="en-US" sz="700" dirty="0">
                <a:solidFill>
                  <a:srgbClr val="9CA3AF"/>
                </a:solidFill>
                <a:latin typeface="Calibri" pitchFamily="34" charset="0"/>
                <a:ea typeface="Calibri" pitchFamily="34" charset="-122"/>
                <a:cs typeface="Calibri" pitchFamily="34" charset="-120"/>
              </a:rPr>
              <a:t>14</a:t>
            </a:r>
            <a:endParaRPr lang="en-US" sz="700" dirty="0"/>
          </a:p>
        </p:txBody>
      </p:sp>
      <p:sp>
        <p:nvSpPr>
          <p:cNvPr id="8" name="Text 4"/>
          <p:cNvSpPr txBox="1"/>
          <p:nvPr/>
        </p:nvSpPr>
        <p:spPr>
          <a:xfrm>
            <a:off x="274320" y="585216"/>
            <a:ext cx="4206240" cy="237744"/>
          </a:xfrm>
          <a:prstGeom prst="rect">
            <a:avLst/>
          </a:prstGeom>
          <a:noFill/>
          <a:ln/>
        </p:spPr>
        <p:txBody>
          <a:bodyPr wrap="square" lIns="0" tIns="0" rIns="0" bIns="0" rtlCol="0" anchor="ctr"/>
          <a:lstStyle/>
          <a:p>
            <a:pPr indent="0" marL="0">
              <a:buNone/>
            </a:pPr>
            <a:r>
              <a:rPr lang="en-US" sz="1100" b="1" dirty="0">
                <a:solidFill>
                  <a:srgbClr val="0E7490"/>
                </a:solidFill>
                <a:latin typeface="Calibri" pitchFamily="34" charset="0"/>
                <a:ea typeface="Calibri" pitchFamily="34" charset="-122"/>
                <a:cs typeface="Calibri" pitchFamily="34" charset="-120"/>
              </a:rPr>
              <a:t>At Review 2 we show</a:t>
            </a:r>
            <a:endParaRPr lang="en-US" sz="1100" dirty="0"/>
          </a:p>
        </p:txBody>
      </p:sp>
      <p:sp>
        <p:nvSpPr>
          <p:cNvPr id="9" name="Text 5"/>
          <p:cNvSpPr txBox="1"/>
          <p:nvPr/>
        </p:nvSpPr>
        <p:spPr>
          <a:xfrm>
            <a:off x="274320" y="877824"/>
            <a:ext cx="4206240" cy="2560320"/>
          </a:xfrm>
          <a:prstGeom prst="rect">
            <a:avLst/>
          </a:prstGeom>
          <a:noFill/>
          <a:ln/>
        </p:spPr>
        <p:txBody>
          <a:bodyPr wrap="square" lIns="0" tIns="0" rIns="0" bIns="0" rtlCol="0" anchor="t"/>
          <a:lstStyle/>
          <a:p>
            <a:pPr marL="152400" indent="-152400">
              <a:spcAft>
                <a:spcPts val="900"/>
              </a:spcAft>
              <a:buSzPct val="100000"/>
              <a:buChar char="☐"/>
            </a:pPr>
            <a:r>
              <a:rPr lang="en-US" sz="1150" dirty="0">
                <a:solidFill>
                  <a:srgbClr val="111827"/>
                </a:solidFill>
                <a:latin typeface="Calibri" pitchFamily="34" charset="0"/>
                <a:ea typeface="Calibri" pitchFamily="34" charset="-122"/>
                <a:cs typeface="Calibri" pitchFamily="34" charset="-120"/>
              </a:rPr>
              <a:t>Ingestion of native, DOCX and scanned Marathi documents with page-correct citations</a:t>
            </a:r>
            <a:endParaRPr lang="en-US" sz="1150" dirty="0"/>
          </a:p>
          <a:p>
            <a:pPr marL="152400" indent="-152400">
              <a:spcAft>
                <a:spcPts val="900"/>
              </a:spcAft>
              <a:buSzPct val="100000"/>
              <a:buChar char="☐"/>
            </a:pPr>
            <a:r>
              <a:rPr lang="en-US" sz="1150" dirty="0">
                <a:solidFill>
                  <a:srgbClr val="111827"/>
                </a:solidFill>
                <a:latin typeface="Calibri" pitchFamily="34" charset="0"/>
                <a:ea typeface="Calibri" pitchFamily="34" charset="-122"/>
                <a:cs typeface="Calibri" pitchFamily="34" charset="-120"/>
              </a:rPr>
              <a:t>Sakshya-Bench v1: documents, questions by slice, annotator agreement</a:t>
            </a:r>
            <a:endParaRPr lang="en-US" sz="1150" dirty="0"/>
          </a:p>
          <a:p>
            <a:pPr marL="152400" indent="-152400">
              <a:spcAft>
                <a:spcPts val="900"/>
              </a:spcAft>
              <a:buSzPct val="100000"/>
              <a:buChar char="☐"/>
            </a:pPr>
            <a:r>
              <a:rPr lang="en-US" sz="1150" dirty="0">
                <a:solidFill>
                  <a:srgbClr val="111827"/>
                </a:solidFill>
                <a:latin typeface="Calibri" pitchFamily="34" charset="0"/>
                <a:ea typeface="Calibri" pitchFamily="34" charset="-122"/>
                <a:cs typeface="Calibri" pitchFamily="34" charset="-120"/>
              </a:rPr>
              <a:t>RQ1 table on the dev split, with the oracle bound</a:t>
            </a:r>
            <a:endParaRPr lang="en-US" sz="1150" dirty="0"/>
          </a:p>
          <a:p>
            <a:pPr marL="152400" indent="-152400">
              <a:spcAft>
                <a:spcPts val="900"/>
              </a:spcAft>
              <a:buSzPct val="100000"/>
              <a:buChar char="☐"/>
            </a:pPr>
            <a:r>
              <a:rPr lang="en-US" sz="1150" dirty="0">
                <a:solidFill>
                  <a:srgbClr val="111827"/>
                </a:solidFill>
                <a:latin typeface="Calibri" pitchFamily="34" charset="0"/>
                <a:ea typeface="Calibri" pitchFamily="34" charset="-122"/>
                <a:cs typeface="Calibri" pitchFamily="34" charset="-120"/>
              </a:rPr>
              <a:t>The trained router's first results against the best fixed route</a:t>
            </a:r>
            <a:endParaRPr lang="en-US" sz="1150" dirty="0"/>
          </a:p>
          <a:p>
            <a:pPr marL="152400" indent="-152400">
              <a:spcAft>
                <a:spcPts val="900"/>
              </a:spcAft>
              <a:buSzPct val="100000"/>
              <a:buChar char="☐"/>
            </a:pPr>
            <a:r>
              <a:rPr lang="en-US" sz="1150" dirty="0">
                <a:solidFill>
                  <a:srgbClr val="111827"/>
                </a:solidFill>
                <a:latin typeface="Calibri" pitchFamily="34" charset="0"/>
                <a:ea typeface="Calibri" pitchFamily="34" charset="-122"/>
                <a:cs typeface="Calibri" pitchFamily="34" charset="-120"/>
              </a:rPr>
              <a:t>The evidence gate's risk-coverage curve</a:t>
            </a:r>
            <a:endParaRPr lang="en-US" sz="1150" dirty="0"/>
          </a:p>
          <a:p>
            <a:pPr marL="152400" indent="-152400">
              <a:spcAft>
                <a:spcPts val="900"/>
              </a:spcAft>
              <a:buSzPct val="100000"/>
              <a:buChar char="☐"/>
            </a:pPr>
            <a:r>
              <a:rPr lang="en-US" sz="1150" dirty="0">
                <a:solidFill>
                  <a:srgbClr val="111827"/>
                </a:solidFill>
                <a:latin typeface="Calibri" pitchFamily="34" charset="0"/>
                <a:ea typeface="Calibri" pitchFamily="34" charset="-122"/>
                <a:cs typeface="Calibri" pitchFamily="34" charset="-120"/>
              </a:rPr>
              <a:t>A live demo: one answered and one abstained question</a:t>
            </a:r>
            <a:endParaRPr lang="en-US" sz="1150" dirty="0"/>
          </a:p>
        </p:txBody>
      </p:sp>
      <p:sp>
        <p:nvSpPr>
          <p:cNvPr id="10" name="Shape 6"/>
          <p:cNvSpPr/>
          <p:nvPr/>
        </p:nvSpPr>
        <p:spPr>
          <a:xfrm>
            <a:off x="274320" y="3529584"/>
            <a:ext cx="4206240" cy="896112"/>
          </a:xfrm>
          <a:prstGeom prst="roundRect">
            <a:avLst>
              <a:gd name="adj" fmla="val 6122"/>
            </a:avLst>
          </a:prstGeom>
          <a:solidFill>
            <a:srgbClr val="F3F4F6"/>
          </a:solidFill>
          <a:ln w="9525">
            <a:solidFill>
              <a:srgbClr val="D1D5DB"/>
            </a:solidFill>
            <a:prstDash val="solid"/>
          </a:ln>
        </p:spPr>
      </p:sp>
      <p:sp>
        <p:nvSpPr>
          <p:cNvPr id="11" name="Text 7"/>
          <p:cNvSpPr txBox="1"/>
          <p:nvPr/>
        </p:nvSpPr>
        <p:spPr>
          <a:xfrm>
            <a:off x="384048" y="3566160"/>
            <a:ext cx="3986784" cy="822960"/>
          </a:xfrm>
          <a:prstGeom prst="rect">
            <a:avLst/>
          </a:prstGeom>
          <a:noFill/>
          <a:ln/>
        </p:spPr>
        <p:txBody>
          <a:bodyPr wrap="square" lIns="0" tIns="0" rIns="0" bIns="0" rtlCol="0" anchor="ctr"/>
          <a:lstStyle/>
          <a:p>
            <a:pPr indent="0" marL="0">
              <a:buNone/>
            </a:pPr>
            <a:r>
              <a:rPr lang="en-US" sz="950" b="1" dirty="0">
                <a:solidFill>
                  <a:srgbClr val="0D2349"/>
                </a:solidFill>
                <a:latin typeface="Calibri" pitchFamily="34" charset="0"/>
                <a:ea typeface="Calibri" pitchFamily="34" charset="-122"/>
                <a:cs typeface="Calibri" pitchFamily="34" charset="-120"/>
              </a:rPr>
              <a:t>For Review 3: </a:t>
            </a:r>
            <a:pPr indent="0" marL="0">
              <a:buNone/>
            </a:pPr>
            <a:r>
              <a:rPr lang="en-US" sz="950" dirty="0">
                <a:solidFill>
                  <a:srgbClr val="111827"/>
                </a:solidFill>
                <a:latin typeface="Calibri" pitchFamily="34" charset="0"/>
                <a:ea typeface="Calibri" pitchFamily="34" charset="-122"/>
                <a:cs typeface="Calibri" pitchFamily="34" charset="-120"/>
              </a:rPr>
              <a:t>final H1-H6 results on the frozen test split, ablations, cost measurements, error analysis, four demo scenarios, and the released code and benchmark.</a:t>
            </a:r>
            <a:endParaRPr lang="en-US" sz="950" dirty="0"/>
          </a:p>
        </p:txBody>
      </p:sp>
      <p:sp>
        <p:nvSpPr>
          <p:cNvPr id="12" name="Text 8"/>
          <p:cNvSpPr txBox="1"/>
          <p:nvPr/>
        </p:nvSpPr>
        <p:spPr>
          <a:xfrm>
            <a:off x="4709160" y="585216"/>
            <a:ext cx="4160520" cy="237744"/>
          </a:xfrm>
          <a:prstGeom prst="rect">
            <a:avLst/>
          </a:prstGeom>
          <a:noFill/>
          <a:ln/>
        </p:spPr>
        <p:txBody>
          <a:bodyPr wrap="square" lIns="0" tIns="0" rIns="0" bIns="0" rtlCol="0" anchor="ctr"/>
          <a:lstStyle/>
          <a:p>
            <a:pPr indent="0" marL="0">
              <a:buNone/>
            </a:pPr>
            <a:r>
              <a:rPr lang="en-US" sz="1100" b="1" dirty="0">
                <a:solidFill>
                  <a:srgbClr val="0E7490"/>
                </a:solidFill>
                <a:latin typeface="Calibri" pitchFamily="34" charset="0"/>
                <a:ea typeface="Calibri" pitchFamily="34" charset="-122"/>
                <a:cs typeface="Calibri" pitchFamily="34" charset="-120"/>
              </a:rPr>
              <a:t>Key references</a:t>
            </a:r>
            <a:endParaRPr lang="en-US" sz="1100" dirty="0"/>
          </a:p>
        </p:txBody>
      </p:sp>
      <p:sp>
        <p:nvSpPr>
          <p:cNvPr id="13" name="Text 9"/>
          <p:cNvSpPr txBox="1"/>
          <p:nvPr/>
        </p:nvSpPr>
        <p:spPr>
          <a:xfrm>
            <a:off x="4709160" y="877824"/>
            <a:ext cx="4160520" cy="3566160"/>
          </a:xfrm>
          <a:prstGeom prst="rect">
            <a:avLst/>
          </a:prstGeom>
          <a:noFill/>
          <a:ln/>
        </p:spPr>
        <p:txBody>
          <a:bodyPr wrap="square" lIns="0" tIns="0" rIns="0" bIns="0" rtlCol="0" anchor="t"/>
          <a:lstStyle/>
          <a:p>
            <a:pPr indent="0" marL="0">
              <a:spcAft>
                <a:spcPts val="400"/>
              </a:spcAft>
              <a:buNone/>
            </a:pPr>
            <a:r>
              <a:rPr lang="en-US" sz="850" dirty="0">
                <a:solidFill>
                  <a:srgbClr val="111827"/>
                </a:solidFill>
                <a:latin typeface="Calibri" pitchFamily="34" charset="0"/>
                <a:ea typeface="Calibri" pitchFamily="34" charset="-122"/>
                <a:cs typeface="Calibri" pitchFamily="34" charset="-120"/>
              </a:rPr>
              <a:t>[1] J. Park, H. Lee, "Investigating Language Preference of Multilingual RAG Systems," Findings of ACL 2025.</a:t>
            </a:r>
            <a:endParaRPr lang="en-US" sz="850" dirty="0"/>
          </a:p>
          <a:p>
            <a:pPr indent="0" marL="0">
              <a:spcAft>
                <a:spcPts val="400"/>
              </a:spcAft>
              <a:buNone/>
            </a:pPr>
            <a:r>
              <a:rPr lang="en-US" sz="850" dirty="0">
                <a:solidFill>
                  <a:srgbClr val="111827"/>
                </a:solidFill>
                <a:latin typeface="Calibri" pitchFamily="34" charset="0"/>
                <a:ea typeface="Calibri" pitchFamily="34" charset="-122"/>
                <a:cs typeface="Calibri" pitchFamily="34" charset="-120"/>
              </a:rPr>
              <a:t>[2] "Resource-Efficient Multilingual RAG for Indian Languages," 2026.</a:t>
            </a:r>
            <a:endParaRPr lang="en-US" sz="850" dirty="0"/>
          </a:p>
          <a:p>
            <a:pPr indent="0" marL="0">
              <a:spcAft>
                <a:spcPts val="400"/>
              </a:spcAft>
              <a:buNone/>
            </a:pPr>
            <a:r>
              <a:rPr lang="en-US" sz="850" dirty="0">
                <a:solidFill>
                  <a:srgbClr val="111827"/>
                </a:solidFill>
                <a:latin typeface="Calibri" pitchFamily="34" charset="0"/>
                <a:ea typeface="Calibri" pitchFamily="34" charset="-122"/>
                <a:cs typeface="Calibri" pitchFamily="34" charset="-120"/>
              </a:rPr>
              <a:t>[3] J. Xu, J. Zhu, Y. Ba, "M3-RAG: Unified Multimodal and Multilingual RAG," 2025.</a:t>
            </a:r>
            <a:endParaRPr lang="en-US" sz="850" dirty="0"/>
          </a:p>
          <a:p>
            <a:pPr indent="0" marL="0">
              <a:spcAft>
                <a:spcPts val="400"/>
              </a:spcAft>
              <a:buNone/>
            </a:pPr>
            <a:r>
              <a:rPr lang="en-US" sz="850" dirty="0">
                <a:solidFill>
                  <a:srgbClr val="111827"/>
                </a:solidFill>
                <a:latin typeface="Calibri" pitchFamily="34" charset="0"/>
                <a:ea typeface="Calibri" pitchFamily="34" charset="-122"/>
                <a:cs typeface="Calibri" pitchFamily="34" charset="-120"/>
              </a:rPr>
              <a:t>[4] C. Iscan, M. F. Ozara, A. Akbulut, "Enhancing RAG Pipeline Performance with Translation-Based Embedding Strategies for Non-English Documents," 2024.</a:t>
            </a:r>
            <a:endParaRPr lang="en-US" sz="850" dirty="0"/>
          </a:p>
          <a:p>
            <a:pPr indent="0" marL="0">
              <a:spcAft>
                <a:spcPts val="400"/>
              </a:spcAft>
              <a:buNone/>
            </a:pPr>
            <a:r>
              <a:rPr lang="en-US" sz="850" dirty="0">
                <a:solidFill>
                  <a:srgbClr val="111827"/>
                </a:solidFill>
                <a:latin typeface="Calibri" pitchFamily="34" charset="0"/>
                <a:ea typeface="Calibri" pitchFamily="34" charset="-122"/>
                <a:cs typeface="Calibri" pitchFamily="34" charset="-120"/>
              </a:rPr>
              <a:t>[5] "A Multilingual Intelligent Document Processing System," 2025.</a:t>
            </a:r>
            <a:endParaRPr lang="en-US" sz="850" dirty="0"/>
          </a:p>
          <a:p>
            <a:pPr indent="0" marL="0">
              <a:spcAft>
                <a:spcPts val="400"/>
              </a:spcAft>
              <a:buNone/>
            </a:pPr>
            <a:r>
              <a:rPr lang="en-US" sz="850" dirty="0">
                <a:solidFill>
                  <a:srgbClr val="111827"/>
                </a:solidFill>
                <a:latin typeface="Calibri" pitchFamily="34" charset="0"/>
                <a:ea typeface="Calibri" pitchFamily="34" charset="-122"/>
                <a:cs typeface="Calibri" pitchFamily="34" charset="-120"/>
              </a:rPr>
              <a:t>[6] M. R. Kabir et al., "LegalRAG: A Hybrid RAG System for Multilingual Legal Information Retrieval," arXiv:2504.16121, 2025.</a:t>
            </a:r>
            <a:endParaRPr lang="en-US" sz="850" dirty="0"/>
          </a:p>
          <a:p>
            <a:pPr indent="0" marL="0">
              <a:spcAft>
                <a:spcPts val="400"/>
              </a:spcAft>
              <a:buNone/>
            </a:pPr>
            <a:r>
              <a:rPr lang="en-US" sz="850" dirty="0">
                <a:solidFill>
                  <a:srgbClr val="111827"/>
                </a:solidFill>
                <a:latin typeface="Calibri" pitchFamily="34" charset="0"/>
                <a:ea typeface="Calibri" pitchFamily="34" charset="-122"/>
                <a:cs typeface="Calibri" pitchFamily="34" charset="-120"/>
              </a:rPr>
              <a:t>[7] T. Zoughi et al., "Hybrid Layered Retrieval and Task-Aware Embeddings for Efficient Persian RAG Systems," 2026.</a:t>
            </a:r>
            <a:endParaRPr lang="en-US" sz="850" dirty="0"/>
          </a:p>
          <a:p>
            <a:pPr indent="0" marL="0">
              <a:spcAft>
                <a:spcPts val="400"/>
              </a:spcAft>
              <a:buNone/>
            </a:pPr>
            <a:r>
              <a:rPr lang="en-US" sz="850" dirty="0">
                <a:solidFill>
                  <a:srgbClr val="111827"/>
                </a:solidFill>
                <a:latin typeface="Calibri" pitchFamily="34" charset="0"/>
                <a:ea typeface="Calibri" pitchFamily="34" charset="-122"/>
                <a:cs typeface="Calibri" pitchFamily="34" charset="-120"/>
              </a:rPr>
              <a:t>[8] P. Lewis et al., "Retrieval-Augmented Generation for Knowledge-Intensive NLP Tasks," NeurIPS 2020.</a:t>
            </a:r>
            <a:endParaRPr lang="en-US" sz="850" dirty="0"/>
          </a:p>
          <a:p>
            <a:pPr indent="0" marL="0">
              <a:spcAft>
                <a:spcPts val="400"/>
              </a:spcAft>
              <a:buNone/>
            </a:pPr>
            <a:r>
              <a:rPr lang="en-US" sz="850" dirty="0">
                <a:solidFill>
                  <a:srgbClr val="111827"/>
                </a:solidFill>
                <a:latin typeface="Calibri" pitchFamily="34" charset="0"/>
                <a:ea typeface="Calibri" pitchFamily="34" charset="-122"/>
                <a:cs typeface="Calibri" pitchFamily="34" charset="-120"/>
              </a:rPr>
              <a:t>[9] L. Wang et al., "Multilingual E5 Text Embeddings: A Technical Report," arXiv 2024.</a:t>
            </a:r>
            <a:endParaRPr lang="en-US" sz="850" dirty="0"/>
          </a:p>
          <a:p>
            <a:pPr indent="0" marL="0">
              <a:spcAft>
                <a:spcPts val="400"/>
              </a:spcAft>
              <a:buNone/>
            </a:pPr>
            <a:r>
              <a:rPr lang="en-US" sz="850" dirty="0">
                <a:solidFill>
                  <a:srgbClr val="111827"/>
                </a:solidFill>
                <a:latin typeface="Calibri" pitchFamily="34" charset="0"/>
                <a:ea typeface="Calibri" pitchFamily="34" charset="-122"/>
                <a:cs typeface="Calibri" pitchFamily="34" charset="-120"/>
              </a:rPr>
              <a:t>[10] J. Gala et al., "IndicTrans2," TMLR 2023.</a:t>
            </a:r>
            <a:endParaRPr lang="en-US" sz="850" dirty="0"/>
          </a:p>
        </p:txBody>
      </p:sp>
      <p:sp>
        <p:nvSpPr>
          <p:cNvPr id="14" name="Shape 10"/>
          <p:cNvSpPr/>
          <p:nvPr/>
        </p:nvSpPr>
        <p:spPr>
          <a:xfrm>
            <a:off x="274320" y="4517136"/>
            <a:ext cx="8595360" cy="292608"/>
          </a:xfrm>
          <a:prstGeom prst="roundRect">
            <a:avLst>
              <a:gd name="adj" fmla="val 18750"/>
            </a:avLst>
          </a:prstGeom>
          <a:solidFill>
            <a:srgbClr val="FEF3C7"/>
          </a:solidFill>
          <a:ln w="12700">
            <a:solidFill>
              <a:srgbClr val="FEF3C7"/>
            </a:solidFill>
            <a:prstDash val="solid"/>
          </a:ln>
        </p:spPr>
      </p:sp>
      <p:sp>
        <p:nvSpPr>
          <p:cNvPr id="15" name="Text 11"/>
          <p:cNvSpPr txBox="1"/>
          <p:nvPr/>
        </p:nvSpPr>
        <p:spPr>
          <a:xfrm>
            <a:off x="274320" y="4517136"/>
            <a:ext cx="8595360" cy="292608"/>
          </a:xfrm>
          <a:prstGeom prst="rect">
            <a:avLst/>
          </a:prstGeom>
          <a:noFill/>
          <a:ln/>
        </p:spPr>
        <p:txBody>
          <a:bodyPr wrap="square" lIns="0" tIns="0" rIns="0" bIns="0" rtlCol="0" anchor="ctr"/>
          <a:lstStyle/>
          <a:p>
            <a:pPr algn="ctr" indent="0" marL="0">
              <a:buNone/>
            </a:pPr>
            <a:r>
              <a:rPr lang="en-US" sz="1000" b="1" dirty="0">
                <a:solidFill>
                  <a:srgbClr val="0D2349"/>
                </a:solidFill>
                <a:latin typeface="Calibri" pitchFamily="34" charset="0"/>
                <a:ea typeface="Calibri" pitchFamily="34" charset="-122"/>
                <a:cs typeface="Calibri" pitchFamily="34" charset="-120"/>
              </a:rPr>
              <a:t>We learn which retrieval route each question needs, answer in the script it was asked in, and check every sentence against the page it cites.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Sakshya: Project Review 2</dc:title>
  <dc:subject>PptxGenJS Presentation</dc:subject>
  <dc:creator>Tanmay Gosavi, Kush Honkalse</dc:creator>
  <cp:lastModifiedBy>Tanmay Gosavi, Kush Honkalse</cp:lastModifiedBy>
  <cp:revision>1</cp:revision>
  <dcterms:created xsi:type="dcterms:W3CDTF">2026-09-27T16:46:51Z</dcterms:created>
  <dcterms:modified xsi:type="dcterms:W3CDTF">2026-09-27T16:46:51Z</dcterms:modified>
</cp:coreProperties>
</file>